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165"/>
  </p:notesMasterIdLst>
  <p:handoutMasterIdLst>
    <p:handoutMasterId r:id="rId166"/>
  </p:handout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394" r:id="rId10"/>
    <p:sldId id="395" r:id="rId11"/>
    <p:sldId id="412" r:id="rId12"/>
    <p:sldId id="415" r:id="rId13"/>
    <p:sldId id="288" r:id="rId14"/>
    <p:sldId id="396" r:id="rId15"/>
    <p:sldId id="414" r:id="rId16"/>
    <p:sldId id="397" r:id="rId17"/>
    <p:sldId id="289" r:id="rId18"/>
    <p:sldId id="290" r:id="rId19"/>
    <p:sldId id="291" r:id="rId20"/>
    <p:sldId id="292" r:id="rId21"/>
    <p:sldId id="416" r:id="rId22"/>
    <p:sldId id="293" r:id="rId23"/>
    <p:sldId id="411" r:id="rId24"/>
    <p:sldId id="413" r:id="rId25"/>
    <p:sldId id="294" r:id="rId26"/>
    <p:sldId id="295" r:id="rId27"/>
    <p:sldId id="296" r:id="rId28"/>
    <p:sldId id="420" r:id="rId29"/>
    <p:sldId id="297" r:id="rId30"/>
    <p:sldId id="418" r:id="rId31"/>
    <p:sldId id="419" r:id="rId32"/>
    <p:sldId id="298" r:id="rId33"/>
    <p:sldId id="398" r:id="rId34"/>
    <p:sldId id="402" r:id="rId35"/>
    <p:sldId id="403" r:id="rId36"/>
    <p:sldId id="404" r:id="rId37"/>
    <p:sldId id="401" r:id="rId38"/>
    <p:sldId id="399" r:id="rId39"/>
    <p:sldId id="400" r:id="rId40"/>
    <p:sldId id="299" r:id="rId41"/>
    <p:sldId id="421" r:id="rId42"/>
    <p:sldId id="424" r:id="rId43"/>
    <p:sldId id="425" r:id="rId44"/>
    <p:sldId id="409" r:id="rId45"/>
    <p:sldId id="410" r:id="rId46"/>
    <p:sldId id="300" r:id="rId47"/>
    <p:sldId id="301" r:id="rId48"/>
    <p:sldId id="405" r:id="rId49"/>
    <p:sldId id="406" r:id="rId50"/>
    <p:sldId id="302" r:id="rId51"/>
    <p:sldId id="305" r:id="rId52"/>
    <p:sldId id="303" r:id="rId53"/>
    <p:sldId id="304" r:id="rId54"/>
    <p:sldId id="426" r:id="rId55"/>
    <p:sldId id="427" r:id="rId56"/>
    <p:sldId id="428" r:id="rId57"/>
    <p:sldId id="429" r:id="rId58"/>
    <p:sldId id="430" r:id="rId59"/>
    <p:sldId id="431" r:id="rId60"/>
    <p:sldId id="432" r:id="rId61"/>
    <p:sldId id="433" r:id="rId62"/>
    <p:sldId id="434" r:id="rId63"/>
    <p:sldId id="435" r:id="rId64"/>
    <p:sldId id="436" r:id="rId65"/>
    <p:sldId id="437" r:id="rId66"/>
    <p:sldId id="438" r:id="rId67"/>
    <p:sldId id="439" r:id="rId68"/>
    <p:sldId id="440" r:id="rId69"/>
    <p:sldId id="441" r:id="rId70"/>
    <p:sldId id="309" r:id="rId71"/>
    <p:sldId id="310" r:id="rId72"/>
    <p:sldId id="311" r:id="rId73"/>
    <p:sldId id="312" r:id="rId74"/>
    <p:sldId id="442" r:id="rId75"/>
    <p:sldId id="313" r:id="rId76"/>
    <p:sldId id="314" r:id="rId77"/>
    <p:sldId id="315" r:id="rId78"/>
    <p:sldId id="316" r:id="rId79"/>
    <p:sldId id="317" r:id="rId80"/>
    <p:sldId id="318" r:id="rId81"/>
    <p:sldId id="481" r:id="rId82"/>
    <p:sldId id="319" r:id="rId83"/>
    <p:sldId id="320" r:id="rId84"/>
    <p:sldId id="321" r:id="rId85"/>
    <p:sldId id="482" r:id="rId86"/>
    <p:sldId id="483" r:id="rId87"/>
    <p:sldId id="322" r:id="rId88"/>
    <p:sldId id="323" r:id="rId89"/>
    <p:sldId id="324" r:id="rId90"/>
    <p:sldId id="325" r:id="rId91"/>
    <p:sldId id="326" r:id="rId92"/>
    <p:sldId id="327" r:id="rId93"/>
    <p:sldId id="328" r:id="rId94"/>
    <p:sldId id="443" r:id="rId95"/>
    <p:sldId id="444" r:id="rId96"/>
    <p:sldId id="446" r:id="rId97"/>
    <p:sldId id="445" r:id="rId98"/>
    <p:sldId id="329" r:id="rId99"/>
    <p:sldId id="330" r:id="rId100"/>
    <p:sldId id="451" r:id="rId101"/>
    <p:sldId id="450" r:id="rId102"/>
    <p:sldId id="452" r:id="rId103"/>
    <p:sldId id="453" r:id="rId104"/>
    <p:sldId id="331" r:id="rId105"/>
    <p:sldId id="334" r:id="rId106"/>
    <p:sldId id="335" r:id="rId107"/>
    <p:sldId id="336" r:id="rId108"/>
    <p:sldId id="337" r:id="rId109"/>
    <p:sldId id="338" r:id="rId110"/>
    <p:sldId id="339" r:id="rId111"/>
    <p:sldId id="340" r:id="rId112"/>
    <p:sldId id="342" r:id="rId113"/>
    <p:sldId id="343" r:id="rId114"/>
    <p:sldId id="344" r:id="rId115"/>
    <p:sldId id="378" r:id="rId116"/>
    <p:sldId id="379" r:id="rId117"/>
    <p:sldId id="380" r:id="rId118"/>
    <p:sldId id="381" r:id="rId119"/>
    <p:sldId id="382" r:id="rId120"/>
    <p:sldId id="383" r:id="rId121"/>
    <p:sldId id="384" r:id="rId122"/>
    <p:sldId id="385" r:id="rId123"/>
    <p:sldId id="386" r:id="rId124"/>
    <p:sldId id="387" r:id="rId125"/>
    <p:sldId id="388" r:id="rId126"/>
    <p:sldId id="389" r:id="rId127"/>
    <p:sldId id="390" r:id="rId128"/>
    <p:sldId id="391" r:id="rId129"/>
    <p:sldId id="392" r:id="rId130"/>
    <p:sldId id="393" r:id="rId131"/>
    <p:sldId id="345" r:id="rId132"/>
    <p:sldId id="346" r:id="rId133"/>
    <p:sldId id="347" r:id="rId134"/>
    <p:sldId id="348" r:id="rId135"/>
    <p:sldId id="349" r:id="rId136"/>
    <p:sldId id="350" r:id="rId137"/>
    <p:sldId id="454" r:id="rId138"/>
    <p:sldId id="455" r:id="rId139"/>
    <p:sldId id="456" r:id="rId140"/>
    <p:sldId id="457" r:id="rId141"/>
    <p:sldId id="458" r:id="rId142"/>
    <p:sldId id="459" r:id="rId143"/>
    <p:sldId id="460" r:id="rId144"/>
    <p:sldId id="461" r:id="rId145"/>
    <p:sldId id="462" r:id="rId146"/>
    <p:sldId id="463" r:id="rId147"/>
    <p:sldId id="464" r:id="rId148"/>
    <p:sldId id="465" r:id="rId149"/>
    <p:sldId id="466" r:id="rId150"/>
    <p:sldId id="467" r:id="rId151"/>
    <p:sldId id="468" r:id="rId152"/>
    <p:sldId id="469" r:id="rId153"/>
    <p:sldId id="470" r:id="rId154"/>
    <p:sldId id="471" r:id="rId155"/>
    <p:sldId id="472" r:id="rId156"/>
    <p:sldId id="473" r:id="rId157"/>
    <p:sldId id="474" r:id="rId158"/>
    <p:sldId id="475" r:id="rId159"/>
    <p:sldId id="476" r:id="rId160"/>
    <p:sldId id="477" r:id="rId161"/>
    <p:sldId id="478" r:id="rId162"/>
    <p:sldId id="479" r:id="rId163"/>
    <p:sldId id="480" r:id="rId164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1" autoAdjust="0"/>
    <p:restoredTop sz="94279" autoAdjust="0"/>
  </p:normalViewPr>
  <p:slideViewPr>
    <p:cSldViewPr snapToGrid="0">
      <p:cViewPr varScale="1">
        <p:scale>
          <a:sx n="81" d="100"/>
          <a:sy n="81" d="100"/>
        </p:scale>
        <p:origin x="114" y="6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3CAB-A6E8-4F84-B002-DB1C4B9BC430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71A0-3214-4C0F-98E9-07E8770F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9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B409-7F35-4B75-975D-83CC9322541B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E2D1D-25A5-45DC-B24F-AC401B916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6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Обратите внимание на</a:t>
            </a:r>
            <a:r>
              <a:rPr lang="ru-RU" baseline="0" dirty="0" smtClean="0"/>
              <a:t> пространство вокруг блоков</a:t>
            </a:r>
            <a:r>
              <a:rPr lang="ru-RU" dirty="0" smtClean="0"/>
              <a:t>. Мы его не настраивали. Значит, это то, что есть по умолчанию</a:t>
            </a:r>
            <a:r>
              <a:rPr lang="ru-RU" baseline="0" dirty="0" smtClean="0"/>
              <a:t> (например, пространство вокруг </a:t>
            </a:r>
            <a:r>
              <a:rPr lang="en-US" baseline="0" dirty="0" smtClean="0"/>
              <a:t>body)</a:t>
            </a:r>
            <a:r>
              <a:rPr lang="ru-RU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80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smtClean="0"/>
              <a:t>Поля и отступы в размере блока не учитываются – по крайней</a:t>
            </a:r>
            <a:r>
              <a:rPr lang="ru-RU" sz="1200" baseline="0" dirty="0" smtClean="0"/>
              <a:t> мере, по умолчанию. Это настраивается!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63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42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59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 smtClean="0"/>
              <a:t>С</a:t>
            </a:r>
            <a:r>
              <a:rPr lang="ru-RU" sz="1200" baseline="0" dirty="0" smtClean="0"/>
              <a:t>о старыми браузерами лучше следовать правилу: </a:t>
            </a:r>
            <a:r>
              <a:rPr lang="ru-RU" sz="1200" i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толщина</a:t>
            </a:r>
            <a:r>
              <a:rPr lang="ru-RU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1200" i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тип</a:t>
            </a:r>
            <a:r>
              <a:rPr lang="ru-RU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1200" i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цвет</a:t>
            </a:r>
            <a:r>
              <a:rPr lang="ru-RU" sz="1400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25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IE </a:t>
            </a:r>
            <a:r>
              <a:rPr lang="ru-RU" dirty="0" smtClean="0"/>
              <a:t>поддерживает</a:t>
            </a:r>
            <a:r>
              <a:rPr lang="ru-RU" baseline="0" dirty="0" smtClean="0"/>
              <a:t> закругление, начиная с 9-ой версии.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03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60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05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05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7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17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http://caniuse.com/#search=outline</a:t>
            </a:r>
            <a:endParaRPr lang="ru-RU" dirty="0" smtClean="0"/>
          </a:p>
          <a:p>
            <a:endParaRPr lang="ru-RU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E9 and IE10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support outline-offset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defined here: http://dev.w3.org/csswg/css3-ui/#outline-offset0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28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http://caniuse.com/#search=outline</a:t>
            </a:r>
            <a:endParaRPr lang="ru-RU" dirty="0" smtClean="0"/>
          </a:p>
          <a:p>
            <a:endParaRPr lang="ru-RU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E9 and IE10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support outline-offset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defined here: http://dev.w3.org/csswg/css3-ui/#outline-offset0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28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269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98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Для свойства</a:t>
            </a:r>
            <a:r>
              <a:rPr lang="ru-RU" baseline="0" dirty="0" smtClean="0"/>
              <a:t> </a:t>
            </a:r>
            <a:r>
              <a:rPr lang="en-US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ru-RU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по умолчанию задано специальное значение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transparent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(т.е. прозрачный фон)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58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95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8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68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93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249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511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910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90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806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080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59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664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64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506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0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238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422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79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75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275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695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316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466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6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185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871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537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301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background-clip</a:t>
            </a:r>
          </a:p>
          <a:p>
            <a:pPr rtl="0" eaLnBrk="1" fontAlgn="t" latinLnBrk="0" hangingPunct="1"/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Определяет, как цвет фона или фоновая картинка должна выводиться под границами блока. Эффект заметен при прозрачных или пунктирных границах блока.</a:t>
            </a:r>
            <a:endParaRPr lang="en-US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2372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background-clip</a:t>
            </a:r>
          </a:p>
          <a:p>
            <a:pPr rtl="0" eaLnBrk="1" fontAlgn="t" latinLnBrk="0" hangingPunct="1"/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Определяет, как цвет фона или фоновая картинка должна выводиться под границами блока. Эффект заметен при прозрачных или пунктирных границах блока.</a:t>
            </a:r>
            <a:endParaRPr lang="en-US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811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smtClean="0"/>
              <a:t>Одно значение (все грани), два значения (верх-низ и левый-правый),</a:t>
            </a:r>
            <a:r>
              <a:rPr lang="en-US" sz="1200" dirty="0" smtClean="0"/>
              <a:t> </a:t>
            </a:r>
            <a:r>
              <a:rPr lang="ru-RU" sz="1200" dirty="0" smtClean="0"/>
              <a:t>три значения (верх, левый-правый, низ), четыре значения (верх, правый, низ, левый).</a:t>
            </a:r>
            <a:endParaRPr lang="en-US" sz="1200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551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Интересные</a:t>
            </a:r>
            <a:r>
              <a:rPr lang="ru-RU" baseline="0" dirty="0" smtClean="0"/>
              <a:t> вещи про производительность селекторов:</a:t>
            </a:r>
          </a:p>
          <a:p>
            <a:r>
              <a:rPr lang="en-US" baseline="0" dirty="0" smtClean="0"/>
              <a:t>http://csswizardry.com/2011/09/writing-efficient-css-selectors/</a:t>
            </a:r>
            <a:endParaRPr lang="ru-RU" baseline="0" dirty="0" smtClean="0"/>
          </a:p>
          <a:p>
            <a:r>
              <a:rPr lang="en-US" baseline="0" dirty="0" smtClean="0"/>
              <a:t>https://developer.mozilla.org/en-US/docs/Web/Guide/CSS/Writing_efficient_CSS</a:t>
            </a:r>
            <a:endParaRPr lang="ru-RU" baseline="0" dirty="0" smtClean="0"/>
          </a:p>
          <a:p>
            <a:r>
              <a:rPr lang="en-US" baseline="0" dirty="0" smtClean="0"/>
              <a:t>https://smacss.com/book/selectors</a:t>
            </a:r>
            <a:endParaRPr lang="ru-RU" baseline="0" dirty="0" smtClean="0"/>
          </a:p>
          <a:p>
            <a:r>
              <a:rPr lang="en-US" baseline="0" dirty="0" smtClean="0"/>
              <a:t>https://css-tricks.com/efficiently-rendering-css/</a:t>
            </a:r>
            <a:endParaRPr lang="ru-RU" baseline="0" dirty="0" smtClean="0"/>
          </a:p>
          <a:p>
            <a:r>
              <a:rPr lang="en-US" baseline="0" dirty="0" smtClean="0"/>
              <a:t>https://css-tricks.com/things-it-might-be-funuseful-to-try-the-universal-selector-on/</a:t>
            </a:r>
            <a:endParaRPr lang="ru-RU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5950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Обязательно включить</a:t>
            </a:r>
            <a:r>
              <a:rPr lang="ru-RU" baseline="0" dirty="0" smtClean="0"/>
              <a:t> описание </a:t>
            </a:r>
            <a:r>
              <a:rPr lang="en-US" b="1" baseline="0" dirty="0" smtClean="0"/>
              <a:t>box-sizing!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430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574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09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880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644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631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 smtClean="0"/>
              <a:t>*) На самом деле,</a:t>
            </a:r>
            <a:r>
              <a:rPr lang="ru-RU" b="0" baseline="0" dirty="0" smtClean="0"/>
              <a:t> будет это </a:t>
            </a:r>
            <a:r>
              <a:rPr lang="en-US" b="0" baseline="0" dirty="0" smtClean="0"/>
              <a:t>margin-right </a:t>
            </a:r>
            <a:r>
              <a:rPr lang="ru-RU" b="0" baseline="0" dirty="0" smtClean="0"/>
              <a:t>или </a:t>
            </a:r>
            <a:r>
              <a:rPr lang="en-US" b="0" baseline="0" dirty="0" smtClean="0"/>
              <a:t>margin-left, </a:t>
            </a:r>
            <a:r>
              <a:rPr lang="ru-RU" b="0" baseline="0" dirty="0" smtClean="0"/>
              <a:t>зависит от </a:t>
            </a:r>
            <a:r>
              <a:rPr lang="ru-RU" b="1" baseline="0" dirty="0" smtClean="0"/>
              <a:t>свойства </a:t>
            </a:r>
            <a:r>
              <a:rPr lang="en-US" b="1" baseline="0" dirty="0" smtClean="0"/>
              <a:t>direction </a:t>
            </a:r>
            <a:r>
              <a:rPr lang="ru-RU" b="1" baseline="0" dirty="0" smtClean="0"/>
              <a:t>у родителя</a:t>
            </a:r>
            <a:r>
              <a:rPr lang="ru-RU" b="0" baseline="0" dirty="0" smtClean="0"/>
              <a:t>. Описанное поведение – для </a:t>
            </a:r>
            <a:r>
              <a:rPr lang="en-US" b="0" baseline="0" dirty="0" smtClean="0"/>
              <a:t>direction: </a:t>
            </a:r>
            <a:r>
              <a:rPr lang="en-US" b="0" baseline="0" dirty="0" err="1" smtClean="0"/>
              <a:t>ltr</a:t>
            </a:r>
            <a:r>
              <a:rPr lang="en-US" b="0" baseline="0" dirty="0" smtClean="0"/>
              <a:t>.</a:t>
            </a:r>
          </a:p>
          <a:p>
            <a:r>
              <a:rPr lang="ru-RU" b="0" baseline="0" dirty="0" smtClean="0"/>
              <a:t>Но если сделать у родителя </a:t>
            </a:r>
            <a:r>
              <a:rPr lang="en-US" b="1" baseline="0" dirty="0" smtClean="0"/>
              <a:t>direction: </a:t>
            </a:r>
            <a:r>
              <a:rPr lang="en-US" b="1" baseline="0" dirty="0" err="1" smtClean="0"/>
              <a:t>rtl</a:t>
            </a:r>
            <a:r>
              <a:rPr lang="en-US" b="0" baseline="0" dirty="0" smtClean="0"/>
              <a:t>, </a:t>
            </a:r>
            <a:r>
              <a:rPr lang="ru-RU" b="0" baseline="0" dirty="0" smtClean="0"/>
              <a:t>то уже </a:t>
            </a:r>
            <a:r>
              <a:rPr lang="en-US" b="0" baseline="0" dirty="0" smtClean="0"/>
              <a:t>margin-left </a:t>
            </a:r>
            <a:r>
              <a:rPr lang="ru-RU" b="0" baseline="0" dirty="0" smtClean="0"/>
              <a:t>будет принудительно получать значение </a:t>
            </a:r>
            <a:r>
              <a:rPr lang="en-US" b="0" baseline="0" dirty="0" smtClean="0"/>
              <a:t>auto.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5694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4119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23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4557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8896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1942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7827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370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4249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8274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5133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Есть отдельно</a:t>
            </a:r>
            <a:r>
              <a:rPr lang="ru-RU" baseline="0" dirty="0" smtClean="0"/>
              <a:t> </a:t>
            </a:r>
            <a:r>
              <a:rPr lang="ru-RU" sz="12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overflow</a:t>
            </a:r>
            <a:r>
              <a:rPr lang="ru-RU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ru-RU" baseline="0" dirty="0" smtClean="0"/>
              <a:t> и</a:t>
            </a:r>
            <a:r>
              <a:rPr lang="en-US" baseline="0" dirty="0" smtClean="0"/>
              <a:t> </a:t>
            </a:r>
            <a:r>
              <a:rPr lang="ru-RU" sz="12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overflow</a:t>
            </a:r>
            <a:r>
              <a:rPr lang="en-US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-y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4794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https://css-tricks.com/inheriting-box-sizing-probably-slightly-better-best-practice/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9434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6357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5570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5570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5570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5570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49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1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2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9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5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3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27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htmlbook.ru/css/border-width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htmlbook.ru/css/border" TargetMode="External"/><Relationship Id="rId2" Type="http://schemas.openxmlformats.org/officeDocument/2006/relationships/hyperlink" Target="http://htmlbook.ru/css/outline" TargetMode="Externa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://htmlbook.ru/css/background-attachment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lorzilla.com/gradient-editor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hyperlink" Target="http://basicweb.ru/css/css_pr_position.php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hyperlink" Target="http://basicweb.ru/css/css_pr_top.php" TargetMode="External"/><Relationship Id="rId2" Type="http://schemas.openxmlformats.org/officeDocument/2006/relationships/hyperlink" Target="http://basicweb.ru/css/css_pr_position.php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basicweb.ru/css/css_pr_left.php" TargetMode="External"/><Relationship Id="rId5" Type="http://schemas.openxmlformats.org/officeDocument/2006/relationships/hyperlink" Target="http://basicweb.ru/css/css_pr_bottom.php" TargetMode="External"/><Relationship Id="rId4" Type="http://schemas.openxmlformats.org/officeDocument/2006/relationships/hyperlink" Target="http://basicweb.ru/css/css_pr_right.php" TargetMode="Externa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СОВРЕМЕННЫЕ ТЕХНОЛОГИИ РАЗРАБОТКИ </a:t>
            </a:r>
            <a:r>
              <a:rPr lang="en-US" b="1" dirty="0"/>
              <a:t>WEB</a:t>
            </a:r>
            <a:r>
              <a:rPr lang="ru-RU" b="1" dirty="0"/>
              <a:t>-ПРИЛОЖЕНИЙ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</a:t>
            </a:r>
            <a:r>
              <a:rPr lang="en-US" dirty="0" smtClean="0"/>
              <a:t> </a:t>
            </a:r>
            <a:r>
              <a:rPr lang="en-US" dirty="0" smtClean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2982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блоками и текстом в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34053"/>
          </a:xfrm>
        </p:spPr>
        <p:txBody>
          <a:bodyPr>
            <a:normAutofit/>
          </a:bodyPr>
          <a:lstStyle/>
          <a:p>
            <a:r>
              <a:rPr lang="ru-RU" sz="3200" dirty="0" smtClean="0">
                <a:hlinkClick r:id="rId2" action="ppaction://hlinksldjump"/>
              </a:rPr>
              <a:t>Блоки, их граница и фон</a:t>
            </a:r>
            <a:endParaRPr lang="ru-RU" sz="3200" dirty="0" smtClean="0"/>
          </a:p>
          <a:p>
            <a:r>
              <a:rPr lang="ru-RU" sz="3200" dirty="0">
                <a:hlinkClick r:id="rId3" action="ppaction://hlinksldjump"/>
              </a:rPr>
              <a:t>Градиенты</a:t>
            </a:r>
            <a:endParaRPr lang="ru-RU" sz="3200" dirty="0" smtClean="0"/>
          </a:p>
          <a:p>
            <a:r>
              <a:rPr lang="ru-RU" sz="3200" dirty="0" smtClean="0">
                <a:hlinkClick r:id="rId4" action="ppaction://hlinksldjump"/>
              </a:rPr>
              <a:t>Размер блока, отступы и поля</a:t>
            </a:r>
            <a:endParaRPr lang="ru-RU" sz="3200" dirty="0" smtClean="0"/>
          </a:p>
          <a:p>
            <a:r>
              <a:rPr lang="ru-RU" sz="3200" dirty="0" smtClean="0">
                <a:hlinkClick r:id="" action="ppaction://noaction"/>
              </a:rPr>
              <a:t>Позиционирование блоков</a:t>
            </a: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114670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Документ для примеров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!DOCTYPE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link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rel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="stylesheet"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href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="mystyle.css"&gt;</a:t>
            </a: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="one"&gt;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Analog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synths produce a wave sound, whereas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</a:t>
            </a:r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sounds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stored on a digital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synth</a:t>
            </a:r>
            <a:endParaRPr lang="ru-RU" sz="1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have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been sampled and then turned into numbers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="two"&gt;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Analog synthesizers are often said to have a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"warmer"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sound</a:t>
            </a:r>
            <a:endParaRPr lang="ru-RU" sz="1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than their digital counterparts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="three"&gt;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Pet Sounds featured a number of unconventional instruments such as bicycle bells,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buzzing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organs, harpsichords, flutes, Electro-Theremin, dog whistles, trains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ru-RU" sz="1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Hawaiian-sounding</a:t>
            </a:r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instruments, Coca-Cola cans and barking dogs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66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 для примеров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05" y="1871451"/>
            <a:ext cx="4933950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7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CSS-</a:t>
            </a:r>
            <a:r>
              <a:rPr lang="ru-RU" dirty="0" smtClean="0"/>
              <a:t>блоки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Если у нас есть веб-страница, нужно представить, что вокруг </a:t>
            </a:r>
            <a:r>
              <a:rPr lang="ru-RU" sz="3200" b="1" dirty="0" smtClean="0"/>
              <a:t>каждого видимого</a:t>
            </a:r>
            <a:r>
              <a:rPr lang="ru-RU" sz="3200" dirty="0" smtClean="0"/>
              <a:t> </a:t>
            </a:r>
            <a:r>
              <a:rPr lang="en-US" sz="3200" dirty="0" smtClean="0"/>
              <a:t>HTML-</a:t>
            </a:r>
            <a:r>
              <a:rPr lang="ru-RU" sz="3200" dirty="0" smtClean="0"/>
              <a:t>элемента (и ещё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3200" dirty="0" smtClean="0"/>
              <a:t> </a:t>
            </a:r>
            <a:r>
              <a:rPr lang="ru-RU" sz="3200" dirty="0" smtClean="0"/>
              <a:t>и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3200" dirty="0" smtClean="0"/>
              <a:t>)</a:t>
            </a:r>
            <a:r>
              <a:rPr lang="ru-RU" sz="3200" dirty="0" smtClean="0"/>
              <a:t> существует </a:t>
            </a:r>
            <a:r>
              <a:rPr lang="ru-RU" sz="3200" i="1" dirty="0" smtClean="0"/>
              <a:t>прямоугольный блок</a:t>
            </a:r>
            <a:r>
              <a:rPr lang="ru-RU" sz="3200" dirty="0" smtClean="0"/>
              <a:t>, который мы можем настроить при помощи </a:t>
            </a:r>
            <a:r>
              <a:rPr lang="en-US" sz="3200" dirty="0" smtClean="0"/>
              <a:t>CSS</a:t>
            </a:r>
            <a:r>
              <a:rPr lang="ru-RU" sz="3200" dirty="0" smtClean="0"/>
              <a:t>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60613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CSS-</a:t>
            </a:r>
            <a:r>
              <a:rPr lang="ru-RU" dirty="0" smtClean="0"/>
              <a:t>блоки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61831" y="1936698"/>
            <a:ext cx="4729298" cy="403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0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блока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058401" cy="403632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 smtClean="0"/>
              <a:t> </a:t>
            </a:r>
            <a:r>
              <a:rPr lang="ru-RU" sz="3000" dirty="0" smtClean="0"/>
              <a:t>Блок </a:t>
            </a:r>
            <a:r>
              <a:rPr lang="ru-RU" sz="3000" dirty="0"/>
              <a:t>имеет прямоугольную </a:t>
            </a:r>
            <a:r>
              <a:rPr lang="ru-RU" sz="3000" dirty="0" smtClean="0"/>
              <a:t>форму</a:t>
            </a:r>
            <a:r>
              <a:rPr lang="en-US" sz="3000" dirty="0"/>
              <a:t>.</a:t>
            </a:r>
            <a:endParaRPr lang="ru-RU" sz="3000" dirty="0" smtClean="0"/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3000" dirty="0" smtClean="0"/>
              <a:t> Вокруг </a:t>
            </a:r>
            <a:r>
              <a:rPr lang="ru-RU" sz="3000" i="1" dirty="0"/>
              <a:t>содержимого</a:t>
            </a:r>
            <a:r>
              <a:rPr lang="ru-RU" sz="3000" dirty="0"/>
              <a:t> </a:t>
            </a:r>
            <a:r>
              <a:rPr lang="ru-RU" sz="3000" dirty="0" smtClean="0"/>
              <a:t>блока есть </a:t>
            </a:r>
            <a:r>
              <a:rPr lang="ru-RU" sz="3000" i="1" dirty="0" smtClean="0"/>
              <a:t>отступы</a:t>
            </a:r>
            <a:r>
              <a:rPr lang="ru-RU" sz="3000" dirty="0" smtClean="0"/>
              <a:t>. Фон </a:t>
            </a:r>
            <a:r>
              <a:rPr lang="ru-RU" sz="3000" dirty="0"/>
              <a:t>отступов такой же, как и у содержимого</a:t>
            </a:r>
            <a:r>
              <a:rPr lang="ru-RU" sz="3000" dirty="0" smtClean="0"/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3000" dirty="0" smtClean="0"/>
              <a:t> Содержимое и отступы обрамлены </a:t>
            </a:r>
            <a:r>
              <a:rPr lang="ru-RU" sz="3000" i="1" dirty="0" smtClean="0"/>
              <a:t>границей.</a:t>
            </a:r>
            <a:r>
              <a:rPr lang="ru-RU" sz="3000" dirty="0" smtClean="0"/>
              <a:t> Она </a:t>
            </a:r>
            <a:r>
              <a:rPr lang="ru-RU" sz="3000" dirty="0"/>
              <a:t>может быть </a:t>
            </a:r>
            <a:r>
              <a:rPr lang="ru-RU" sz="3000" dirty="0" smtClean="0"/>
              <a:t>видимой или </a:t>
            </a:r>
            <a:r>
              <a:rPr lang="ru-RU" sz="3000" dirty="0"/>
              <a:t>невидимой</a:t>
            </a:r>
            <a:r>
              <a:rPr lang="ru-RU" sz="3000" dirty="0" smtClean="0"/>
              <a:t>. Граница имеет толщину.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3000" dirty="0" smtClean="0"/>
              <a:t> Вокруг границы размещены прозрачные </a:t>
            </a:r>
            <a:r>
              <a:rPr lang="ru-RU" sz="3000" i="1" dirty="0" smtClean="0"/>
              <a:t>поля</a:t>
            </a:r>
            <a:r>
              <a:rPr lang="ru-RU" sz="3000" dirty="0" smtClean="0"/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3000" dirty="0" smtClean="0"/>
              <a:t> Для содержимого блока определены </a:t>
            </a:r>
            <a:r>
              <a:rPr lang="ru-RU" sz="3000" i="1" dirty="0" smtClean="0"/>
              <a:t>ширина</a:t>
            </a:r>
            <a:r>
              <a:rPr lang="ru-RU" sz="3000" dirty="0" smtClean="0"/>
              <a:t> </a:t>
            </a:r>
            <a:r>
              <a:rPr lang="ru-RU" sz="3000" dirty="0"/>
              <a:t>и </a:t>
            </a:r>
            <a:r>
              <a:rPr lang="ru-RU" sz="3000" i="1" dirty="0" smtClean="0"/>
              <a:t>высота</a:t>
            </a:r>
            <a:r>
              <a:rPr lang="ru-RU" sz="3000" dirty="0" smtClean="0"/>
              <a:t>. Поля </a:t>
            </a:r>
            <a:r>
              <a:rPr lang="ru-RU" sz="3000" dirty="0"/>
              <a:t>и отступы </a:t>
            </a:r>
            <a:r>
              <a:rPr lang="ru-RU" sz="3000" dirty="0" smtClean="0"/>
              <a:t>при задании размера блока не учитываются.</a:t>
            </a:r>
          </a:p>
        </p:txBody>
      </p:sp>
    </p:spTree>
    <p:extLst>
      <p:ext uri="{BB962C8B-B14F-4D97-AF65-F5344CB8AC3E}">
        <p14:creationId xmlns:p14="http://schemas.microsoft.com/office/powerpoint/2010/main" val="324625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блока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651" y="2095081"/>
            <a:ext cx="7373658" cy="3763108"/>
          </a:xfrm>
        </p:spPr>
      </p:pic>
    </p:spTree>
    <p:extLst>
      <p:ext uri="{BB962C8B-B14F-4D97-AF65-F5344CB8AC3E}">
        <p14:creationId xmlns:p14="http://schemas.microsoft.com/office/powerpoint/2010/main" val="181430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995054" y="1059875"/>
            <a:ext cx="5716630" cy="3493264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div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200" dirty="0">
                <a:solidFill>
                  <a:srgbClr val="333333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altLang="ru-RU" sz="3200" dirty="0" smtClean="0">
                <a:solidFill>
                  <a:srgbClr val="333333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border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6px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solid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#949599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200" dirty="0">
                <a:solidFill>
                  <a:srgbClr val="333333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altLang="ru-RU" sz="3200" dirty="0" smtClean="0">
                <a:solidFill>
                  <a:srgbClr val="333333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height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100px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   margin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20px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   padding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20px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200" dirty="0">
                <a:solidFill>
                  <a:srgbClr val="333333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altLang="ru-RU" sz="3200" dirty="0" smtClean="0">
                <a:solidFill>
                  <a:srgbClr val="333333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width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400px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Arial Unicode MS" pitchFamily="34" charset="-128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  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}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273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/>
          <a:srcRect l="3098" t="13172" r="4746" b="53360"/>
          <a:stretch/>
        </p:blipFill>
        <p:spPr bwMode="auto">
          <a:xfrm>
            <a:off x="935181" y="187038"/>
            <a:ext cx="9767455" cy="46759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67144" y="5239765"/>
            <a:ext cx="1145770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Ширина: 492px = 20px + 6px + 20px + 400px + 20px + 6px + 20px</a:t>
            </a:r>
          </a:p>
          <a:p>
            <a:r>
              <a:rPr lang="ru-RU" sz="3200" dirty="0"/>
              <a:t>Высота: 192px = 20px + 6px + 20px + 100px + 20px + 6px + 20px</a:t>
            </a:r>
          </a:p>
        </p:txBody>
      </p:sp>
    </p:spTree>
    <p:extLst>
      <p:ext uri="{BB962C8B-B14F-4D97-AF65-F5344CB8AC3E}">
        <p14:creationId xmlns:p14="http://schemas.microsoft.com/office/powerpoint/2010/main" val="87434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41506" y="265838"/>
            <a:ext cx="70266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blockquote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{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padding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20px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 }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41506" y="1119745"/>
            <a:ext cx="80966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blockquote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{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padding-bottom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20px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;}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41506" y="2169520"/>
            <a:ext cx="9451626" cy="3325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425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dirty="0" err="1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blockquote</a:t>
            </a:r>
            <a:r>
              <a:rPr lang="en-US" sz="32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{ </a:t>
            </a:r>
            <a:r>
              <a:rPr lang="en-US" sz="3200" dirty="0">
                <a:solidFill>
                  <a:srgbClr val="E6550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padding</a:t>
            </a:r>
            <a:r>
              <a:rPr lang="en-US" sz="32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31A354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20px</a:t>
            </a:r>
            <a:r>
              <a:rPr lang="en-US" sz="32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31A354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0</a:t>
            </a:r>
            <a:r>
              <a:rPr lang="en-US" sz="32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31A354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10px</a:t>
            </a:r>
            <a:r>
              <a:rPr lang="en-US" sz="32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31A354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50px</a:t>
            </a:r>
            <a:r>
              <a:rPr lang="en-US" sz="32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}</a:t>
            </a:r>
            <a:endParaRPr lang="ru-RU" sz="32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64216" y="2696597"/>
            <a:ext cx="7191392" cy="3985706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blockquote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{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padding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20px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0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 }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/*       сверху       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200" dirty="0">
                <a:solidFill>
                  <a:srgbClr val="999988"/>
                </a:solidFill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lang="en-US" altLang="ru-RU" sz="3200" dirty="0" smtClean="0">
                <a:solidFill>
                  <a:srgbClr val="999988"/>
                </a:solidFill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       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20px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слева        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   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справа 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200" dirty="0">
                <a:solidFill>
                  <a:srgbClr val="999988"/>
                </a:solidFill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lang="en-US" altLang="ru-RU" sz="3200" dirty="0" smtClean="0">
                <a:solidFill>
                  <a:srgbClr val="999988"/>
                </a:solidFill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0          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   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 0      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200" dirty="0">
                <a:solidFill>
                  <a:srgbClr val="999988"/>
                </a:solidFill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lang="en-US" altLang="ru-RU" sz="3200" dirty="0" smtClean="0">
                <a:solidFill>
                  <a:srgbClr val="999988"/>
                </a:solidFill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      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снизу      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200" dirty="0">
                <a:solidFill>
                  <a:srgbClr val="999988"/>
                </a:solidFill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lang="en-US" altLang="ru-RU" sz="3200" dirty="0" smtClean="0">
                <a:solidFill>
                  <a:srgbClr val="999988"/>
                </a:solidFill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      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20px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*/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358676" y="3874935"/>
            <a:ext cx="3268911" cy="179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3200" dirty="0" err="1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margin</a:t>
            </a:r>
            <a:endParaRPr lang="ru-RU" sz="3200" dirty="0">
              <a:solidFill>
                <a:srgbClr val="E6550D"/>
              </a:solidFill>
              <a:ea typeface="Times New Roman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3200" dirty="0" err="1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padding</a:t>
            </a:r>
            <a:endParaRPr lang="ru-RU" sz="3200" dirty="0">
              <a:solidFill>
                <a:srgbClr val="E6550D"/>
              </a:solidFill>
              <a:ea typeface="Times New Roman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3200" dirty="0" err="1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border-width</a:t>
            </a:r>
            <a:endParaRPr lang="ru-RU" sz="3200" dirty="0">
              <a:solidFill>
                <a:srgbClr val="E6550D"/>
              </a:solidFill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787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21532" y="516665"/>
            <a:ext cx="1119329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3200" dirty="0" err="1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margin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 (отступ) добавляет пространство </a:t>
            </a:r>
            <a:r>
              <a:rPr lang="ru-RU" sz="3200" i="1" dirty="0">
                <a:latin typeface="Helvetica"/>
                <a:ea typeface="Times New Roman"/>
                <a:cs typeface="Times New Roman"/>
              </a:rPr>
              <a:t>снаружи</a:t>
            </a:r>
            <a:r>
              <a:rPr lang="ru-RU" sz="3200" dirty="0">
                <a:ea typeface="Times New Roman"/>
                <a:cs typeface="Times New Roman"/>
              </a:rPr>
              <a:t>, </a:t>
            </a:r>
            <a:endParaRPr lang="ru-RU" sz="3200" dirty="0" smtClean="0">
              <a:ea typeface="Times New Roma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ru-RU" sz="3200" dirty="0" smtClean="0">
                <a:ea typeface="Times New Roman"/>
                <a:cs typeface="Times New Roman"/>
              </a:rPr>
              <a:t>между </a:t>
            </a:r>
            <a:r>
              <a:rPr lang="ru-RU" sz="3200" dirty="0">
                <a:ea typeface="Times New Roman"/>
                <a:cs typeface="Times New Roman"/>
              </a:rPr>
              <a:t>элементом и другими элементами</a:t>
            </a:r>
            <a:r>
              <a:rPr lang="ru-RU" sz="3200" dirty="0" smtClean="0">
                <a:ea typeface="Times New Roman"/>
                <a:cs typeface="Times New Roman"/>
              </a:rPr>
              <a:t>.</a:t>
            </a:r>
          </a:p>
          <a:p>
            <a:pPr>
              <a:spcAft>
                <a:spcPts val="0"/>
              </a:spcAft>
            </a:pPr>
            <a:endParaRPr lang="ru-RU" sz="3200" dirty="0">
              <a:ea typeface="Times New Roman"/>
              <a:cs typeface="Times New Roman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dirty="0">
                <a:solidFill>
                  <a:srgbClr val="3182BD"/>
                </a:solidFill>
                <a:latin typeface="Courier New"/>
                <a:ea typeface="Times New Roman"/>
                <a:cs typeface="Times New Roman"/>
              </a:rPr>
              <a:t>p</a:t>
            </a:r>
            <a:r>
              <a:rPr lang="ru-RU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 { </a:t>
            </a:r>
            <a:r>
              <a:rPr lang="ru-RU" sz="3200" dirty="0" err="1">
                <a:solidFill>
                  <a:srgbClr val="E6550D"/>
                </a:solidFill>
                <a:latin typeface="Courier New"/>
                <a:ea typeface="Times New Roman"/>
                <a:cs typeface="Times New Roman"/>
              </a:rPr>
              <a:t>margin</a:t>
            </a:r>
            <a:r>
              <a:rPr lang="ru-RU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: </a:t>
            </a:r>
            <a:r>
              <a:rPr lang="ru-RU" sz="3200" dirty="0">
                <a:solidFill>
                  <a:srgbClr val="31A354"/>
                </a:solidFill>
                <a:latin typeface="Courier New"/>
                <a:ea typeface="Times New Roman"/>
                <a:cs typeface="Times New Roman"/>
              </a:rPr>
              <a:t>40px</a:t>
            </a:r>
            <a:r>
              <a:rPr lang="ru-RU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; } //отступы вокруг абзаца</a:t>
            </a:r>
            <a:endParaRPr lang="ru-RU" sz="3200" dirty="0"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9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блока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058401" cy="4036321"/>
          </a:xfrm>
        </p:spPr>
        <p:txBody>
          <a:bodyPr>
            <a:noAutofit/>
          </a:bodyPr>
          <a:lstStyle/>
          <a:p>
            <a:pPr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При работе с полями следует учитывать такое явление, как </a:t>
            </a:r>
            <a:r>
              <a:rPr lang="ru-RU" sz="32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«схлопывание полей»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(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margin collapsing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r>
              <a:rPr lang="ru-RU" sz="3200" dirty="0" smtClean="0"/>
              <a:t>У двух соседних по вертикали блоков значения полей не складываются – </a:t>
            </a:r>
            <a:r>
              <a:rPr lang="ru-RU" sz="3200" b="1" dirty="0" smtClean="0"/>
              <a:t>используется большее</a:t>
            </a:r>
            <a:r>
              <a:rPr lang="ru-RU" sz="3200" dirty="0" smtClean="0"/>
              <a:t>!</a:t>
            </a:r>
          </a:p>
          <a:p>
            <a:r>
              <a:rPr lang="ru-RU" sz="3200" dirty="0" smtClean="0"/>
              <a:t>Из этого правила есть исключения: плавающие блоки, абсолютно-позиционированные блоки, </a:t>
            </a:r>
            <a:r>
              <a:rPr lang="en-US" sz="3200" dirty="0" smtClean="0"/>
              <a:t>inline-</a:t>
            </a:r>
            <a:r>
              <a:rPr lang="ru-RU" sz="3200" dirty="0" smtClean="0"/>
              <a:t>блоки.</a:t>
            </a:r>
          </a:p>
        </p:txBody>
      </p:sp>
    </p:spTree>
    <p:extLst>
      <p:ext uri="{BB962C8B-B14F-4D97-AF65-F5344CB8AC3E}">
        <p14:creationId xmlns:p14="http://schemas.microsoft.com/office/powerpoint/2010/main" val="418335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"/>
            <a:ext cx="1219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Оба отступа положительны</a:t>
            </a:r>
          </a:p>
          <a:p>
            <a:r>
              <a:rPr lang="en-US" sz="2800" dirty="0" smtClean="0"/>
              <a:t> </a:t>
            </a:r>
            <a:r>
              <a:rPr lang="ru-RU" sz="2800" dirty="0" smtClean="0"/>
              <a:t>выбирается </a:t>
            </a:r>
            <a:r>
              <a:rPr lang="ru-RU" sz="2800" dirty="0"/>
              <a:t>наибольшее значение из двух отступов, и оно устанавливается как расстояние между блоками. При одинаковых значениях  отступов за расстояние между блоками принимается одно из них.</a:t>
            </a:r>
          </a:p>
          <a:p>
            <a:r>
              <a:rPr lang="ru-RU" sz="2800" b="1" dirty="0"/>
              <a:t>Один из отступов отрицательный</a:t>
            </a:r>
          </a:p>
          <a:p>
            <a:r>
              <a:rPr lang="en-US" sz="2800" dirty="0" smtClean="0"/>
              <a:t> </a:t>
            </a:r>
            <a:r>
              <a:rPr lang="ru-RU" sz="2800" dirty="0" smtClean="0"/>
              <a:t> </a:t>
            </a:r>
            <a:r>
              <a:rPr lang="ru-RU" sz="2800" dirty="0"/>
              <a:t>складывание отступов по правилам математики:</a:t>
            </a:r>
          </a:p>
          <a:p>
            <a:r>
              <a:rPr lang="ru-RU" sz="2800" dirty="0"/>
              <a:t>x + (-y) = x – y</a:t>
            </a:r>
          </a:p>
          <a:p>
            <a:r>
              <a:rPr lang="ru-RU" sz="2800" dirty="0"/>
              <a:t>Здесь x и y величина прилегающих отступов элементов.</a:t>
            </a:r>
          </a:p>
          <a:p>
            <a:r>
              <a:rPr lang="ru-RU" sz="2800" dirty="0"/>
              <a:t>Если полученное значение в результате суммирования окажется отрицательным, то оно будет действовать на нижний блок, соответственно, он сдвинется вверх на указанное значение.</a:t>
            </a:r>
          </a:p>
          <a:p>
            <a:r>
              <a:rPr lang="ru-RU" sz="2800" b="1" dirty="0"/>
              <a:t>Оба отступа отрицательны</a:t>
            </a:r>
          </a:p>
          <a:p>
            <a:r>
              <a:rPr lang="ru-RU" sz="2800" dirty="0"/>
              <a:t>Из двух значений выбирается наибольшее по модулю, оно же и выступает в качестве отрицательного отступа между элементами. Так, если отступы равны -10px и -20px, то итоговое значение будет -20px.</a:t>
            </a:r>
          </a:p>
        </p:txBody>
      </p:sp>
    </p:spTree>
    <p:extLst>
      <p:ext uri="{BB962C8B-B14F-4D97-AF65-F5344CB8AC3E}">
        <p14:creationId xmlns:p14="http://schemas.microsoft.com/office/powerpoint/2010/main" val="27166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1885" y="38007"/>
            <a:ext cx="1187422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4175" indent="-182880"/>
            <a:r>
              <a:rPr lang="ru-RU" sz="3200" b="1" dirty="0">
                <a:solidFill>
                  <a:srgbClr val="7F8C8D"/>
                </a:solidFill>
                <a:latin typeface="Helvetica"/>
              </a:rPr>
              <a:t>Объединение вертикальных </a:t>
            </a:r>
            <a:r>
              <a:rPr lang="ru-RU" sz="3200" b="1" dirty="0" err="1" smtClean="0">
                <a:solidFill>
                  <a:srgbClr val="7F8C8D"/>
                </a:solidFill>
                <a:latin typeface="Helvetica"/>
              </a:rPr>
              <a:t>margin</a:t>
            </a:r>
            <a:r>
              <a:rPr lang="ru-RU" sz="3200" b="1" dirty="0" smtClean="0">
                <a:solidFill>
                  <a:srgbClr val="7F8C8D"/>
                </a:solidFill>
                <a:latin typeface="Helvetica"/>
              </a:rPr>
              <a:t> </a:t>
            </a:r>
          </a:p>
          <a:p>
            <a:pPr marL="384175" indent="-182880"/>
            <a:r>
              <a:rPr lang="ru-RU" sz="3200" dirty="0" smtClean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заголовок 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и подзаголовок.</a:t>
            </a:r>
            <a:endParaRPr lang="ru-RU" sz="3200" dirty="0">
              <a:ea typeface="Times New Roman"/>
              <a:cs typeface="Times New Roman"/>
            </a:endParaRPr>
          </a:p>
          <a:p>
            <a:r>
              <a:rPr lang="en-US" sz="3200" b="1" dirty="0">
                <a:solidFill>
                  <a:srgbClr val="685C53"/>
                </a:solidFill>
                <a:latin typeface="Helvetica"/>
                <a:ea typeface="Times New Roman"/>
                <a:cs typeface="Times New Roman"/>
              </a:rPr>
              <a:t>CSS</a:t>
            </a:r>
            <a:endParaRPr lang="ru-RU" sz="3200" dirty="0">
              <a:ea typeface="Times New Roman"/>
              <a:cs typeface="Times New Roman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.title { </a:t>
            </a:r>
            <a:r>
              <a:rPr lang="en-US" sz="3200" dirty="0">
                <a:solidFill>
                  <a:srgbClr val="E6550D"/>
                </a:solidFill>
                <a:latin typeface="Courier New"/>
                <a:ea typeface="Times New Roman"/>
                <a:cs typeface="Times New Roman"/>
              </a:rPr>
              <a:t>margin-bottom</a:t>
            </a: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: </a:t>
            </a:r>
            <a:r>
              <a:rPr lang="en-US" sz="3200" dirty="0" smtClean="0">
                <a:solidFill>
                  <a:srgbClr val="31A354"/>
                </a:solidFill>
                <a:latin typeface="Courier New"/>
                <a:ea typeface="Times New Roman"/>
                <a:cs typeface="Times New Roman"/>
              </a:rPr>
              <a:t>30px</a:t>
            </a:r>
            <a:r>
              <a:rPr lang="en-US" sz="3200" dirty="0" smtClean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; }</a:t>
            </a:r>
            <a:r>
              <a:rPr lang="ru-RU" sz="3200" dirty="0" smtClean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   </a:t>
            </a:r>
            <a:endParaRPr lang="ru-RU" sz="3200" dirty="0">
              <a:ea typeface="Times New Roman"/>
              <a:cs typeface="Times New Roman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.subtitle { </a:t>
            </a:r>
            <a:r>
              <a:rPr lang="en-US" sz="3200" dirty="0">
                <a:solidFill>
                  <a:srgbClr val="E6550D"/>
                </a:solidFill>
                <a:latin typeface="Courier New"/>
                <a:ea typeface="Times New Roman"/>
                <a:cs typeface="Times New Roman"/>
              </a:rPr>
              <a:t>margin-top</a:t>
            </a: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: </a:t>
            </a:r>
            <a:r>
              <a:rPr lang="en-US" sz="3200" dirty="0">
                <a:solidFill>
                  <a:srgbClr val="31A354"/>
                </a:solidFill>
                <a:latin typeface="Courier New"/>
                <a:ea typeface="Times New Roman"/>
                <a:cs typeface="Times New Roman"/>
              </a:rPr>
              <a:t>15px</a:t>
            </a: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; }</a:t>
            </a:r>
            <a:endParaRPr lang="ru-RU" sz="3200" dirty="0">
              <a:ea typeface="Times New Roman"/>
              <a:cs typeface="Times New Roman"/>
            </a:endParaRPr>
          </a:p>
          <a:p>
            <a:r>
              <a:rPr lang="en-US" sz="3200" b="1" dirty="0">
                <a:solidFill>
                  <a:srgbClr val="685C53"/>
                </a:solidFill>
                <a:latin typeface="Helvetica"/>
                <a:ea typeface="Times New Roman"/>
                <a:cs typeface="Times New Roman"/>
              </a:rPr>
              <a:t>HTML</a:t>
            </a:r>
            <a:endParaRPr lang="ru-RU" sz="3200" dirty="0">
              <a:ea typeface="Times New Roman"/>
              <a:cs typeface="Times New Roman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dirty="0">
                <a:solidFill>
                  <a:srgbClr val="3182BD"/>
                </a:solidFill>
                <a:latin typeface="Courier New"/>
                <a:ea typeface="Times New Roman"/>
                <a:cs typeface="Times New Roman"/>
              </a:rPr>
              <a:t>&lt;h1</a:t>
            </a: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E6550D"/>
                </a:solidFill>
                <a:latin typeface="Courier New"/>
                <a:ea typeface="Times New Roman"/>
                <a:cs typeface="Times New Roman"/>
              </a:rPr>
              <a:t>class</a:t>
            </a:r>
            <a:r>
              <a:rPr lang="en-US" sz="3200" dirty="0">
                <a:solidFill>
                  <a:srgbClr val="756BB1"/>
                </a:solidFill>
                <a:latin typeface="Courier New"/>
                <a:ea typeface="Times New Roman"/>
                <a:cs typeface="Times New Roman"/>
              </a:rPr>
              <a:t>=</a:t>
            </a:r>
            <a:r>
              <a:rPr lang="en-US" sz="3200" dirty="0">
                <a:solidFill>
                  <a:srgbClr val="31A354"/>
                </a:solidFill>
                <a:latin typeface="Courier New"/>
                <a:ea typeface="Times New Roman"/>
                <a:cs typeface="Times New Roman"/>
              </a:rPr>
              <a:t>"title"</a:t>
            </a:r>
            <a:r>
              <a:rPr lang="en-US" sz="3200" dirty="0">
                <a:solidFill>
                  <a:srgbClr val="3182BD"/>
                </a:solidFill>
                <a:latin typeface="Courier New"/>
                <a:ea typeface="Times New Roman"/>
                <a:cs typeface="Times New Roman"/>
              </a:rPr>
              <a:t>&gt;</a:t>
            </a:r>
            <a:r>
              <a:rPr lang="en-US" sz="3200" dirty="0" err="1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MarkSheet</a:t>
            </a:r>
            <a:r>
              <a:rPr lang="en-US" sz="3200" dirty="0">
                <a:solidFill>
                  <a:srgbClr val="3182BD"/>
                </a:solidFill>
                <a:latin typeface="Courier New"/>
                <a:ea typeface="Times New Roman"/>
                <a:cs typeface="Times New Roman"/>
              </a:rPr>
              <a:t>&lt;/h1&gt;</a:t>
            </a:r>
            <a:endParaRPr lang="ru-RU" sz="3200" dirty="0">
              <a:ea typeface="Times New Roman"/>
              <a:cs typeface="Times New Roman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dirty="0">
                <a:solidFill>
                  <a:srgbClr val="3182BD"/>
                </a:solidFill>
                <a:latin typeface="Courier New"/>
                <a:ea typeface="Times New Roman"/>
                <a:cs typeface="Times New Roman"/>
              </a:rPr>
              <a:t>&lt;h2</a:t>
            </a:r>
            <a:r>
              <a:rPr lang="ru-RU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ru-RU" sz="3200" dirty="0" err="1">
                <a:solidFill>
                  <a:srgbClr val="E6550D"/>
                </a:solidFill>
                <a:latin typeface="Courier New"/>
                <a:ea typeface="Times New Roman"/>
                <a:cs typeface="Times New Roman"/>
              </a:rPr>
              <a:t>class</a:t>
            </a:r>
            <a:r>
              <a:rPr lang="ru-RU" sz="3200" dirty="0">
                <a:solidFill>
                  <a:srgbClr val="756BB1"/>
                </a:solidFill>
                <a:latin typeface="Courier New"/>
                <a:ea typeface="Times New Roman"/>
                <a:cs typeface="Times New Roman"/>
              </a:rPr>
              <a:t>=</a:t>
            </a:r>
            <a:r>
              <a:rPr lang="ru-RU" sz="3200" dirty="0">
                <a:solidFill>
                  <a:srgbClr val="31A354"/>
                </a:solidFill>
                <a:latin typeface="Courier New"/>
                <a:ea typeface="Times New Roman"/>
                <a:cs typeface="Times New Roman"/>
              </a:rPr>
              <a:t>"</a:t>
            </a:r>
            <a:r>
              <a:rPr lang="ru-RU" sz="3200" dirty="0" err="1">
                <a:solidFill>
                  <a:srgbClr val="31A354"/>
                </a:solidFill>
                <a:latin typeface="Courier New"/>
                <a:ea typeface="Times New Roman"/>
                <a:cs typeface="Times New Roman"/>
              </a:rPr>
              <a:t>subtitle</a:t>
            </a:r>
            <a:r>
              <a:rPr lang="ru-RU" sz="3200" dirty="0">
                <a:solidFill>
                  <a:srgbClr val="31A354"/>
                </a:solidFill>
                <a:latin typeface="Courier New"/>
                <a:ea typeface="Times New Roman"/>
                <a:cs typeface="Times New Roman"/>
              </a:rPr>
              <a:t>"</a:t>
            </a:r>
            <a:r>
              <a:rPr lang="ru-RU" sz="3200" dirty="0">
                <a:solidFill>
                  <a:srgbClr val="3182BD"/>
                </a:solidFill>
                <a:latin typeface="Courier New"/>
                <a:ea typeface="Times New Roman"/>
                <a:cs typeface="Times New Roman"/>
              </a:rPr>
              <a:t>&gt;</a:t>
            </a:r>
            <a:r>
              <a:rPr lang="ru-RU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Простое руководство по HTML и CSS</a:t>
            </a:r>
            <a:r>
              <a:rPr lang="ru-RU" sz="3200" dirty="0">
                <a:solidFill>
                  <a:srgbClr val="3182BD"/>
                </a:solidFill>
                <a:latin typeface="Courier New"/>
                <a:ea typeface="Times New Roman"/>
                <a:cs typeface="Times New Roman"/>
              </a:rPr>
              <a:t>&lt;/h2&gt;</a:t>
            </a:r>
            <a:endParaRPr lang="ru-RU" sz="3200" dirty="0">
              <a:ea typeface="Times New Roman"/>
              <a:cs typeface="Times New Roman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 </a:t>
            </a:r>
            <a:endParaRPr lang="ru-RU" sz="3200" dirty="0">
              <a:ea typeface="Times New Roman"/>
              <a:cs typeface="Times New Roman"/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l="4025" t="60165" r="7584" b="23352"/>
          <a:stretch/>
        </p:blipFill>
        <p:spPr bwMode="auto">
          <a:xfrm>
            <a:off x="3404682" y="4474723"/>
            <a:ext cx="8787318" cy="20075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9807528" y="4904504"/>
            <a:ext cx="1665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urier New"/>
                <a:ea typeface="Times New Roman"/>
                <a:cs typeface="Times New Roman"/>
              </a:rPr>
              <a:t>30px;</a:t>
            </a:r>
            <a:r>
              <a:rPr lang="en-US" sz="3200" b="1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 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4908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0164" y="187037"/>
            <a:ext cx="1155469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/>
              <a:t>Схлопывание не </a:t>
            </a:r>
            <a:r>
              <a:rPr lang="ru-RU" sz="3200" b="1" dirty="0" smtClean="0"/>
              <a:t>срабатывает</a:t>
            </a:r>
            <a:r>
              <a:rPr lang="en-US" sz="3200" b="1" dirty="0" smtClean="0"/>
              <a:t> </a:t>
            </a:r>
            <a:r>
              <a:rPr lang="ru-RU" sz="3200" dirty="0" smtClean="0"/>
              <a:t>для </a:t>
            </a:r>
            <a:r>
              <a:rPr lang="ru-RU" sz="3200" dirty="0"/>
              <a:t>элементов, у которых </a:t>
            </a:r>
            <a:r>
              <a:rPr lang="ru-RU" sz="3200" dirty="0" smtClean="0"/>
              <a:t>:</a:t>
            </a:r>
            <a:endParaRPr lang="en-US" sz="3200" dirty="0" smtClean="0"/>
          </a:p>
          <a:p>
            <a:endParaRPr lang="ru-RU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установлено </a:t>
            </a:r>
            <a:r>
              <a:rPr lang="ru-RU" sz="3200" dirty="0"/>
              <a:t>свойство </a:t>
            </a:r>
            <a:r>
              <a:rPr lang="ru-RU" sz="3200" b="1" dirty="0" err="1"/>
              <a:t>padding</a:t>
            </a:r>
            <a:r>
              <a:rPr lang="ru-RU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на </a:t>
            </a:r>
            <a:r>
              <a:rPr lang="ru-RU" sz="3200" dirty="0"/>
              <a:t>стороне схлопывания задана граница;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3200" b="1" dirty="0" err="1" smtClean="0"/>
              <a:t>position</a:t>
            </a:r>
            <a:r>
              <a:rPr lang="ru-RU" sz="3200" dirty="0"/>
              <a:t> установлено как </a:t>
            </a:r>
            <a:r>
              <a:rPr lang="ru-RU" sz="3200" b="1" dirty="0" err="1"/>
              <a:t>absolute</a:t>
            </a:r>
            <a:r>
              <a:rPr lang="ru-RU" sz="3200" dirty="0"/>
              <a:t>;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свойство</a:t>
            </a:r>
            <a:r>
              <a:rPr lang="ru-RU" sz="3200" dirty="0"/>
              <a:t> </a:t>
            </a:r>
            <a:r>
              <a:rPr lang="ru-RU" sz="3200" b="1" dirty="0" err="1"/>
              <a:t>float</a:t>
            </a:r>
            <a:r>
              <a:rPr lang="ru-RU" sz="3200" dirty="0"/>
              <a:t> задано как </a:t>
            </a:r>
            <a:r>
              <a:rPr lang="ru-RU" sz="3200" b="1" dirty="0" err="1"/>
              <a:t>left</a:t>
            </a:r>
            <a:r>
              <a:rPr lang="ru-RU" sz="3200" dirty="0"/>
              <a:t> или </a:t>
            </a:r>
            <a:r>
              <a:rPr lang="ru-RU" sz="3200" b="1" dirty="0" err="1" smtClean="0"/>
              <a:t>right</a:t>
            </a:r>
            <a:r>
              <a:rPr lang="ru-RU" sz="3200" dirty="0" smtClean="0"/>
              <a:t>;</a:t>
            </a:r>
            <a:endParaRPr lang="ru-RU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3200" dirty="0"/>
              <a:t>для строчных элементов;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3200" dirty="0"/>
              <a:t>для </a:t>
            </a:r>
            <a:r>
              <a:rPr lang="ru-RU" sz="3200" b="1" dirty="0"/>
              <a:t>&lt;</a:t>
            </a:r>
            <a:r>
              <a:rPr lang="ru-RU" sz="3200" b="1" dirty="0" err="1"/>
              <a:t>html</a:t>
            </a:r>
            <a:r>
              <a:rPr lang="ru-RU" sz="3200" b="1" dirty="0"/>
              <a:t>&gt;</a:t>
            </a:r>
            <a:r>
              <a:rPr lang="ru-RU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значение</a:t>
            </a:r>
            <a:r>
              <a:rPr lang="ru-RU" sz="3200" dirty="0"/>
              <a:t> </a:t>
            </a:r>
            <a:r>
              <a:rPr lang="ru-RU" sz="3200" b="1" dirty="0" err="1"/>
              <a:t>overflow</a:t>
            </a:r>
            <a:r>
              <a:rPr lang="ru-RU" sz="3200" dirty="0"/>
              <a:t> задано как </a:t>
            </a:r>
            <a:r>
              <a:rPr lang="ru-RU" sz="3200" b="1" dirty="0" err="1"/>
              <a:t>auto</a:t>
            </a:r>
            <a:r>
              <a:rPr lang="ru-RU" sz="3200" dirty="0"/>
              <a:t>, </a:t>
            </a:r>
            <a:r>
              <a:rPr lang="ru-RU" sz="3200" b="1" dirty="0" err="1"/>
              <a:t>hidden</a:t>
            </a:r>
            <a:r>
              <a:rPr lang="ru-RU" sz="3200" dirty="0"/>
              <a:t> или </a:t>
            </a:r>
            <a:r>
              <a:rPr lang="ru-RU" sz="3200" b="1" dirty="0" err="1"/>
              <a:t>scroll</a:t>
            </a:r>
            <a:r>
              <a:rPr lang="ru-RU" sz="3200" dirty="0"/>
              <a:t> </a:t>
            </a:r>
            <a:r>
              <a:rPr lang="en-US" sz="3200" dirty="0" smtClean="0"/>
              <a:t>- </a:t>
            </a:r>
            <a:r>
              <a:rPr lang="ru-RU" sz="3200" dirty="0" smtClean="0"/>
              <a:t>схлопывание </a:t>
            </a:r>
            <a:r>
              <a:rPr lang="ru-RU" sz="3200" dirty="0"/>
              <a:t>не действует для их дочерних элементов;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свойство </a:t>
            </a:r>
            <a:r>
              <a:rPr lang="ru-RU" sz="3200" b="1" dirty="0" err="1" smtClean="0"/>
              <a:t>clear</a:t>
            </a:r>
            <a:r>
              <a:rPr lang="en-US" sz="3200" dirty="0" smtClean="0"/>
              <a:t> - </a:t>
            </a:r>
            <a:r>
              <a:rPr lang="ru-RU" sz="3200" dirty="0" smtClean="0"/>
              <a:t> </a:t>
            </a:r>
            <a:r>
              <a:rPr lang="ru-RU" sz="3200" dirty="0"/>
              <a:t>не </a:t>
            </a:r>
            <a:r>
              <a:rPr lang="ru-RU" sz="3200" dirty="0" err="1"/>
              <a:t>схлопывается</a:t>
            </a:r>
            <a:r>
              <a:rPr lang="ru-RU" sz="3200" dirty="0"/>
              <a:t> верхний отступ с нижним отступом родительского элемента.</a:t>
            </a:r>
          </a:p>
        </p:txBody>
      </p:sp>
    </p:spTree>
    <p:extLst>
      <p:ext uri="{BB962C8B-B14F-4D97-AF65-F5344CB8AC3E}">
        <p14:creationId xmlns:p14="http://schemas.microsoft.com/office/powerpoint/2010/main" val="164896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блока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058401" cy="4036321"/>
          </a:xfrm>
        </p:spPr>
        <p:txBody>
          <a:bodyPr>
            <a:noAutofit/>
          </a:bodyPr>
          <a:lstStyle/>
          <a:p>
            <a:pPr>
              <a:buClr>
                <a:srgbClr val="1CADE4"/>
              </a:buClr>
            </a:pPr>
            <a:r>
              <a:rPr lang="ru-RU" sz="32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Замечание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: как правило, </a:t>
            </a:r>
            <a:r>
              <a:rPr 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CSS-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свойства, связанные с настройкой блоков, являются </a:t>
            </a:r>
            <a:r>
              <a:rPr lang="ru-RU" sz="3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ненаследуемыми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>
              <a:buClr>
                <a:srgbClr val="1CADE4"/>
              </a:buClr>
            </a:pPr>
            <a:endParaRPr lang="ru-RU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buClr>
                <a:srgbClr val="1CADE4"/>
              </a:buClr>
            </a:pPr>
            <a:r>
              <a:rPr lang="ru-RU" sz="32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Напоминание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: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многие ненаследуемые свойства могут принимать специальное значение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inherit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которое </a:t>
            </a:r>
            <a:r>
              <a:rPr lang="ru-RU" sz="32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заставляет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брать значение свойства у родителя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ru-RU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63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границы блока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У границы можно настроить цвет (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ru-RU" sz="3200" dirty="0" smtClean="0"/>
              <a:t>), толщину линии (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ru-RU" sz="3200" dirty="0" smtClean="0"/>
              <a:t>) и тип линии (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ru-RU" sz="3200" dirty="0" smtClean="0"/>
              <a:t>).</a:t>
            </a:r>
          </a:p>
          <a:p>
            <a:r>
              <a:rPr lang="ru-RU" sz="3200" dirty="0" smtClean="0"/>
              <a:t>Имена </a:t>
            </a:r>
            <a:r>
              <a:rPr lang="en-US" sz="3200" dirty="0" smtClean="0"/>
              <a:t>CSS-</a:t>
            </a:r>
            <a:r>
              <a:rPr lang="ru-RU" sz="3200" dirty="0" smtClean="0"/>
              <a:t>свойств конструируем так: дописываем через дефис указанные атрибуты либо к свойству 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</a:t>
            </a:r>
            <a:r>
              <a:rPr lang="ru-RU" sz="3200" dirty="0"/>
              <a:t> (все </a:t>
            </a:r>
            <a:r>
              <a:rPr lang="ru-RU" sz="3200" dirty="0" smtClean="0"/>
              <a:t>границы), либо к свойствам 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border-top</a:t>
            </a:r>
            <a:r>
              <a:rPr lang="ru-RU" sz="3200" dirty="0" smtClean="0"/>
              <a:t>,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border-right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border-bottom</a:t>
            </a:r>
            <a:r>
              <a:rPr lang="ru-RU" sz="3200" dirty="0" smtClean="0"/>
              <a:t>,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border-left</a:t>
            </a:r>
            <a:r>
              <a:rPr lang="ru-RU" sz="3200" dirty="0" smtClean="0"/>
              <a:t>. Например:</a:t>
            </a:r>
          </a:p>
          <a:p>
            <a:pPr>
              <a:spcBef>
                <a:spcPts val="1800"/>
              </a:spcBef>
            </a:pP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ru-RU" sz="3200" dirty="0" smtClean="0"/>
              <a:t>толщина всех границ</a:t>
            </a:r>
          </a:p>
          <a:p>
            <a:pPr>
              <a:spcBef>
                <a:spcPts val="600"/>
              </a:spcBef>
            </a:pP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top-color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ru-RU" sz="3200" dirty="0" smtClean="0"/>
              <a:t>цвет верхней границы</a:t>
            </a:r>
            <a:endParaRPr lang="ru-RU" sz="3200" dirty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19331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2361" y="0"/>
            <a:ext cx="10058400" cy="900112"/>
          </a:xfrm>
        </p:spPr>
        <p:txBody>
          <a:bodyPr/>
          <a:lstStyle/>
          <a:p>
            <a:r>
              <a:rPr lang="ru-RU" dirty="0" smtClean="0"/>
              <a:t>Настройка границы блока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14313" y="761629"/>
            <a:ext cx="11977687" cy="473075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ru-RU" sz="3200" dirty="0" smtClean="0"/>
              <a:t>Цвет задаётся как обычно в </a:t>
            </a:r>
            <a:r>
              <a:rPr lang="en-US" sz="3200" dirty="0" smtClean="0"/>
              <a:t>CSS</a:t>
            </a:r>
            <a:r>
              <a:rPr lang="ru-RU" sz="32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ru-RU" sz="3200" dirty="0" smtClean="0"/>
              <a:t>Для толщины используем слова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thin</a:t>
            </a:r>
            <a:r>
              <a:rPr 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 (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2px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r>
              <a:rPr lang="ru-RU" sz="3200" dirty="0" smtClean="0"/>
              <a:t>,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medium</a:t>
            </a:r>
            <a:r>
              <a:rPr lang="en-US" sz="3200" dirty="0"/>
              <a:t> </a:t>
            </a:r>
            <a:r>
              <a:rPr lang="en-US" sz="3200" dirty="0" smtClean="0"/>
              <a:t>(4px</a:t>
            </a:r>
            <a:r>
              <a:rPr lang="ru-RU" sz="3200" dirty="0" smtClean="0"/>
              <a:t>),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thick</a:t>
            </a:r>
            <a:r>
              <a:rPr lang="en-US" sz="3200" dirty="0"/>
              <a:t> </a:t>
            </a:r>
            <a:r>
              <a:rPr lang="en-US" sz="3200" dirty="0" smtClean="0"/>
              <a:t>(6px</a:t>
            </a:r>
            <a:r>
              <a:rPr lang="ru-RU" sz="3200" dirty="0" smtClean="0"/>
              <a:t>), или любую единицу размера, </a:t>
            </a:r>
            <a:r>
              <a:rPr lang="ru-RU" sz="3200" b="1" dirty="0" smtClean="0"/>
              <a:t>исключая %</a:t>
            </a:r>
            <a:r>
              <a:rPr lang="ru-RU" sz="3200" dirty="0" smtClean="0"/>
              <a:t>.</a:t>
            </a:r>
          </a:p>
          <a:p>
            <a:pPr>
              <a:spcBef>
                <a:spcPts val="2400"/>
              </a:spcBef>
            </a:pPr>
            <a:r>
              <a:rPr lang="ru-RU" sz="3200" dirty="0" smtClean="0"/>
              <a:t>Для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ru-RU" sz="3200" dirty="0" smtClean="0"/>
              <a:t> используем: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dotted</a:t>
            </a:r>
            <a:r>
              <a:rPr lang="en-US" sz="3200" dirty="0" smtClean="0"/>
              <a:t>,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dashed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solid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groove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ridge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inset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outset</a:t>
            </a:r>
            <a:r>
              <a:rPr lang="ru-RU" sz="3200" dirty="0" smtClean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92" y="3424058"/>
            <a:ext cx="9563482" cy="83160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49158" y="4164564"/>
            <a:ext cx="12003932" cy="2702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dirty="0" err="1">
                <a:solidFill>
                  <a:srgbClr val="39892F"/>
                </a:solidFill>
                <a:ea typeface="Times New Roman"/>
                <a:cs typeface="Times New Roman"/>
              </a:rPr>
              <a:t>none</a:t>
            </a:r>
            <a:r>
              <a:rPr lang="ru-RU" sz="3200" dirty="0">
                <a:solidFill>
                  <a:srgbClr val="39892F"/>
                </a:solidFill>
                <a:ea typeface="Times New Roman"/>
                <a:cs typeface="Times New Roman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Не отображает границу и 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Times New Roman"/>
              </a:rPr>
              <a:t> (</a:t>
            </a:r>
            <a:r>
              <a:rPr lang="ru-RU" sz="3200" dirty="0" err="1">
                <a:solidFill>
                  <a:srgbClr val="B61039"/>
                </a:solidFill>
                <a:ea typeface="Times New Roman"/>
                <a:cs typeface="Times New Roman"/>
              </a:rPr>
              <a:t>border-width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) задается нулевой.</a:t>
            </a:r>
            <a:endParaRPr lang="ru-RU" sz="3200" dirty="0">
              <a:ea typeface="Times New Roman"/>
              <a:cs typeface="Times New Roman"/>
            </a:endParaRPr>
          </a:p>
          <a:p>
            <a:r>
              <a:rPr lang="ru-RU" sz="3200" dirty="0" err="1">
                <a:solidFill>
                  <a:srgbClr val="39892F"/>
                </a:solidFill>
                <a:ea typeface="Times New Roman"/>
              </a:rPr>
              <a:t>hidden</a:t>
            </a:r>
            <a:r>
              <a:rPr lang="ru-RU" sz="3200" dirty="0">
                <a:solidFill>
                  <a:srgbClr val="39892F"/>
                </a:solidFill>
                <a:ea typeface="Times New Roman"/>
              </a:rPr>
              <a:t> 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</a:rPr>
              <a:t> тот </a:t>
            </a:r>
            <a:r>
              <a:rPr lang="ru-RU" sz="3200" dirty="0">
                <a:solidFill>
                  <a:srgbClr val="000000"/>
                </a:solidFill>
                <a:ea typeface="Times New Roman"/>
              </a:rPr>
              <a:t>же эффект, что 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</a:rPr>
              <a:t> </a:t>
            </a:r>
            <a:r>
              <a:rPr lang="ru-RU" sz="3200" dirty="0" err="1">
                <a:solidFill>
                  <a:srgbClr val="39892F"/>
                </a:solidFill>
                <a:ea typeface="Times New Roman"/>
              </a:rPr>
              <a:t>none</a:t>
            </a:r>
            <a:r>
              <a:rPr lang="ru-RU" sz="3200" dirty="0">
                <a:solidFill>
                  <a:srgbClr val="000000"/>
                </a:solidFill>
                <a:ea typeface="Times New Roman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</a:rPr>
              <a:t>кроме </a:t>
            </a:r>
            <a:r>
              <a:rPr lang="ru-RU" sz="3200" dirty="0">
                <a:solidFill>
                  <a:srgbClr val="000000"/>
                </a:solidFill>
                <a:ea typeface="Times New Roman"/>
              </a:rPr>
              <a:t> </a:t>
            </a:r>
            <a:r>
              <a:rPr lang="ru-RU" sz="3200" dirty="0" err="1">
                <a:solidFill>
                  <a:srgbClr val="B61039"/>
                </a:solidFill>
                <a:ea typeface="Times New Roman"/>
              </a:rPr>
              <a:t>border-style</a:t>
            </a:r>
            <a:r>
              <a:rPr lang="ru-RU" sz="3200" dirty="0">
                <a:solidFill>
                  <a:srgbClr val="000000"/>
                </a:solidFill>
                <a:ea typeface="Times New Roman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</a:rPr>
              <a:t>у ячеек таблицы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dirty="0" err="1">
                <a:solidFill>
                  <a:srgbClr val="39892F"/>
                </a:solidFill>
                <a:ea typeface="Times New Roman"/>
                <a:cs typeface="Times New Roman"/>
              </a:rPr>
              <a:t>inherit</a:t>
            </a:r>
            <a:r>
              <a:rPr lang="ru-RU" sz="3200" dirty="0">
                <a:solidFill>
                  <a:srgbClr val="39892F"/>
                </a:solidFill>
                <a:ea typeface="Times New Roman"/>
                <a:cs typeface="Times New Roman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Наследует значение родителя.</a:t>
            </a:r>
            <a:endParaRPr lang="ru-RU" sz="3200" dirty="0">
              <a:ea typeface="Times New Roman"/>
              <a:cs typeface="Times New Roman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436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границы блока – пример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559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border-color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(255,106,0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border-width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2px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border-style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border-top-width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0.5em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border-left-color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#ABC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border-left-style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border-left-width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4pt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730" y="1845733"/>
            <a:ext cx="493395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73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9" t="18313" r="9343" b="37315"/>
          <a:stretch/>
        </p:blipFill>
        <p:spPr bwMode="auto">
          <a:xfrm>
            <a:off x="812802" y="0"/>
            <a:ext cx="10286816" cy="645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321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границы блока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У границы или отдельной грани можно задать сразу три свойства: </a:t>
            </a:r>
            <a:r>
              <a:rPr lang="ru-RU" sz="2800" i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толщина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i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тип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i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цвет</a:t>
            </a:r>
            <a:r>
              <a:rPr lang="ru-RU" sz="3200" dirty="0" smtClean="0"/>
              <a:t>:</a:t>
            </a:r>
          </a:p>
          <a:p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28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0">
              <a:buClr>
                <a:srgbClr val="1CADE4"/>
              </a:buClr>
            </a:pPr>
            <a:r>
              <a:rPr lang="ru-RU" sz="3200" dirty="0" smtClean="0"/>
              <a:t>Настраивая свойства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border-*</a:t>
            </a:r>
            <a:r>
              <a:rPr lang="ru-RU" sz="3200" dirty="0" smtClean="0"/>
              <a:t>, можно задать одно значение (все грани), два значения (верх-низ и левый-правый),</a:t>
            </a:r>
            <a:r>
              <a:rPr lang="en-US" sz="3200" dirty="0" smtClean="0"/>
              <a:t> </a:t>
            </a:r>
            <a:r>
              <a:rPr lang="ru-RU" sz="3200" dirty="0" smtClean="0"/>
              <a:t>три значения (верх, левый-правый, низ), четыре значения (верх, правый, низ, левый):</a:t>
            </a:r>
            <a:endParaRPr lang="en-US" sz="3200" dirty="0" smtClean="0"/>
          </a:p>
          <a:p>
            <a:pPr lvl="0">
              <a:spcBef>
                <a:spcPts val="600"/>
              </a:spcBef>
              <a:buClr>
                <a:srgbClr val="1CADE4"/>
              </a:buClr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7</a:t>
            </a:r>
            <a:r>
              <a:rPr lang="en-US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32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86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самый быстрый способ получить три границы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9263" y="2020833"/>
            <a:ext cx="10058400" cy="2784632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rgbClr val="3182BD"/>
                </a:solidFill>
                <a:latin typeface="Courier New"/>
                <a:ea typeface="Times New Roman"/>
              </a:rPr>
              <a:t>blockquote</a:t>
            </a: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</a:rPr>
              <a:t> { </a:t>
            </a:r>
            <a:endParaRPr lang="en-US" sz="3200" dirty="0" smtClean="0">
              <a:solidFill>
                <a:srgbClr val="333333"/>
              </a:solidFill>
              <a:latin typeface="Courier New"/>
              <a:ea typeface="Times New Roman"/>
            </a:endParaRPr>
          </a:p>
          <a:p>
            <a:r>
              <a:rPr lang="en-US" sz="3200" dirty="0" smtClean="0">
                <a:solidFill>
                  <a:srgbClr val="E6550D"/>
                </a:solidFill>
                <a:latin typeface="Courier New"/>
                <a:ea typeface="Times New Roman"/>
              </a:rPr>
              <a:t>border</a:t>
            </a: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</a:rPr>
              <a:t>: </a:t>
            </a:r>
            <a:r>
              <a:rPr lang="en-US" sz="3200" dirty="0">
                <a:solidFill>
                  <a:srgbClr val="31A354"/>
                </a:solidFill>
                <a:latin typeface="Courier New"/>
                <a:ea typeface="Times New Roman"/>
              </a:rPr>
              <a:t>1px</a:t>
            </a: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</a:rPr>
              <a:t> solid yellow; </a:t>
            </a:r>
            <a:endParaRPr lang="en-US" sz="3200" dirty="0" smtClean="0">
              <a:solidFill>
                <a:srgbClr val="333333"/>
              </a:solidFill>
              <a:latin typeface="Courier New"/>
              <a:ea typeface="Times New Roman"/>
            </a:endParaRPr>
          </a:p>
          <a:p>
            <a:r>
              <a:rPr lang="en-US" sz="3200" dirty="0" smtClean="0">
                <a:solidFill>
                  <a:srgbClr val="E6550D"/>
                </a:solidFill>
                <a:latin typeface="Courier New"/>
                <a:ea typeface="Times New Roman"/>
              </a:rPr>
              <a:t>border-left</a:t>
            </a: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</a:rPr>
              <a:t>: </a:t>
            </a:r>
            <a:r>
              <a:rPr lang="en-US" sz="3200" dirty="0">
                <a:solidFill>
                  <a:srgbClr val="31A354"/>
                </a:solidFill>
                <a:latin typeface="Courier New"/>
                <a:ea typeface="Times New Roman"/>
              </a:rPr>
              <a:t>none</a:t>
            </a:r>
            <a:r>
              <a:rPr lang="en-US" sz="3200" dirty="0">
                <a:solidFill>
                  <a:srgbClr val="333333"/>
                </a:solidFill>
                <a:latin typeface="Courier New"/>
                <a:ea typeface="Times New Roman"/>
              </a:rPr>
              <a:t>; </a:t>
            </a:r>
            <a:endParaRPr lang="en-US" sz="3200" dirty="0" smtClean="0">
              <a:solidFill>
                <a:srgbClr val="333333"/>
              </a:solidFill>
              <a:latin typeface="Courier New"/>
              <a:ea typeface="Times New Roman"/>
            </a:endParaRPr>
          </a:p>
          <a:p>
            <a:r>
              <a:rPr lang="en-US" sz="3200" dirty="0" smtClean="0">
                <a:solidFill>
                  <a:srgbClr val="333333"/>
                </a:solidFill>
                <a:latin typeface="Courier New"/>
                <a:ea typeface="Times New Roman"/>
              </a:rPr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8365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44750" y="978948"/>
            <a:ext cx="11439728" cy="3985706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3200" b="1" dirty="0" smtClean="0">
                <a:solidFill>
                  <a:srgbClr val="0A0A0A"/>
                </a:solidFill>
                <a:latin typeface="Helvetica" charset="-52"/>
                <a:ea typeface="Times New Roman" pitchFamily="18" charset="0"/>
                <a:cs typeface="Arial" pitchFamily="34" charset="0"/>
              </a:rPr>
              <a:t>Нельзя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Helvetica" charset="-52"/>
                <a:ea typeface="Times New Roman" pitchFamily="18" charset="0"/>
                <a:cs typeface="Arial" pitchFamily="34" charset="0"/>
              </a:rPr>
              <a:t>смешивать два свойства: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blockquote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{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border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1px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0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solid green; }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Arial Unicode MS" pitchFamily="34" charset="-128"/>
              <a:ea typeface="Times New Roman" pitchFamily="18" charset="0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/* Не работает */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Helvetica" charset="-52"/>
                <a:ea typeface="Times New Roman" pitchFamily="18" charset="0"/>
                <a:cs typeface="Arial" pitchFamily="34" charset="0"/>
              </a:rPr>
              <a:t>Можно опустить толщину в 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Helvetica" charset="-52"/>
                <a:ea typeface="Times New Roman" pitchFamily="18" charset="0"/>
                <a:cs typeface="Arial" pitchFamily="34" charset="0"/>
              </a:rPr>
              <a:t>border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Helvetica" charset="-52"/>
                <a:ea typeface="Times New Roman" pitchFamily="18" charset="0"/>
                <a:cs typeface="Arial" pitchFamily="34" charset="0"/>
              </a:rPr>
              <a:t> и установить её отдельно: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blockquote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{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border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solid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yellow;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border-width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1px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0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}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78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Закругление углов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7544302" cy="4036321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CSS3</a:t>
            </a:r>
            <a:r>
              <a:rPr lang="en-US" sz="3200" dirty="0" smtClean="0"/>
              <a:t> </a:t>
            </a:r>
            <a:r>
              <a:rPr lang="ru-RU" sz="3200" dirty="0" smtClean="0"/>
              <a:t>позволяет настроить закругления для углов границы блока.</a:t>
            </a:r>
          </a:p>
          <a:p>
            <a:endParaRPr lang="ru-RU" sz="3200" dirty="0"/>
          </a:p>
          <a:p>
            <a:r>
              <a:rPr lang="ru-RU" sz="3200" dirty="0" smtClean="0"/>
              <a:t>Параметром закругления является либо одна единица размера (радиус закругления), либо две единицы (два радиуса эллипса закругления – </a:t>
            </a:r>
            <a:r>
              <a:rPr lang="en-US" sz="3200" dirty="0" smtClean="0"/>
              <a:t>X </a:t>
            </a:r>
            <a:r>
              <a:rPr lang="ru-RU" sz="3200" dirty="0" smtClean="0"/>
              <a:t>и </a:t>
            </a:r>
            <a:r>
              <a:rPr lang="en-US" sz="3200" dirty="0" smtClean="0"/>
              <a:t>Y</a:t>
            </a:r>
            <a:r>
              <a:rPr lang="ru-RU" sz="3200" dirty="0" smtClean="0"/>
              <a:t>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30" y="1845733"/>
            <a:ext cx="241935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1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Закругление углов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/>
              <a:t>Свойства для настройки закругления </a:t>
            </a:r>
            <a:r>
              <a:rPr lang="ru-RU" sz="3200" dirty="0" smtClean="0"/>
              <a:t>углов:</a:t>
            </a:r>
          </a:p>
          <a:p>
            <a:pPr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ru-RU" sz="3200" dirty="0" smtClean="0"/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border-top-left-radius</a:t>
            </a:r>
            <a:r>
              <a:rPr lang="ru-RU" sz="3200" dirty="0" smtClean="0"/>
              <a:t> </a:t>
            </a:r>
          </a:p>
          <a:p>
            <a:pPr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ru-RU" sz="3200" dirty="0" smtClean="0"/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border-top-right-radius</a:t>
            </a:r>
            <a:endParaRPr lang="ru-RU" sz="28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ru-RU" sz="3200" dirty="0" smtClean="0"/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border-bottom-left-radius</a:t>
            </a:r>
            <a:endParaRPr lang="ru-RU" sz="28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ru-RU" sz="3200" dirty="0" smtClean="0"/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border-bottom-right</a:t>
            </a:r>
            <a:r>
              <a:rPr lang="ru-RU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radius</a:t>
            </a:r>
            <a:endParaRPr lang="ru-RU" sz="28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ru-RU" sz="1600" dirty="0" smtClean="0"/>
          </a:p>
          <a:p>
            <a:r>
              <a:rPr lang="ru-RU" sz="3200" dirty="0" smtClean="0"/>
              <a:t>Пример:</a:t>
            </a:r>
          </a:p>
          <a:p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ru-RU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border-top-left-radius</a:t>
            </a:r>
            <a:r>
              <a:rPr lang="en-US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 15px</a:t>
            </a:r>
            <a:r>
              <a:rPr lang="en-US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ru-RU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9476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Закругление углов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87" y="1845734"/>
            <a:ext cx="11867745" cy="1383850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border-radius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позволяет задать несколько закруглений сразу (через пробел). Если нужны вторые радиусы для эллипсов, то их перечисляем через </a:t>
            </a:r>
            <a:r>
              <a:rPr lang="ru-RU" sz="32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слэш</a:t>
            </a:r>
            <a:r>
              <a:rPr lang="ru-RU" sz="3200" dirty="0" smtClean="0"/>
              <a:t> (</a:t>
            </a:r>
            <a:r>
              <a:rPr lang="ru-RU" sz="2800" dirty="0" smtClean="0"/>
              <a:t>радиус </a:t>
            </a:r>
            <a:r>
              <a:rPr lang="ru-RU" sz="2800" dirty="0"/>
              <a:t>по горизонтали/ радиус по </a:t>
            </a:r>
            <a:r>
              <a:rPr lang="ru-RU" sz="2800" dirty="0" smtClean="0"/>
              <a:t>вертикали</a:t>
            </a:r>
            <a:r>
              <a:rPr lang="ru-RU" sz="3200" dirty="0" smtClean="0"/>
              <a:t>).</a:t>
            </a:r>
            <a:endParaRPr lang="ru-RU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977830"/>
              </p:ext>
            </p:extLst>
          </p:nvPr>
        </p:nvGraphicFramePr>
        <p:xfrm>
          <a:off x="194553" y="3377732"/>
          <a:ext cx="11789923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728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Число</a:t>
                      </a:r>
                    </a:p>
                    <a:p>
                      <a:pPr algn="ctr"/>
                      <a:r>
                        <a:rPr lang="ru-RU" sz="1800" dirty="0" smtClean="0"/>
                        <a:t>значений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Результат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1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Радиус указывается для всех четырех углов.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2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Первое значение задаёт радиус верхнего левого и нижнего правого угла, второе значение – верхнего правого и нижнего левого угла.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3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Первое значение устанавливает радиус для верхнего левого угла, второе – для верхнего правого и нижнего левого, а третье – для нижнего правого угла.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4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Устанавливает радиус для верхнего левого, верхнего правого, нижнего правого и нижнего левого угла.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20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420238" y="2461103"/>
            <a:ext cx="714010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BC3EC6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#f0f0f0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dirty="0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 solid black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dirty="0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</a:t>
            </a:r>
            <a:r>
              <a:rPr lang="ru-RU" sz="2800" dirty="0" err="1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padding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15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dirty="0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margin-bottom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10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r>
              <a:rPr lang="en-US" sz="2800" dirty="0" smtClean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2800" dirty="0" smtClean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35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51192"/>
            <a:ext cx="11770468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6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p.one</a:t>
            </a:r>
            <a:r>
              <a:rPr lang="en-US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{</a:t>
            </a:r>
            <a:endParaRPr lang="ru-RU" sz="2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6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border-radius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50px 0 0 50px</a:t>
            </a:r>
            <a:r>
              <a:rPr lang="ru-RU" sz="26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r>
              <a:rPr lang="en-US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26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6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p.two</a:t>
            </a:r>
            <a:r>
              <a:rPr lang="en-US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{</a:t>
            </a:r>
            <a:endParaRPr lang="ru-RU" sz="2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6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border-radius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r>
              <a:rPr lang="en-US" sz="2600" dirty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40px 10px</a:t>
            </a:r>
            <a:r>
              <a:rPr lang="ru-RU" sz="2600" dirty="0" smtClean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r>
              <a:rPr lang="en-US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2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endParaRPr lang="ru-RU" sz="26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6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p.three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  <a:endParaRPr lang="ru-RU" sz="2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border-radius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26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13em/3em</a:t>
            </a:r>
            <a:r>
              <a:rPr lang="ru-RU" sz="26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r>
              <a:rPr lang="ru-RU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</a:p>
          <a:p>
            <a:pPr>
              <a:spcAft>
                <a:spcPts val="0"/>
              </a:spcAft>
            </a:pPr>
            <a:r>
              <a:rPr lang="en-US" sz="26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</a:t>
            </a:r>
            <a:r>
              <a:rPr lang="en-US" sz="2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.</a:t>
            </a:r>
            <a:r>
              <a:rPr lang="en-US" sz="2600" dirty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600" dirty="0" smtClean="0">
                <a:solidFill>
                  <a:srgbClr val="8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four</a:t>
            </a:r>
            <a:r>
              <a:rPr lang="en-US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  <a:endParaRPr lang="ru-RU" sz="2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border-radius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endParaRPr lang="ru-RU" sz="2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6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    </a:t>
            </a:r>
            <a:r>
              <a:rPr lang="en-US" sz="26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13em 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0.5em/1em 0.5em</a:t>
            </a:r>
            <a:r>
              <a:rPr lang="en-US" sz="26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r>
              <a:rPr lang="ru-RU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26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p.</a:t>
            </a:r>
            <a:r>
              <a:rPr lang="en-US" sz="2600" dirty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600" dirty="0" smtClean="0">
                <a:solidFill>
                  <a:srgbClr val="8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five</a:t>
            </a:r>
            <a:r>
              <a:rPr lang="en-US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  <a:endParaRPr lang="ru-RU" sz="2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border-radius</a:t>
            </a:r>
            <a:r>
              <a:rPr lang="ru-R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endParaRPr lang="ru-RU" sz="26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6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  </a:t>
            </a:r>
            <a:r>
              <a:rPr lang="en-US" sz="26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13em 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0.5em/1em 0.5em</a:t>
            </a:r>
            <a:r>
              <a:rPr lang="en-US" sz="26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r>
              <a:rPr lang="ru-RU" sz="2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26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  <p:pic>
        <p:nvPicPr>
          <p:cNvPr id="8" name="Рисунок 7" descr="Радиусы скругления в браузере Safari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3" t="17588" r="2683" b="3518"/>
          <a:stretch/>
        </p:blipFill>
        <p:spPr bwMode="auto">
          <a:xfrm>
            <a:off x="5544766" y="-1"/>
            <a:ext cx="6647234" cy="53449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9816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02068" y="197423"/>
            <a:ext cx="52695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ru-RU" sz="3600" b="1" dirty="0">
                <a:solidFill>
                  <a:srgbClr val="685C53"/>
                </a:solidFill>
                <a:latin typeface="Arial"/>
                <a:ea typeface="Times New Roman"/>
                <a:cs typeface="Times New Roman"/>
              </a:rPr>
              <a:t>Круглые изображения</a:t>
            </a:r>
            <a:endParaRPr lang="ru-RU" sz="3600" dirty="0">
              <a:ea typeface="Times New Roman"/>
              <a:cs typeface="Times New Roman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2620" y="1171269"/>
            <a:ext cx="11232205" cy="2505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.round {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border-radius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100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Радиус </a:t>
            </a:r>
            <a:r>
              <a:rPr lang="ru-RU" sz="2800" dirty="0" err="1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скругления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border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3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 solid green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Параметры рамки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ru-RU" sz="2800" dirty="0" err="1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box-shadow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7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 </a:t>
            </a:r>
            <a:r>
              <a:rPr lang="ru-RU" sz="2800" dirty="0">
                <a:solidFill>
                  <a:srgbClr val="BC3EC6"/>
                </a:solidFill>
                <a:latin typeface="Courier New"/>
                <a:ea typeface="Times New Roman"/>
                <a:cs typeface="Times New Roman"/>
              </a:rPr>
              <a:t>#666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Параметры тени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}</a:t>
            </a:r>
            <a:endParaRPr lang="ru-RU" sz="2800" dirty="0">
              <a:ea typeface="Times New Roman"/>
              <a:cs typeface="Times New Roman"/>
            </a:endParaRPr>
          </a:p>
        </p:txBody>
      </p:sp>
      <p:pic>
        <p:nvPicPr>
          <p:cNvPr id="6" name="Рисунок 5" descr="Круглые изображения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96" y="3800800"/>
            <a:ext cx="4257675" cy="2495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497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972767" y="1514106"/>
            <a:ext cx="10836612" cy="2505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.round {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border-radius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100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Радиус </a:t>
            </a:r>
            <a:r>
              <a:rPr lang="ru-RU" sz="2800" dirty="0" err="1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скругления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box-shadow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3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 green,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13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 </a:t>
            </a:r>
            <a:r>
              <a:rPr lang="en-US" sz="2800" dirty="0">
                <a:solidFill>
                  <a:srgbClr val="BC3EC6"/>
                </a:solidFill>
                <a:latin typeface="Courier New"/>
                <a:ea typeface="Times New Roman"/>
                <a:cs typeface="Times New Roman"/>
              </a:rPr>
              <a:t>#333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urier New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 smtClean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Параметры теней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}</a:t>
            </a:r>
            <a:endParaRPr lang="ru-RU" sz="2800" dirty="0"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421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 для границы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CSS3</a:t>
            </a:r>
            <a:r>
              <a:rPr lang="en-US" sz="3200" dirty="0" smtClean="0"/>
              <a:t> </a:t>
            </a:r>
            <a:r>
              <a:rPr lang="ru-RU" sz="3200" dirty="0" smtClean="0"/>
              <a:t>позволяет строить границу, используя указанное изображения (</a:t>
            </a:r>
            <a:r>
              <a:rPr lang="ru-RU" sz="3200" b="1" dirty="0" smtClean="0"/>
              <a:t>проверяйте поддержку! </a:t>
            </a:r>
            <a:r>
              <a:rPr lang="en-US" sz="3200" b="1" dirty="0" smtClean="0"/>
              <a:t>IE11</a:t>
            </a:r>
            <a:r>
              <a:rPr lang="en-US" sz="3200" dirty="0" smtClean="0"/>
              <a:t>)</a:t>
            </a:r>
            <a:r>
              <a:rPr lang="ru-RU" sz="3200" dirty="0" smtClean="0"/>
              <a:t>.</a:t>
            </a:r>
          </a:p>
          <a:p>
            <a:r>
              <a:rPr lang="ru-RU" sz="3200" dirty="0" smtClean="0"/>
              <a:t>Реализуется при помощи свойств: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3200" dirty="0" smtClean="0"/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border-image-source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3200" dirty="0" smtClean="0"/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border-image-slice</a:t>
            </a:r>
            <a:endParaRPr lang="ru-RU" sz="28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3200" dirty="0" smtClean="0"/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border-image-width</a:t>
            </a:r>
            <a:endParaRPr lang="ru-RU" sz="28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3200" dirty="0" smtClean="0"/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border-image-outset</a:t>
            </a:r>
            <a:endParaRPr lang="ru-RU" sz="28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3200" dirty="0" smtClean="0"/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border-image-repeat</a:t>
            </a:r>
            <a:endParaRPr lang="ru-RU" sz="28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32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border-image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(сокращённая форма задания)</a:t>
            </a:r>
            <a:endParaRPr lang="ru-RU" sz="28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82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border-image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58079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none </a:t>
            </a:r>
            <a:r>
              <a:rPr lang="en-US" sz="3600" dirty="0"/>
              <a:t>| [ &lt;URL&gt; [&lt;</a:t>
            </a:r>
            <a:r>
              <a:rPr lang="ru-RU" sz="3600" dirty="0"/>
              <a:t>число&gt; | &lt;проценты&gt;]{1,4} [/ &lt;толщина&gt;{1,4}]? ] &amp;&amp; [</a:t>
            </a:r>
            <a:r>
              <a:rPr lang="en-US" sz="3600" dirty="0"/>
              <a:t>stretch | repeat | round]{0,2}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63827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border-image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5"/>
            <a:ext cx="10614822" cy="2278794"/>
          </a:xfrm>
        </p:spPr>
        <p:txBody>
          <a:bodyPr>
            <a:normAutofit/>
          </a:bodyPr>
          <a:lstStyle/>
          <a:p>
            <a:r>
              <a:rPr lang="en-US" sz="3600" dirty="0"/>
              <a:t>n</a:t>
            </a:r>
            <a:r>
              <a:rPr lang="en-US" sz="3600" dirty="0" smtClean="0"/>
              <a:t>one- </a:t>
            </a:r>
            <a:r>
              <a:rPr lang="ru-RU" sz="3600" dirty="0"/>
              <a:t>Не отображает рисованную рамку, используется установленный стиль границы</a:t>
            </a:r>
            <a:endParaRPr lang="en-US" sz="3600" dirty="0" smtClean="0"/>
          </a:p>
          <a:p>
            <a:r>
              <a:rPr lang="en-US" sz="3600" b="1" dirty="0" smtClean="0">
                <a:solidFill>
                  <a:srgbClr val="FF0000"/>
                </a:solidFill>
              </a:rPr>
              <a:t>URL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smtClean="0"/>
              <a:t>- </a:t>
            </a:r>
            <a:r>
              <a:rPr lang="ru-RU" sz="3600" dirty="0"/>
              <a:t>Путь к графическому файлу. Обязательный параметр. </a:t>
            </a:r>
            <a:endParaRPr lang="en-US" sz="3600" dirty="0" smtClean="0"/>
          </a:p>
        </p:txBody>
      </p:sp>
      <p:pic>
        <p:nvPicPr>
          <p:cNvPr id="1028" name="Picture 4" descr="Деление исходного изображения на област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90" y="4043726"/>
            <a:ext cx="2666708" cy="270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92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0" y="1"/>
            <a:ext cx="11887200" cy="1556426"/>
          </a:xfrm>
        </p:spPr>
        <p:txBody>
          <a:bodyPr>
            <a:normAutofit fontScale="92500"/>
          </a:bodyPr>
          <a:lstStyle/>
          <a:p>
            <a:r>
              <a:rPr lang="ru-RU" sz="3200" b="1" dirty="0" smtClean="0">
                <a:solidFill>
                  <a:srgbClr val="FF0000"/>
                </a:solidFill>
              </a:rPr>
              <a:t>число</a:t>
            </a:r>
            <a:r>
              <a:rPr lang="ru-RU" sz="3200" dirty="0" smtClean="0">
                <a:solidFill>
                  <a:schemeClr val="tx1"/>
                </a:solidFill>
              </a:rPr>
              <a:t> ‒ значения, разделенные пробелами, </a:t>
            </a:r>
            <a:r>
              <a:rPr lang="ru-RU" sz="3200" dirty="0">
                <a:solidFill>
                  <a:schemeClr val="tx1"/>
                </a:solidFill>
              </a:rPr>
              <a:t>которые указывают размеры частей изображения в пикселах, задавая тем самым области деления. Сами единицы не пишутся, только число (10, а не 10px</a:t>
            </a:r>
            <a:r>
              <a:rPr lang="ru-RU" sz="3200" dirty="0" smtClean="0">
                <a:solidFill>
                  <a:schemeClr val="tx1"/>
                </a:solidFill>
              </a:rPr>
              <a:t>).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813429"/>
              </p:ext>
            </p:extLst>
          </p:nvPr>
        </p:nvGraphicFramePr>
        <p:xfrm>
          <a:off x="661480" y="1593342"/>
          <a:ext cx="11206264" cy="4963615"/>
        </p:xfrm>
        <a:graphic>
          <a:graphicData uri="http://schemas.openxmlformats.org/drawingml/2006/table">
            <a:tbl>
              <a:tblPr/>
              <a:tblGrid>
                <a:gridCol w="1498063"/>
                <a:gridCol w="9708201"/>
              </a:tblGrid>
              <a:tr h="226502">
                <a:tc>
                  <a:txBody>
                    <a:bodyPr/>
                    <a:lstStyle/>
                    <a:p>
                      <a:r>
                        <a:rPr lang="ru-RU" sz="2800" dirty="0">
                          <a:effectLst/>
                        </a:rPr>
                        <a:t>Число значений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effectLst/>
                        </a:rPr>
                        <a:t>Результат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758290">
                <a:tc>
                  <a:txBody>
                    <a:bodyPr/>
                    <a:lstStyle/>
                    <a:p>
                      <a:r>
                        <a:rPr lang="ru-RU" sz="2800" dirty="0">
                          <a:effectLst/>
                        </a:rPr>
                        <a:t>1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effectLst/>
                        </a:rPr>
                        <a:t>Устанавливает границы одинаковой толщины на каждой стороне рисунка.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5553"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2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Первое значение устанавливает высоту верхней и нижней границы, второе — левой и правой.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90077"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3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Первое значение определяет высоту верхней границы, второе — левой и правой, а третье — высоту нижней границы.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5553">
                <a:tc>
                  <a:txBody>
                    <a:bodyPr/>
                    <a:lstStyle/>
                    <a:p>
                      <a:r>
                        <a:rPr lang="ru-RU" sz="2800" dirty="0">
                          <a:effectLst/>
                        </a:rPr>
                        <a:t>4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effectLst/>
                        </a:rPr>
                        <a:t>Поочередно устанавливается размеры верхней, правой, нижней и левой границы.</a:t>
                      </a:r>
                    </a:p>
                  </a:txBody>
                  <a:tcPr marL="23888" marR="23888" marT="23888" marB="23888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53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110248" y="0"/>
            <a:ext cx="11965021" cy="6498077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п</a:t>
            </a:r>
            <a:r>
              <a:rPr lang="ru-RU" sz="3600" dirty="0" smtClean="0">
                <a:solidFill>
                  <a:srgbClr val="FF0000"/>
                </a:solidFill>
              </a:rPr>
              <a:t>роценты</a:t>
            </a:r>
            <a:r>
              <a:rPr lang="ru-RU" sz="3600" dirty="0" smtClean="0"/>
              <a:t> ‒ как </a:t>
            </a:r>
            <a:r>
              <a:rPr lang="ru-RU" sz="3600" dirty="0"/>
              <a:t>&lt;</a:t>
            </a:r>
            <a:r>
              <a:rPr lang="ru-RU" sz="3600" dirty="0" smtClean="0"/>
              <a:t>число&gt;, </a:t>
            </a:r>
            <a:r>
              <a:rPr lang="ru-RU" sz="3600" dirty="0"/>
              <a:t>но значения задаются в процентах. Тот или другой параметр обязателен.</a:t>
            </a:r>
            <a:endParaRPr lang="ru-RU" sz="3600" dirty="0" smtClean="0"/>
          </a:p>
          <a:p>
            <a:r>
              <a:rPr lang="ru-RU" sz="3600" dirty="0" smtClean="0">
                <a:solidFill>
                  <a:srgbClr val="FF0000"/>
                </a:solidFill>
              </a:rPr>
              <a:t>толщина</a:t>
            </a:r>
            <a:r>
              <a:rPr lang="ru-RU" sz="3600" dirty="0" smtClean="0"/>
              <a:t> ‒ через </a:t>
            </a:r>
            <a:r>
              <a:rPr lang="ru-RU" sz="3600" dirty="0" err="1"/>
              <a:t>слэш</a:t>
            </a:r>
            <a:r>
              <a:rPr lang="ru-RU" sz="3600" dirty="0"/>
              <a:t> пишется одно, два, три или четыре значения толщины границы на каждой стороне элемента. Является аналогом </a:t>
            </a:r>
            <a:r>
              <a:rPr lang="ru-RU" sz="3600" dirty="0" err="1">
                <a:hlinkClick r:id="rId2"/>
              </a:rPr>
              <a:t>border-width</a:t>
            </a:r>
            <a:r>
              <a:rPr lang="ru-RU" sz="3600" dirty="0"/>
              <a:t> и использует тот же синтаксис.</a:t>
            </a:r>
            <a:endParaRPr lang="ru-RU" sz="3600" dirty="0" smtClean="0"/>
          </a:p>
          <a:p>
            <a:r>
              <a:rPr lang="en-US" sz="3600" dirty="0" smtClean="0">
                <a:solidFill>
                  <a:srgbClr val="FF0000"/>
                </a:solidFill>
              </a:rPr>
              <a:t>stretch</a:t>
            </a:r>
            <a:r>
              <a:rPr lang="ru-RU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 smtClean="0"/>
              <a:t>‒ </a:t>
            </a:r>
            <a:r>
              <a:rPr lang="ru-RU" sz="3600" dirty="0"/>
              <a:t>Растягивает рисунок границы до размеров элемента. </a:t>
            </a:r>
            <a:r>
              <a:rPr lang="ru-RU" sz="3600" dirty="0" smtClean="0"/>
              <a:t>(по умолчанию)</a:t>
            </a:r>
            <a:endParaRPr lang="en-US" sz="3600" dirty="0" smtClean="0"/>
          </a:p>
          <a:p>
            <a:r>
              <a:rPr lang="en-US" sz="3600" dirty="0" smtClean="0">
                <a:solidFill>
                  <a:srgbClr val="FF0000"/>
                </a:solidFill>
              </a:rPr>
              <a:t>repeat</a:t>
            </a:r>
            <a:r>
              <a:rPr lang="en-US" sz="3600" dirty="0" smtClean="0"/>
              <a:t> </a:t>
            </a:r>
            <a:r>
              <a:rPr lang="ru-RU" sz="3600" dirty="0" smtClean="0"/>
              <a:t>‒ </a:t>
            </a:r>
            <a:r>
              <a:rPr lang="ru-RU" sz="3600" dirty="0"/>
              <a:t>Повторяет рисунок границы.</a:t>
            </a:r>
            <a:endParaRPr lang="en-US" sz="3600" dirty="0" smtClean="0"/>
          </a:p>
          <a:p>
            <a:r>
              <a:rPr lang="en-US" sz="3600" dirty="0">
                <a:solidFill>
                  <a:srgbClr val="FF0000"/>
                </a:solidFill>
              </a:rPr>
              <a:t>r</a:t>
            </a:r>
            <a:r>
              <a:rPr lang="en-US" sz="3600" dirty="0" smtClean="0">
                <a:solidFill>
                  <a:srgbClr val="FF0000"/>
                </a:solidFill>
              </a:rPr>
              <a:t>ound</a:t>
            </a:r>
            <a:r>
              <a:rPr lang="ru-RU" sz="3600" dirty="0" smtClean="0">
                <a:solidFill>
                  <a:srgbClr val="FF0000"/>
                </a:solidFill>
              </a:rPr>
              <a:t> </a:t>
            </a:r>
            <a:r>
              <a:rPr lang="ru-RU" sz="3600" dirty="0" smtClean="0"/>
              <a:t>‒ </a:t>
            </a:r>
            <a:r>
              <a:rPr lang="ru-RU" sz="3600" dirty="0"/>
              <a:t>Повторяет рисунок и масштабирует его так, чтобы на стороне элемента оказалось целое число изображений.</a:t>
            </a:r>
          </a:p>
        </p:txBody>
      </p:sp>
    </p:spTree>
    <p:extLst>
      <p:ext uri="{BB962C8B-B14F-4D97-AF65-F5344CB8AC3E}">
        <p14:creationId xmlns:p14="http://schemas.microsoft.com/office/powerpoint/2010/main" val="109305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50138" y="4769020"/>
            <a:ext cx="14686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i="1" dirty="0" err="1" smtClean="0"/>
              <a:t>stretch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104380" y="4769020"/>
            <a:ext cx="14141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i="1" dirty="0" err="1"/>
              <a:t>repeat</a:t>
            </a:r>
            <a:endParaRPr lang="ru-RU" sz="3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9231051" y="4769020"/>
            <a:ext cx="12923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i="1" dirty="0" err="1"/>
              <a:t>round</a:t>
            </a:r>
            <a:endParaRPr lang="ru-RU" sz="3600" dirty="0"/>
          </a:p>
        </p:txBody>
      </p:sp>
      <p:pic>
        <p:nvPicPr>
          <p:cNvPr id="10" name="Рисунок 9"/>
          <p:cNvPicPr/>
          <p:nvPr/>
        </p:nvPicPr>
        <p:blipFill rotWithShape="1">
          <a:blip r:embed="rId2"/>
          <a:srcRect l="7585" t="62131" r="6346" b="14391"/>
          <a:stretch/>
        </p:blipFill>
        <p:spPr bwMode="auto">
          <a:xfrm>
            <a:off x="486383" y="428017"/>
            <a:ext cx="11361906" cy="41439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4301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23111"/>
            <a:ext cx="11845636" cy="3893325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5660" tIns="45720" rIns="9144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0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div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{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000" dirty="0" smtClean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B61039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border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D6562B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30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px solid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BC3EC6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#40c4c8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000" dirty="0" smtClean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B61039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padding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D6562B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20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px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3000" dirty="0" smtClean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-</a:t>
            </a:r>
            <a:r>
              <a:rPr kumimoji="0" lang="en-US" altLang="ru-RU" sz="3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moz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-border-image: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1" i="0" u="none" strike="noStrike" cap="none" normalizeH="0" baseline="0" dirty="0" err="1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url</a:t>
            </a:r>
            <a:r>
              <a:rPr kumimoji="0" lang="en-US" altLang="ru-RU" sz="3000" b="1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(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images/bg-image.png</a:t>
            </a:r>
            <a:r>
              <a:rPr kumimoji="0" lang="en-US" altLang="ru-RU" sz="3000" b="1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)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D6562B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30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round </a:t>
            </a:r>
            <a:r>
              <a:rPr kumimoji="0" lang="en-US" altLang="ru-RU" sz="3000" b="0" i="0" u="none" strike="noStrike" cap="none" normalizeH="0" baseline="0" dirty="0" err="1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round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   -</a:t>
            </a:r>
            <a:r>
              <a:rPr kumimoji="0" lang="en-US" altLang="ru-RU" sz="3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webkit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-border-image: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1" i="0" u="none" strike="noStrike" cap="none" normalizeH="0" baseline="0" dirty="0" err="1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url</a:t>
            </a:r>
            <a:r>
              <a:rPr kumimoji="0" lang="en-US" altLang="ru-RU" sz="3000" b="1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(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images/bg-image.png</a:t>
            </a:r>
            <a:r>
              <a:rPr kumimoji="0" lang="en-US" altLang="ru-RU" sz="3000" b="1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)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D6562B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30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round </a:t>
            </a:r>
            <a:r>
              <a:rPr kumimoji="0" lang="en-US" altLang="ru-RU" sz="3000" b="0" i="0" u="none" strike="noStrike" cap="none" normalizeH="0" baseline="0" dirty="0" err="1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round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-o-border-image: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1" i="0" u="none" strike="noStrike" cap="none" normalizeH="0" baseline="0" dirty="0" err="1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url</a:t>
            </a:r>
            <a:r>
              <a:rPr kumimoji="0" lang="en-US" altLang="ru-RU" sz="3000" b="1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(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images/bg-image.png</a:t>
            </a:r>
            <a:r>
              <a:rPr kumimoji="0" lang="en-US" altLang="ru-RU" sz="3000" b="1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)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D6562B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30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round </a:t>
            </a:r>
            <a:r>
              <a:rPr kumimoji="0" lang="en-US" altLang="ru-RU" sz="3000" b="0" i="0" u="none" strike="noStrike" cap="none" normalizeH="0" baseline="0" dirty="0" err="1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round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border-image: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1" i="0" u="none" strike="noStrike" cap="none" normalizeH="0" baseline="0" dirty="0" err="1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url</a:t>
            </a:r>
            <a:r>
              <a:rPr kumimoji="0" lang="en-US" altLang="ru-RU" sz="3000" b="1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(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images/bg-image.png</a:t>
            </a:r>
            <a:r>
              <a:rPr kumimoji="0" lang="en-US" altLang="ru-RU" sz="3000" b="1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)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D6562B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30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round </a:t>
            </a:r>
            <a:r>
              <a:rPr kumimoji="0" lang="en-US" altLang="ru-RU" sz="3000" b="0" i="0" u="none" strike="noStrike" cap="none" normalizeH="0" baseline="0" dirty="0" err="1" smtClean="0">
                <a:ln>
                  <a:noFill/>
                </a:ln>
                <a:solidFill>
                  <a:srgbClr val="39892F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round</a:t>
            </a:r>
            <a:r>
              <a:rPr kumimoji="0" lang="en-US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;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}</a:t>
            </a:r>
            <a:r>
              <a:rPr kumimoji="0" lang="ru-RU" altLang="ru-RU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71306" y="4679321"/>
            <a:ext cx="107030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ru-RU" sz="2800" dirty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-</a:t>
            </a:r>
            <a:r>
              <a:rPr lang="en-US" altLang="ru-RU" sz="2800" dirty="0" err="1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moz</a:t>
            </a:r>
            <a:r>
              <a:rPr lang="en-US" altLang="ru-RU" sz="2800" dirty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-border-image</a:t>
            </a:r>
            <a:r>
              <a:rPr lang="en-US" altLang="ru-RU" sz="2800" dirty="0" smtClean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lang="en-US" sz="2800" dirty="0"/>
              <a:t>Firefox </a:t>
            </a:r>
            <a:r>
              <a:rPr lang="ru-RU" sz="2800" dirty="0"/>
              <a:t>до версии </a:t>
            </a:r>
            <a:r>
              <a:rPr lang="ru-RU" sz="2800" dirty="0" smtClean="0"/>
              <a:t>15.0</a:t>
            </a:r>
            <a:endParaRPr lang="en-US" sz="2800" dirty="0" smtClean="0"/>
          </a:p>
          <a:p>
            <a:r>
              <a:rPr lang="en-US" altLang="ru-RU" sz="2800" dirty="0" smtClean="0">
                <a:solidFill>
                  <a:srgbClr val="39892F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altLang="ru-RU" sz="2800" dirty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-</a:t>
            </a:r>
            <a:r>
              <a:rPr lang="en-US" altLang="ru-RU" sz="2800" dirty="0" err="1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webkit</a:t>
            </a:r>
            <a:r>
              <a:rPr lang="en-US" altLang="ru-RU" sz="2800" dirty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-border-image</a:t>
            </a:r>
            <a:r>
              <a:rPr lang="en-US" altLang="ru-RU" sz="2800" dirty="0" smtClean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 </a:t>
            </a:r>
            <a:r>
              <a:rPr lang="en-US" sz="2800" dirty="0"/>
              <a:t>Safari, Chrome </a:t>
            </a:r>
            <a:r>
              <a:rPr lang="ru-RU" sz="2800" dirty="0"/>
              <a:t>до версии 15.0, </a:t>
            </a:r>
            <a:r>
              <a:rPr lang="en-US" sz="2800" dirty="0"/>
              <a:t>Android </a:t>
            </a:r>
            <a:r>
              <a:rPr lang="ru-RU" sz="2800" dirty="0"/>
              <a:t>и </a:t>
            </a:r>
            <a:r>
              <a:rPr lang="en-US" sz="2800" dirty="0"/>
              <a:t>iOS</a:t>
            </a:r>
            <a:endParaRPr lang="en-US" altLang="ru-RU" sz="2800" dirty="0" smtClean="0">
              <a:solidFill>
                <a:srgbClr val="000000"/>
              </a:solidFill>
              <a:latin typeface="Arial Unicode MS" pitchFamily="34" charset="-128"/>
              <a:ea typeface="Times New Roman" pitchFamily="18" charset="0"/>
              <a:cs typeface="Courier New" pitchFamily="49" charset="0"/>
            </a:endParaRPr>
          </a:p>
          <a:p>
            <a:r>
              <a:rPr lang="en-US" altLang="ru-RU" sz="2800" dirty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-o-border-image</a:t>
            </a:r>
            <a:r>
              <a:rPr lang="en-US" altLang="ru-RU" sz="2800" dirty="0" smtClean="0">
                <a:solidFill>
                  <a:srgbClr val="000000"/>
                </a:solidFill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:</a:t>
            </a:r>
            <a:r>
              <a:rPr lang="en-US" sz="2800" dirty="0"/>
              <a:t> Opera </a:t>
            </a:r>
            <a:r>
              <a:rPr lang="ru-RU" sz="2800" dirty="0"/>
              <a:t>до версии 15.0</a:t>
            </a:r>
          </a:p>
        </p:txBody>
      </p:sp>
    </p:spTree>
    <p:extLst>
      <p:ext uri="{BB962C8B-B14F-4D97-AF65-F5344CB8AC3E}">
        <p14:creationId xmlns:p14="http://schemas.microsoft.com/office/powerpoint/2010/main" val="344733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 rotWithShape="1">
          <a:blip r:embed="rId3"/>
          <a:srcRect l="13977" t="29280" r="12734" b="47447"/>
          <a:stretch/>
        </p:blipFill>
        <p:spPr bwMode="auto">
          <a:xfrm>
            <a:off x="2237362" y="2976665"/>
            <a:ext cx="6789906" cy="33657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13578" y="234539"/>
            <a:ext cx="10437473" cy="2200602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div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{    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border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: 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30px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solid 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#40c4c8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    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padding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: 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20px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    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border-image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: 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url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(/example/image/bg-image.png) 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30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round </a:t>
            </a:r>
            <a:r>
              <a:rPr kumimoji="0" lang="en-US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round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  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}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45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Свойство </a:t>
            </a:r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651" y="1845733"/>
            <a:ext cx="10786029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Универсальное </a:t>
            </a:r>
            <a:r>
              <a:rPr lang="ru-RU" sz="3200" dirty="0"/>
              <a:t>свойство, </a:t>
            </a:r>
            <a:r>
              <a:rPr lang="ru-RU" sz="3200" dirty="0" smtClean="0"/>
              <a:t>задаёт толщину, </a:t>
            </a:r>
            <a:r>
              <a:rPr lang="ru-RU" sz="3200" dirty="0"/>
              <a:t>стиль и </a:t>
            </a:r>
            <a:r>
              <a:rPr lang="ru-RU" sz="3200" dirty="0" smtClean="0"/>
              <a:t>цвет </a:t>
            </a:r>
            <a:r>
              <a:rPr lang="ru-RU" sz="3200" b="1" dirty="0"/>
              <a:t>на всех четырёх</a:t>
            </a:r>
            <a:r>
              <a:rPr lang="ru-RU" sz="3200" dirty="0"/>
              <a:t> сторонах </a:t>
            </a:r>
            <a:r>
              <a:rPr lang="ru-RU" sz="3200" dirty="0" smtClean="0"/>
              <a:t>блока.</a:t>
            </a:r>
          </a:p>
          <a:p>
            <a:r>
              <a:rPr lang="ru-RU" sz="3200" dirty="0" smtClean="0"/>
              <a:t>В </a:t>
            </a:r>
            <a:r>
              <a:rPr lang="ru-RU" sz="3200" dirty="0"/>
              <a:t>отличие от линии, задаваемой через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ru-RU" sz="3200" dirty="0"/>
              <a:t>, свойство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outline</a:t>
            </a:r>
            <a:r>
              <a:rPr lang="ru-RU" sz="3200" dirty="0"/>
              <a:t> </a:t>
            </a:r>
            <a:r>
              <a:rPr lang="ru-RU" sz="3200" b="1" dirty="0"/>
              <a:t>не влияет </a:t>
            </a:r>
            <a:r>
              <a:rPr lang="ru-RU" sz="3200" b="1" dirty="0" smtClean="0"/>
              <a:t>на</a:t>
            </a:r>
            <a:r>
              <a:rPr lang="en-US" sz="3200" b="1" dirty="0" smtClean="0"/>
              <a:t> </a:t>
            </a:r>
            <a:r>
              <a:rPr lang="ru-RU" sz="3200" b="1" dirty="0" smtClean="0"/>
              <a:t>вычисленную ширину блока</a:t>
            </a:r>
            <a:r>
              <a:rPr lang="ru-RU" sz="3200" dirty="0" smtClean="0"/>
              <a:t>.</a:t>
            </a:r>
          </a:p>
          <a:p>
            <a:endParaRPr lang="ru-RU" sz="3200" dirty="0" smtClean="0"/>
          </a:p>
          <a:p>
            <a:r>
              <a:rPr lang="en-US" sz="3200" dirty="0"/>
              <a:t>outline: outline-color || outline-style || outline-width | inherit</a:t>
            </a:r>
            <a:endParaRPr lang="ru-RU" sz="3200" dirty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5766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Свойство </a:t>
            </a:r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643" y="1845733"/>
            <a:ext cx="12036357" cy="4036321"/>
          </a:xfrm>
        </p:spPr>
        <p:txBody>
          <a:bodyPr>
            <a:noAutofit/>
          </a:bodyPr>
          <a:lstStyle/>
          <a:p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*) Есть отдельные свойства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outline-width</a:t>
            </a:r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outline-style</a:t>
            </a:r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outline-color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и</a:t>
            </a:r>
            <a:r>
              <a:rPr lang="en-US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ещё свойство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outline-offset</a:t>
            </a:r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#block {</a:t>
            </a:r>
            <a:endParaRPr lang="ru-RU" sz="36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outline-style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32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dashed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en-US" sz="32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32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Пунктирная граница</a:t>
            </a:r>
            <a:r>
              <a:rPr lang="en-US" sz="32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*/</a:t>
            </a:r>
            <a:endParaRPr lang="ru-RU" sz="36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outline-color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32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BC3EC6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#be8b5e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en-US" sz="32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32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Цвет границы</a:t>
            </a:r>
            <a:r>
              <a:rPr lang="en-US" sz="32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*/</a:t>
            </a:r>
            <a:endParaRPr lang="ru-RU" sz="36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ru-RU" sz="3200" dirty="0" err="1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padding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ru-RU" sz="32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10</a:t>
            </a:r>
            <a:r>
              <a:rPr lang="ru-RU" sz="32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32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Поля вокруг текста */</a:t>
            </a:r>
            <a:endParaRPr lang="ru-RU" sz="36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ru-RU" sz="3200" dirty="0" err="1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ru-RU" sz="32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BC3EC6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#eedac8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32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Цвет фона */</a:t>
            </a:r>
            <a:endParaRPr lang="ru-RU" sz="36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}</a:t>
            </a:r>
            <a:endParaRPr lang="ru-RU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04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спользование свойства outline-color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443" y="875489"/>
            <a:ext cx="7509753" cy="4533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739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5098" y="156115"/>
            <a:ext cx="11673191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>
              <a:spcBef>
                <a:spcPts val="750"/>
              </a:spcBef>
              <a:spcAft>
                <a:spcPts val="1200"/>
              </a:spcAft>
            </a:pPr>
            <a:r>
              <a:rPr lang="ru-RU" sz="2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outline-offset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‒ Устанавливает расстояние между рамкой, созданной с помощью свойства </a:t>
            </a:r>
            <a:r>
              <a:rPr lang="ru-RU" sz="2800" u="sng" dirty="0" err="1">
                <a:solidFill>
                  <a:srgbClr val="90278E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  <a:hlinkClick r:id="rId2"/>
              </a:rPr>
              <a:t>outline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, и краем или границей элемента добавленной через </a:t>
            </a:r>
            <a:r>
              <a:rPr lang="ru-RU" sz="2800" u="sng" dirty="0" err="1">
                <a:solidFill>
                  <a:srgbClr val="90278E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  <a:hlinkClick r:id="rId3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marL="567055" indent="-182880">
              <a:spcBef>
                <a:spcPts val="900"/>
              </a:spcBef>
              <a:spcAft>
                <a:spcPts val="0"/>
              </a:spcAft>
            </a:pPr>
            <a:r>
              <a:rPr lang="ru-RU" sz="2800" b="1" dirty="0">
                <a:solidFill>
                  <a:srgbClr val="666666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Синтаксис</a:t>
            </a:r>
            <a:endParaRPr lang="ru-RU" sz="2800" b="1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marL="285750">
              <a:spcBef>
                <a:spcPts val="750"/>
              </a:spcBef>
              <a:spcAft>
                <a:spcPts val="1200"/>
              </a:spcAft>
            </a:pPr>
            <a:r>
              <a:rPr lang="ru-RU" sz="2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outline-offset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&lt;размер&gt; | </a:t>
            </a:r>
            <a:r>
              <a:rPr lang="ru-RU" sz="2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inherit</a:t>
            </a:r>
            <a:endParaRPr lang="ru-RU" sz="2800" dirty="0">
              <a:effectLst/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13362" y="3429000"/>
            <a:ext cx="106096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&lt;размер&gt; Задаёт расстояние от края элемента до рамки. Отрицательное значение отображает рамку внутри элемента, положительное — вокруг элемента.</a:t>
            </a:r>
          </a:p>
        </p:txBody>
      </p:sp>
    </p:spTree>
    <p:extLst>
      <p:ext uri="{BB962C8B-B14F-4D97-AF65-F5344CB8AC3E}">
        <p14:creationId xmlns:p14="http://schemas.microsoft.com/office/powerpoint/2010/main" val="49967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52622"/>
            <a:ext cx="11361906" cy="498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.clue {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background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url</a:t>
            </a:r>
            <a:r>
              <a:rPr lang="en-US" sz="2800" b="1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images/leather.jpg</a:t>
            </a:r>
            <a:r>
              <a:rPr lang="en-US" sz="2800" b="1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Фоновый рисунок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outline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2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 dashed </a:t>
            </a:r>
            <a:r>
              <a:rPr lang="en-US" sz="2800" b="1" dirty="0" err="1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rgba</a:t>
            </a:r>
            <a:r>
              <a:rPr lang="en-US" sz="2800" b="1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255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255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255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0.8</a:t>
            </a:r>
            <a:r>
              <a:rPr lang="en-US" sz="2800" b="1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Пунктирная рамка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ru-RU" sz="2800" dirty="0" err="1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outline-offset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-</a:t>
            </a:r>
            <a:r>
              <a:rPr lang="ru-RU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10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Выводим рамку внутри элемента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ru-RU" sz="2800" dirty="0" err="1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padding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10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Поля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ru-RU" sz="2800" dirty="0" err="1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min-height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100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Минимальная высота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}</a:t>
            </a:r>
            <a:endParaRPr lang="ru-RU" sz="2800" dirty="0"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887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спользование свойства outline-offset 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40" y="175101"/>
            <a:ext cx="8638162" cy="6089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398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outline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28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outline-offset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-10px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405" y="1845733"/>
            <a:ext cx="4105275" cy="4248150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14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outline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1845733"/>
            <a:ext cx="4457700" cy="4248150"/>
          </a:xfrm>
          <a:prstGeom prst="rect">
            <a:avLst/>
          </a:prstGeom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98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36187" y="469854"/>
            <a:ext cx="11627796" cy="418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.</a:t>
            </a:r>
            <a:r>
              <a:rPr lang="ru-RU" sz="28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photo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ru-RU" sz="2800" b="1" dirty="0" err="1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img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{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ru-RU" sz="2800" dirty="0" err="1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padding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20</a:t>
            </a:r>
            <a:r>
              <a:rPr lang="ru-RU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Поля вокруг изображения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margin-right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10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Отступ справа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margin-bottom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10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Отступ снизу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outline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px solid </a:t>
            </a:r>
            <a:r>
              <a:rPr lang="en-US" sz="2800" dirty="0">
                <a:solidFill>
                  <a:srgbClr val="BC3EC6"/>
                </a:solidFill>
                <a:latin typeface="Courier New"/>
                <a:ea typeface="Times New Roman"/>
                <a:cs typeface="Times New Roman"/>
              </a:rPr>
              <a:t>#666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Параметры рамки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background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BC3EC6"/>
                </a:solidFill>
                <a:latin typeface="Courier New"/>
                <a:ea typeface="Times New Roman"/>
                <a:cs typeface="Times New Roman"/>
              </a:rPr>
              <a:t>#f0f0f0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Цвет фона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float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left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Обтекание по правому краю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}</a:t>
            </a:r>
            <a:endParaRPr lang="ru-RU" sz="2800" dirty="0"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79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спользование свойства outlin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299" y="135580"/>
            <a:ext cx="6818684" cy="61290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424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778" y="681925"/>
            <a:ext cx="10058400" cy="43550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Фон блока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87" y="1675252"/>
            <a:ext cx="12055813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3200" dirty="0" smtClean="0"/>
              <a:t>Цвет фона задаётся свойством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(по умолчанию </a:t>
            </a:r>
            <a:r>
              <a:rPr lang="en-US" sz="2800" b="1" i="1" dirty="0">
                <a:solidFill>
                  <a:schemeClr val="tx1"/>
                </a:solidFill>
              </a:rPr>
              <a:t>transparent</a:t>
            </a:r>
            <a:r>
              <a:rPr lang="en-US" sz="2800" i="1" dirty="0">
                <a:solidFill>
                  <a:schemeClr val="tx1"/>
                </a:solidFill>
              </a:rPr>
              <a:t> </a:t>
            </a:r>
            <a:r>
              <a:rPr lang="ru-RU" sz="2800" i="1" dirty="0" smtClean="0">
                <a:solidFill>
                  <a:schemeClr val="tx1"/>
                </a:solidFill>
              </a:rPr>
              <a:t> - прозрачный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ru-RU" sz="3200" dirty="0" smtClean="0">
                <a:solidFill>
                  <a:schemeClr val="tx1"/>
                </a:solidFill>
              </a:rPr>
              <a:t>,</a:t>
            </a:r>
            <a:r>
              <a:rPr lang="ru-RU" sz="3200" dirty="0" smtClean="0"/>
              <a:t> а фоновая картинка – свойством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background-image</a:t>
            </a:r>
            <a:r>
              <a:rPr lang="ru-RU" sz="3200" dirty="0" smtClean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3200" dirty="0" smtClean="0"/>
              <a:t>Для настройки отображения картинки служат свойства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background-repeat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background-size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background-position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background-clip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background-origin</a:t>
            </a:r>
            <a:r>
              <a:rPr lang="ru-RU" sz="3200" dirty="0" smtClean="0"/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3200" dirty="0" smtClean="0"/>
              <a:t>Свойство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ru-RU" sz="3200" dirty="0" smtClean="0"/>
              <a:t> – сокращённая форма для задания параметров фона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dirty="0" smtClean="0"/>
              <a:t>(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-attachment</a:t>
            </a:r>
            <a:r>
              <a:rPr lang="en-US" sz="3200" dirty="0" smtClean="0"/>
              <a:t>||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image</a:t>
            </a:r>
            <a:r>
              <a:rPr lang="en-US" sz="3200" dirty="0" smtClean="0"/>
              <a:t>||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position</a:t>
            </a:r>
            <a:r>
              <a:rPr lang="en-US" sz="3200" dirty="0" smtClean="0"/>
              <a:t>||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repeat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||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3200" dirty="0" smtClean="0"/>
              <a:t>).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54694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Фон блока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endParaRPr lang="ru-RU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097280" y="1845733"/>
          <a:ext cx="10058400" cy="4419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487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096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000" kern="1200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background-attachment</a:t>
                      </a:r>
                      <a:endParaRPr lang="en-US" sz="2000" kern="12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Устанавливает, будет ли прокручиваться фоновое изображение вместе с содержимым элемента.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background-repeat</a:t>
                      </a:r>
                      <a:endParaRPr lang="en-US" sz="2000" kern="12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Определяет, как будет повторяться фоновое изображение. Можно установить повторение рисунка только по горизонтали, по вертикали или в обе стороны. 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background-size</a:t>
                      </a:r>
                      <a:endParaRPr lang="en-US" sz="2000" kern="12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Масштабирует фоновое изображение согласно заданным размерам.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background-position</a:t>
                      </a:r>
                      <a:endParaRPr lang="en-US" sz="2000" kern="12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Задаёт начальное положение фонового изображения.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background-clip</a:t>
                      </a:r>
                      <a:endParaRPr lang="en-US" sz="2000" kern="12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Определяет, как цвет фона или фоновая картинка должна выводиться под границами блока. Эффект заметен при прозрачных или пунктирных границах блока.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background-origin</a:t>
                      </a:r>
                      <a:endParaRPr lang="en-US" sz="2000" kern="12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Определяет область позиционирования фонового рисунка (относительно границы, относительно края элемента с учетом толщины границы,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…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30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Фон блока – пример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p.three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background-image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url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(HTML5_Logo.png)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1844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Фон блока – пример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endParaRPr lang="ru-RU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505" y="1845733"/>
            <a:ext cx="493395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5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background-attachment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8562" y="1845734"/>
            <a:ext cx="11595370" cy="402336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fixed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Делает фоновое изображение элемента неподвижным.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scroll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Позволяет перемещаться фону вместе с содержимым.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inherit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Наследует значение родителя.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local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 фиксируется с учётом поведения элемента. Если элемент имеет прокрутку, то фон будет прокручиваться вместе с содержимым, но фон выходящий за рамки элемента остаётся на месте.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14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" y="19744"/>
            <a:ext cx="12192000" cy="642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CSS2.1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background-image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url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images/help.png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 smtClean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Путь к фоновому изображению */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background-attachment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fixed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 smtClean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Фиксируем фон веб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-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страницы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*/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CSS3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background-image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url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images/pattern-left.png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, </a:t>
            </a:r>
            <a:endParaRPr lang="ru-RU" sz="2800" dirty="0" smtClean="0">
              <a:solidFill>
                <a:srgbClr val="39892F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                          </a:t>
            </a:r>
            <a:r>
              <a:rPr lang="en-US" sz="2800" b="1" dirty="0" err="1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url</a:t>
            </a:r>
            <a:r>
              <a:rPr lang="en-US" sz="2800" b="1" dirty="0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</a:t>
            </a:r>
            <a:r>
              <a:rPr lang="en-US" sz="2800" dirty="0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images/pattern-right.png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background-repeat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repeat-y, repeat-y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background-position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left, right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background-attachment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fixed, fixed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09" t="54438" r="33830" b="6979"/>
          <a:stretch/>
        </p:blipFill>
        <p:spPr bwMode="auto">
          <a:xfrm>
            <a:off x="875489" y="1245140"/>
            <a:ext cx="10005389" cy="412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286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7434" y="636799"/>
            <a:ext cx="10058400" cy="588886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background-repeat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0196" y="1848255"/>
            <a:ext cx="11498094" cy="4221805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no-repeat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Устанавливает одно фоновое изображение в элементе без его повторений, положение которого определяется свойством </a:t>
            </a:r>
            <a:r>
              <a:rPr lang="ru-RU" sz="2800" dirty="0" err="1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background-position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 (по умолчанию в левом верхнем углу). Аналогично 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no-repeat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no-repeat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repeat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Фоновое изображение повторяется по горизонтали и вертикали. </a:t>
            </a:r>
            <a:r>
              <a:rPr lang="ru-RU" sz="2800" dirty="0" err="1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repeat</a:t>
            </a:r>
            <a:r>
              <a:rPr lang="ru-RU" sz="2800" dirty="0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-x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Фоновый рисунок повторяется только по горизонтали. </a:t>
            </a:r>
            <a:r>
              <a:rPr lang="en-US" sz="2800" dirty="0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repeat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-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y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Фоновый рисунок повторяется только по вертикали. 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79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889" y="656255"/>
            <a:ext cx="10058400" cy="588886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background-repeat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9651" y="1867710"/>
            <a:ext cx="11381362" cy="3988341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inherit</a:t>
            </a:r>
            <a:r>
              <a:rPr lang="ru-RU" sz="2800" dirty="0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Наследует значение родителя.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space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Изображение повторяется столько раз, чтобы полностью заполнить область; если это не удаётся, между картинками добавляется пустое пространство.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round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Изображение повторяется так, чтобы в области поместилось целое число рисунков; если это не удаётся сделать, то фоновые рисунки масштабируются.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51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91828" y="341831"/>
            <a:ext cx="11673191" cy="571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CSS 2.1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dirty="0" err="1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background-image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b="1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url</a:t>
            </a:r>
            <a:r>
              <a:rPr lang="ru-RU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images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/bg_grey.png</a:t>
            </a:r>
            <a:r>
              <a:rPr lang="ru-RU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dirty="0" smtClean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Путь к фоновому рисунку */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background-position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left bottom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Положение фона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*/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ru-RU" sz="2800" dirty="0" err="1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background-repeat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repeat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-x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dirty="0" smtClean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Повторяем фон по горизонтали </a:t>
            </a:r>
            <a:r>
              <a:rPr lang="ru-RU" sz="2800" dirty="0" smtClean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*/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</a:p>
          <a:p>
            <a:pPr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</a:t>
            </a:r>
          </a:p>
          <a:p>
            <a:pPr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CSS3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 smtClean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background-image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url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images/pattern-left.png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, </a:t>
            </a:r>
            <a:r>
              <a:rPr lang="en-US" sz="2800" b="1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url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images/pattern-right.png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background-position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left, right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background-repeat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repeat-y, repeat-y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  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09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525293"/>
            <a:ext cx="10058400" cy="1225685"/>
          </a:xfrm>
        </p:spPr>
        <p:txBody>
          <a:bodyPr>
            <a:normAutofit fontScale="90000"/>
          </a:bodyPr>
          <a:lstStyle/>
          <a:p>
            <a:r>
              <a:rPr lang="ru-RU" b="1" dirty="0" err="1" smtClean="0"/>
              <a:t>background-size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5098" y="1981920"/>
            <a:ext cx="11459183" cy="4023360"/>
          </a:xfrm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&lt;значение&gt;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Задает размер в любых доступных для CSS 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единицах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&lt;проценты&gt;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Задает размер фоновой картинки в процентах от ширины или высоты элемента.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auto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Если задано одновременно для ширины и высоты (</a:t>
            </a:r>
            <a:r>
              <a:rPr lang="ru-RU" sz="2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auto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auto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), размеры фона остаются исходными; если только для одной стороны картинки (100px </a:t>
            </a:r>
            <a:r>
              <a:rPr lang="ru-RU" sz="2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auto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), то размер вычисляется автоматически исходя из пропорций картинки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5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525293"/>
            <a:ext cx="10058400" cy="1225685"/>
          </a:xfrm>
        </p:spPr>
        <p:txBody>
          <a:bodyPr>
            <a:normAutofit fontScale="90000"/>
          </a:bodyPr>
          <a:lstStyle/>
          <a:p>
            <a:r>
              <a:rPr lang="ru-RU" b="1" dirty="0" err="1" smtClean="0"/>
              <a:t>background-size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6034" y="1923554"/>
            <a:ext cx="10758791" cy="4023360"/>
          </a:xfrm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800" dirty="0" err="1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cover</a:t>
            </a:r>
            <a:r>
              <a:rPr lang="ru-RU" sz="2800" dirty="0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Масштабирует изображение с сохранением пропорций так, чтобы его ширина или высота равнялась ширине или высоте блока.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contain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Масштабирует изображение с сохранением пропорций таким образом, чтобы картинка целиком поместилась внутрь блока.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94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background-position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009" y="1962466"/>
            <a:ext cx="11783438" cy="4023360"/>
          </a:xfrm>
        </p:spPr>
        <p:txBody>
          <a:bodyPr>
            <a:noAutofit/>
          </a:bodyPr>
          <a:lstStyle/>
          <a:p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&lt;позиция&gt; = [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left | center | right | &lt;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проценты&gt; | &lt;размер&gt;] || [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top | center | bottom | &lt;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проценты&gt; | &lt;размер</a:t>
            </a:r>
            <a:r>
              <a:rPr lang="ru-RU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&gt;].</a:t>
            </a:r>
          </a:p>
          <a:p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У свойства </a:t>
            </a:r>
            <a:r>
              <a:rPr lang="ru-RU" sz="2800" dirty="0" err="1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background-position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 два значения, положение по горизонтали (может быть — 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left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, 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center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, 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right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 и вертикали (может быть — 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top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, 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center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, 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bottom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). 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Также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можно задавать в процентах, пикселах или других единицах. Если применяются ключевые слова, то порядок их следования не имеет значения, при процентной записи вначале задается положение рисунка по горизонтали, а затем, через пробел, положение по вертикали. 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8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9651" y="492843"/>
            <a:ext cx="1138136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0% 0% (в левом верхнем углу)</a:t>
            </a:r>
          </a:p>
          <a:p>
            <a:pPr lvl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top = top center = center top = 50% 0% (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по центру вверху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/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100% 0% (в правом верхнем углу)</a:t>
            </a:r>
          </a:p>
          <a:p>
            <a:pPr lvl="0"/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0% 50% (по левому краю и по центру)</a:t>
            </a:r>
          </a:p>
          <a:p>
            <a:pPr lvl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center = center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= 50% 50% (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по центру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/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 = 100% 50% (по правому краю и по центру)</a:t>
            </a:r>
          </a:p>
          <a:p>
            <a:pPr lvl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bottom left = left bottom = 0% 100% (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в левом нижнем углу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bottom = bottom center = center bottom = 50% 100% 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по центру внизу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bottom right = right bottom = 100% 100% (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в правом нижнем углу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67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14010" y="1487389"/>
            <a:ext cx="11303540" cy="399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b="1" dirty="0">
                <a:solidFill>
                  <a:srgbClr val="333333"/>
                </a:solidFill>
                <a:latin typeface="Courier New"/>
                <a:ea typeface="Times New Roman"/>
                <a:cs typeface="Times New Roman"/>
              </a:rPr>
              <a:t>body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{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background-image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url</a:t>
            </a:r>
            <a:r>
              <a:rPr lang="en-US" sz="2800" b="1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images/mybg.png</a:t>
            </a:r>
            <a:r>
              <a:rPr lang="en-US" sz="2800" b="1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urier New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 smtClean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Путь к фоновому рисунку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background-position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right bottom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urier New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 smtClean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Положение фона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urier New"/>
                <a:ea typeface="Times New Roman"/>
                <a:cs typeface="Times New Roman"/>
              </a:rPr>
              <a:t>background-repeat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urier New"/>
                <a:ea typeface="Times New Roman"/>
                <a:cs typeface="Times New Roman"/>
              </a:rPr>
              <a:t> no-repeat</a:t>
            </a:r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urier New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 smtClean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Отменяем повторение фона</a:t>
            </a:r>
            <a:r>
              <a:rPr lang="en-US" sz="2800" dirty="0">
                <a:solidFill>
                  <a:srgbClr val="999999"/>
                </a:solidFill>
                <a:latin typeface="Courier New"/>
                <a:ea typeface="Times New Roman"/>
                <a:cs typeface="Times New Roman"/>
              </a:rPr>
              <a:t> */</a:t>
            </a:r>
            <a:endParaRPr lang="ru-RU" sz="2800" dirty="0">
              <a:ea typeface="Times New Roman"/>
              <a:cs typeface="Times New Roman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urier New"/>
                <a:ea typeface="Times New Roman"/>
              </a:rPr>
              <a:t>   </a:t>
            </a:r>
            <a:r>
              <a:rPr lang="ru-RU" sz="2800" dirty="0">
                <a:solidFill>
                  <a:srgbClr val="000000"/>
                </a:solidFill>
                <a:latin typeface="Courier New"/>
                <a:ea typeface="Times New Roman"/>
              </a:rPr>
              <a:t>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2753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background-clip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845734"/>
            <a:ext cx="12192000" cy="4023360"/>
          </a:xfrm>
        </p:spPr>
        <p:txBody>
          <a:bodyPr>
            <a:noAutofit/>
          </a:bodyPr>
          <a:lstStyle/>
          <a:p>
            <a:pPr marL="285750">
              <a:spcBef>
                <a:spcPts val="750"/>
              </a:spcBef>
              <a:spcAft>
                <a:spcPts val="120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Определяет, как цвет фона или фоновая картинка должна выводиться под границами. Эффект заметен при прозрачных или пунктирных границах.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marL="285750">
              <a:spcBef>
                <a:spcPts val="750"/>
              </a:spcBef>
              <a:spcAft>
                <a:spcPts val="1200"/>
              </a:spcAft>
            </a:pP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background-clip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[padding-box | border-box |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content-box]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indent="450215">
              <a:lnSpc>
                <a:spcPct val="115000"/>
              </a:lnSpc>
              <a:spcAft>
                <a:spcPts val="1000"/>
              </a:spcAft>
            </a:pPr>
            <a:r>
              <a:rPr lang="ru-RU" sz="2800" dirty="0" err="1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padding-box</a:t>
            </a:r>
            <a:r>
              <a:rPr lang="ru-RU" sz="2800" dirty="0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 отображается внутри границ.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indent="450215"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border-box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 выводится под границами.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indent="450215"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content-box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 отображается только внутри контента.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06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03" y="1348043"/>
            <a:ext cx="2709085" cy="212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546" y="1401546"/>
            <a:ext cx="2572898" cy="202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666" y="1368797"/>
            <a:ext cx="2614579" cy="205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143485" y="4005184"/>
            <a:ext cx="22413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i="1" dirty="0" err="1">
                <a:solidFill>
                  <a:srgbClr val="666666"/>
                </a:solidFill>
                <a:latin typeface="Georgia"/>
                <a:ea typeface="Times New Roman"/>
                <a:cs typeface="EucrosiaUPC" panose="02020603050405020304" pitchFamily="18" charset="-34"/>
              </a:rPr>
              <a:t>padding-box</a:t>
            </a:r>
            <a:endParaRPr lang="ru-RU" sz="2800" dirty="0">
              <a:cs typeface="EucrosiaUPC" panose="02020603050405020304" pitchFamily="18" charset="-34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933972" y="4005184"/>
            <a:ext cx="1988045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sz="2800" i="1" dirty="0" err="1">
                <a:solidFill>
                  <a:srgbClr val="666666"/>
                </a:solidFill>
                <a:latin typeface="Georgia"/>
                <a:ea typeface="Times New Roman"/>
                <a:cs typeface="EucrosiaUPC" panose="02020603050405020304" pitchFamily="18" charset="-34"/>
              </a:rPr>
              <a:t>border-box</a:t>
            </a:r>
            <a:endParaRPr lang="ru-RU" sz="2800" dirty="0">
              <a:ea typeface="Times New Roman"/>
              <a:cs typeface="EucrosiaUPC" panose="02020603050405020304" pitchFamily="18" charset="-34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426438" y="4005184"/>
            <a:ext cx="2089034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sz="2800" i="1" dirty="0" err="1">
                <a:solidFill>
                  <a:srgbClr val="666666"/>
                </a:solidFill>
                <a:latin typeface="Georgia"/>
                <a:ea typeface="Times New Roman"/>
                <a:cs typeface="EucrosiaUPC" panose="02020603050405020304" pitchFamily="18" charset="-34"/>
              </a:rPr>
              <a:t>content-box</a:t>
            </a:r>
            <a:endParaRPr lang="ru-RU" sz="2800" dirty="0">
              <a:ea typeface="Times New Roman"/>
              <a:cs typeface="Eucrosi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2467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-24317"/>
            <a:ext cx="12192000" cy="464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.example {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BC3EC6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#5f392f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url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images/gear.png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Фоновый рисунок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*/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10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 dotted red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Параметры рамки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*/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background-clip: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border-box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 под рамкой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*/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padding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10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Поля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*/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color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BC3EC6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#</a:t>
            </a:r>
            <a:r>
              <a:rPr lang="en-US" sz="2800" dirty="0" err="1">
                <a:solidFill>
                  <a:srgbClr val="BC3EC6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fff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Цвет текста</a:t>
            </a:r>
            <a:r>
              <a:rPr lang="en-US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*/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ru-RU" sz="2800" dirty="0" err="1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min-height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48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2800" dirty="0">
                <a:solidFill>
                  <a:srgbClr val="99999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Минимальная высота */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marL="285750">
              <a:spcBef>
                <a:spcPts val="1200"/>
              </a:spcBef>
              <a:spcAft>
                <a:spcPts val="120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}</a:t>
            </a:r>
            <a:endParaRPr lang="ru-RU" sz="2800" dirty="0">
              <a:effectLst/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l="1549" t="10484" r="1493" b="78495"/>
          <a:stretch/>
        </p:blipFill>
        <p:spPr bwMode="auto">
          <a:xfrm>
            <a:off x="133985" y="4603781"/>
            <a:ext cx="11169555" cy="15441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3894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</a:t>
            </a:r>
            <a:r>
              <a:rPr lang="ru-RU" b="1" dirty="0"/>
              <a:t>-</a:t>
            </a:r>
            <a:r>
              <a:rPr lang="en-US" b="1" dirty="0"/>
              <a:t>origin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670639"/>
            <a:ext cx="11906655" cy="4023360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Свойство </a:t>
            </a:r>
            <a:r>
              <a:rPr lang="ru-RU" sz="2800" dirty="0" err="1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background-origin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 определяет область позиционирования фонового рисунка. Это свойство не применяется, когда значение </a:t>
            </a:r>
            <a:r>
              <a:rPr lang="ru-RU" sz="2800" u="sng" dirty="0" err="1">
                <a:solidFill>
                  <a:srgbClr val="90278E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  <a:hlinkClick r:id="rId2"/>
              </a:rPr>
              <a:t>background-attachment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 задано как </a:t>
            </a: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fixed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padding-box</a:t>
            </a:r>
            <a:r>
              <a:rPr lang="ru-RU" sz="2800" dirty="0" smtClean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 позиционируется относительно края элемента с учетом толщины границы.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border-box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 позиционируется относительно границы, при этом линия границы может перекрывать изображение.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content-box</a:t>
            </a:r>
            <a:r>
              <a:rPr lang="ru-RU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Фон позиционируется относительно содержимого элемента.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32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88069" y="240928"/>
            <a:ext cx="11446212" cy="3529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.example {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20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 solid </a:t>
            </a:r>
            <a:r>
              <a:rPr lang="en-US" sz="2800" dirty="0">
                <a:solidFill>
                  <a:srgbClr val="BC3EC6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#fc0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padding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20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height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6562B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200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px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url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images/figure.jpg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no-repeat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B61039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background-origin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39892F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content-box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2657475" algn="l"/>
              </a:tabLs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}</a:t>
            </a: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  <p:pic>
        <p:nvPicPr>
          <p:cNvPr id="8195" name="Рисунок 74" descr="Рис. 1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3695700"/>
            <a:ext cx="15335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Рисунок 75" descr="Рис. 1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475" y="3770356"/>
            <a:ext cx="15335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3" name="Рисунок 76" descr="Рис. 1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79" y="3695700"/>
            <a:ext cx="15335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20764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3695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533524" y="5537750"/>
            <a:ext cx="99062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padding-box              border-box				content-box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8542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Градиенты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i="1" dirty="0" smtClean="0"/>
              <a:t>Градиент</a:t>
            </a:r>
            <a:r>
              <a:rPr lang="ru-RU" sz="3200" dirty="0" smtClean="0"/>
              <a:t> – плавный переход от одного заданного цвета к другому. Бывают </a:t>
            </a:r>
            <a:r>
              <a:rPr lang="ru-RU" sz="3200" i="1" dirty="0" smtClean="0"/>
              <a:t>линейные</a:t>
            </a:r>
            <a:r>
              <a:rPr lang="ru-RU" sz="3200" dirty="0" smtClean="0"/>
              <a:t> и </a:t>
            </a:r>
            <a:r>
              <a:rPr lang="ru-RU" sz="3200" i="1" dirty="0" smtClean="0"/>
              <a:t>радиальные</a:t>
            </a:r>
            <a:r>
              <a:rPr lang="ru-RU" sz="3200" dirty="0" smtClean="0"/>
              <a:t> градиенты.</a:t>
            </a:r>
          </a:p>
          <a:p>
            <a:r>
              <a:rPr lang="ru-RU" sz="3200" dirty="0" smtClean="0"/>
              <a:t>Чтобы работать с градиентом нужно задать два цвета и точки перехода.</a:t>
            </a:r>
          </a:p>
          <a:p>
            <a:endParaRPr lang="ru-RU" sz="3200" dirty="0" smtClean="0"/>
          </a:p>
          <a:p>
            <a:r>
              <a:rPr lang="ru-RU" sz="3200" dirty="0" smtClean="0"/>
              <a:t>В </a:t>
            </a:r>
            <a:r>
              <a:rPr lang="en-US" sz="3200" dirty="0" smtClean="0"/>
              <a:t>CSS </a:t>
            </a:r>
            <a:r>
              <a:rPr lang="ru-RU" sz="3200" dirty="0" smtClean="0"/>
              <a:t>градиенты используются для фона (являются значениями для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background-image</a:t>
            </a:r>
            <a:r>
              <a:rPr lang="en-US" sz="3200" dirty="0"/>
              <a:t> </a:t>
            </a:r>
            <a:r>
              <a:rPr lang="ru-RU" sz="3200" dirty="0"/>
              <a:t>или 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</a:t>
            </a:r>
            <a:r>
              <a:rPr lang="ru-RU" sz="32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1043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Простейший вариант – функция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linear-gradient()</a:t>
            </a:r>
            <a:r>
              <a:rPr lang="en-US" sz="3200" dirty="0" smtClean="0"/>
              <a:t> </a:t>
            </a:r>
            <a:r>
              <a:rPr lang="ru-RU" sz="3200" dirty="0" smtClean="0"/>
              <a:t>с двумя аргументами-цветами. Это градиент сверху вниз: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background-image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linear-gradient(red,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340906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9055" y="2175740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9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Направление градиента можно задать первым аргументом функции. Записывают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 smtClean="0"/>
              <a:t> либо угол (по часовой, 0</a:t>
            </a:r>
            <a:r>
              <a:rPr lang="ru-RU" sz="3200" baseline="30000" dirty="0" smtClean="0"/>
              <a:t>о</a:t>
            </a:r>
            <a:r>
              <a:rPr lang="ru-RU" sz="3200" dirty="0" smtClean="0"/>
              <a:t> – это </a:t>
            </a:r>
            <a:r>
              <a:rPr lang="ru-RU" sz="3200" b="1" dirty="0" smtClean="0">
                <a:solidFill>
                  <a:srgbClr val="FF0000"/>
                </a:solidFill>
              </a:rPr>
              <a:t>снизу вверх</a:t>
            </a:r>
            <a:r>
              <a:rPr lang="ru-RU" sz="3200" dirty="0" smtClean="0"/>
              <a:t>‒  0</a:t>
            </a:r>
            <a:r>
              <a:rPr lang="en-US" sz="3200" dirty="0" err="1" smtClean="0"/>
              <a:t>deg</a:t>
            </a:r>
            <a:r>
              <a:rPr lang="ru-RU" sz="3200" dirty="0" smtClean="0"/>
              <a:t>), цвет меняется </a:t>
            </a:r>
            <a:r>
              <a:rPr lang="ru-RU" sz="4000" b="1" dirty="0" smtClean="0"/>
              <a:t>к</a:t>
            </a:r>
            <a:r>
              <a:rPr lang="ru-RU" sz="3200" dirty="0" smtClean="0"/>
              <a:t> этому углу.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 smtClean="0"/>
              <a:t> либо слово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en-US" sz="3200" dirty="0" smtClean="0"/>
              <a:t> </a:t>
            </a:r>
            <a:r>
              <a:rPr lang="ru-RU" sz="3200" dirty="0" smtClean="0"/>
              <a:t>и значения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ru-RU" sz="3200" dirty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bottom</a:t>
            </a:r>
            <a:r>
              <a:rPr lang="ru-RU" sz="3200" dirty="0"/>
              <a:t> и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ru-RU" sz="3200" dirty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ru-RU" sz="3200" dirty="0"/>
              <a:t>, а также их </a:t>
            </a:r>
            <a:r>
              <a:rPr lang="ru-RU" sz="3200" dirty="0" smtClean="0"/>
              <a:t>сочетания через пробел.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94857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2" t="30991" r="13312" b="38254"/>
          <a:stretch/>
        </p:blipFill>
        <p:spPr bwMode="auto">
          <a:xfrm>
            <a:off x="1048507" y="136188"/>
            <a:ext cx="10041025" cy="5925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869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background-image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linear-gradient(110deg,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1845733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5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background-image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linear-gradient(</a:t>
            </a:r>
            <a:r>
              <a:rPr lang="en-US" sz="24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 left </a:t>
            </a:r>
            <a:r>
              <a:rPr lang="en-US" sz="2400" b="1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,red,blue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1845733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6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После указания цвета, через пробел можно задать </a:t>
            </a:r>
            <a:r>
              <a:rPr lang="ru-RU" sz="3200" b="1" dirty="0" smtClean="0"/>
              <a:t>положение точки распространения</a:t>
            </a:r>
            <a:r>
              <a:rPr lang="ru-RU" sz="3200" dirty="0" smtClean="0"/>
              <a:t> цвета на векторе градиента абсолютным размером или процентами.</a:t>
            </a:r>
          </a:p>
        </p:txBody>
      </p:sp>
    </p:spTree>
    <p:extLst>
      <p:ext uri="{BB962C8B-B14F-4D97-AF65-F5344CB8AC3E}">
        <p14:creationId xmlns:p14="http://schemas.microsoft.com/office/powerpoint/2010/main" val="382882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background-image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linear-gradient(red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-20px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50%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523" y="1871988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1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Для построения градиента можно использовать не два, а более цветов.</a:t>
            </a:r>
          </a:p>
          <a:p>
            <a:endParaRPr lang="ru-RU" sz="3200" dirty="0" smtClean="0"/>
          </a:p>
          <a:p>
            <a:r>
              <a:rPr lang="ru-RU" sz="3200" dirty="0" smtClean="0"/>
              <a:t>И для каждого цвета можно задавать позицию на векторе градиента.</a:t>
            </a:r>
          </a:p>
        </p:txBody>
      </p:sp>
    </p:spTree>
    <p:extLst>
      <p:ext uri="{BB962C8B-B14F-4D97-AF65-F5344CB8AC3E}">
        <p14:creationId xmlns:p14="http://schemas.microsoft.com/office/powerpoint/2010/main" val="129646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linear-gradient(red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-20px,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50%,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white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1763615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7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1536"/>
            <a:ext cx="5670209" cy="3767327"/>
          </a:xfrm>
        </p:spPr>
      </p:pic>
      <p:sp>
        <p:nvSpPr>
          <p:cNvPr id="5" name="Прямоугольник 4"/>
          <p:cNvSpPr/>
          <p:nvPr/>
        </p:nvSpPr>
        <p:spPr>
          <a:xfrm>
            <a:off x="5571744" y="1741807"/>
            <a:ext cx="662025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dirty="0"/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linear-gradient(to top, 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(30,87,153,0), 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(30,87,153,0.8),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(30,87,153,1),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(30,87,153,1), 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(41,137,216,1), 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(30,87,153,1), 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(30,87,153,1),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(30,87,153,0.8),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rgba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(30,87,153,0));</a:t>
            </a:r>
            <a:endParaRPr lang="ru-RU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85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174284" cy="4036321"/>
          </a:xfrm>
        </p:spPr>
        <p:txBody>
          <a:bodyPr>
            <a:noAutofit/>
          </a:bodyPr>
          <a:lstStyle/>
          <a:p>
            <a:r>
              <a:rPr lang="ru-RU" sz="3200" dirty="0"/>
              <a:t>Функция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repeating-linear-gradient</a:t>
            </a: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ru-RU" sz="3200" dirty="0" smtClean="0"/>
              <a:t> создаёт </a:t>
            </a:r>
            <a:r>
              <a:rPr lang="ru-RU" sz="3200" dirty="0"/>
              <a:t>бесконечно повторяющийся линейный градиент, образуя </a:t>
            </a:r>
            <a:r>
              <a:rPr lang="ru-RU" sz="3200" dirty="0" smtClean="0"/>
              <a:t>фоновый </a:t>
            </a:r>
            <a:r>
              <a:rPr lang="ru-RU" sz="3200" dirty="0"/>
              <a:t>узор</a:t>
            </a:r>
            <a:r>
              <a:rPr lang="ru-RU" sz="3200" dirty="0" smtClean="0"/>
              <a:t>.</a:t>
            </a:r>
          </a:p>
          <a:p>
            <a:endParaRPr lang="ru-RU" sz="3200" dirty="0" smtClean="0"/>
          </a:p>
          <a:p>
            <a:r>
              <a:rPr lang="ru-RU" sz="3200" dirty="0" smtClean="0"/>
              <a:t>По </a:t>
            </a:r>
            <a:r>
              <a:rPr lang="ru-RU" sz="3200" dirty="0"/>
              <a:t>своему действию похожа на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linear-gradient</a:t>
            </a: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ru-RU" sz="3200" dirty="0"/>
              <a:t> и имеет те же параметры. </a:t>
            </a:r>
            <a:r>
              <a:rPr lang="ru-RU" sz="3200" dirty="0" smtClean="0"/>
              <a:t>Обычно для цветов указывается </a:t>
            </a:r>
            <a:r>
              <a:rPr lang="ru-RU" sz="3200" b="1" dirty="0" smtClean="0"/>
              <a:t>смещение на векторе градиента.</a:t>
            </a:r>
            <a:r>
              <a:rPr lang="ru-RU" sz="3200" dirty="0" smtClean="0"/>
              <a:t> </a:t>
            </a:r>
            <a:r>
              <a:rPr lang="ru-RU" sz="3200" dirty="0"/>
              <a:t>Цвета последовательно сменяют друг друга.</a:t>
            </a:r>
            <a:r>
              <a:rPr lang="ru-RU" sz="3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773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repeating-linear-gradient(red,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%)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1845733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2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Линейный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1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repeating-linear-gradient(red,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20px,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40px</a:t>
            </a:r>
            <a:r>
              <a:rPr lang="en-US" sz="2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ru-RU" sz="2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1845733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23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106" y="2011680"/>
            <a:ext cx="5501198" cy="4049010"/>
          </a:xfrm>
        </p:spPr>
      </p:pic>
    </p:spTree>
    <p:extLst>
      <p:ext uri="{BB962C8B-B14F-4D97-AF65-F5344CB8AC3E}">
        <p14:creationId xmlns:p14="http://schemas.microsoft.com/office/powerpoint/2010/main" val="342756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310583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:repeating-linear-gradient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(110deg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red, blue 20px, red 40px);</a:t>
            </a:r>
            <a:endParaRPr lang="ru-RU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5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Радиальный градиент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В радиальном градиенте переход между цветами происходит по окружности («круги на воде»). Для построения служит функция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radial-gradient()</a:t>
            </a:r>
            <a:r>
              <a:rPr lang="ru-RU" sz="3200" dirty="0" smtClean="0"/>
              <a:t>:</a:t>
            </a:r>
            <a:endParaRPr lang="en-US" sz="3200" dirty="0" smtClean="0"/>
          </a:p>
          <a:p>
            <a:endParaRPr lang="ru-RU" sz="105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background-image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radial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-gradient(red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43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Радиальный градиент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9055" y="2230061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6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Радиальный градиент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200" dirty="0" smtClean="0"/>
              <a:t>Как и в случае линейного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200" dirty="0" smtClean="0"/>
              <a:t>градиента, можно настраивать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200" dirty="0" smtClean="0"/>
              <a:t>«остановки» для цветов:</a:t>
            </a:r>
            <a:endParaRPr lang="en-US" sz="3200" dirty="0" smtClean="0"/>
          </a:p>
          <a:p>
            <a:endParaRPr lang="ru-RU" sz="105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background-image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radial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-gradient(red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ru-RU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50%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1845733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0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Радиальный градиент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Ещё настраивается центр градиента</a:t>
            </a:r>
            <a:r>
              <a:rPr lang="ru-RU" sz="3200" dirty="0"/>
              <a:t>. </a:t>
            </a:r>
            <a:r>
              <a:rPr lang="ru-RU" sz="3200" dirty="0" smtClean="0"/>
              <a:t>По </a:t>
            </a:r>
            <a:r>
              <a:rPr lang="ru-RU" sz="3200" dirty="0"/>
              <a:t>умолчанию точкой отсчёта является </a:t>
            </a:r>
            <a:r>
              <a:rPr lang="ru-RU" sz="3200" dirty="0" smtClean="0"/>
              <a:t>середина (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ru-RU" sz="3200" dirty="0" smtClean="0"/>
              <a:t>). </a:t>
            </a:r>
            <a:r>
              <a:rPr lang="ru-RU" sz="3200" dirty="0"/>
              <a:t>Её можно смещать аналогично 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background-position</a:t>
            </a:r>
            <a:r>
              <a:rPr lang="ru-RU" sz="3200" dirty="0"/>
              <a:t>. </a:t>
            </a:r>
            <a:endParaRPr lang="ru-RU" sz="3200" dirty="0" smtClean="0"/>
          </a:p>
          <a:p>
            <a:r>
              <a:rPr lang="ru-RU" sz="3200" dirty="0" smtClean="0"/>
              <a:t>Первое </a:t>
            </a:r>
            <a:r>
              <a:rPr lang="ru-RU" sz="3200" dirty="0"/>
              <a:t>значение определяет расположение по горизонтали, второе </a:t>
            </a:r>
            <a:r>
              <a:rPr lang="ru-RU" sz="3200" dirty="0" smtClean="0"/>
              <a:t>– по вертикали</a:t>
            </a:r>
            <a:r>
              <a:rPr lang="ru-RU" sz="3200" dirty="0"/>
              <a:t>. Указываются после предлога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</a:t>
            </a:r>
            <a:r>
              <a:rPr lang="ru-RU" sz="3200" dirty="0"/>
              <a:t> в любой единице измерения, в процентах или при использовании ключевых слов</a:t>
            </a:r>
          </a:p>
          <a:p>
            <a:r>
              <a:rPr lang="ru-RU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ru-RU" sz="2800" dirty="0" err="1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ru-RU" sz="2800" dirty="0" err="1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ru-RU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  <a:r>
              <a:rPr lang="ru-RU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 </a:t>
            </a:r>
            <a:r>
              <a:rPr lang="ru-RU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ru-RU" sz="2800" dirty="0" err="1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ru-RU" sz="2800" dirty="0" err="1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bottom</a:t>
            </a:r>
            <a:r>
              <a:rPr lang="ru-RU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ru-RU" sz="2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05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Радиальный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radial-gradient(at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50px,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1845733"/>
            <a:ext cx="45148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6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Радиальный градиент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В неквадратных блоках градиент работает как эллипс, но его поведение можно изменить на поведение круга: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aaa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radial-gradient(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circle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150px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 smtClean="0"/>
          </a:p>
          <a:p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836" y="2790968"/>
            <a:ext cx="3224844" cy="260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0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Радиальный градиент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Дополнительно можно настроить размер градиента. Делается это указанием специальных параметров после слова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en-US" sz="3200" dirty="0" smtClean="0"/>
              <a:t> (</a:t>
            </a:r>
            <a:r>
              <a:rPr lang="ru-RU" sz="3200" dirty="0" smtClean="0"/>
              <a:t>или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ellipse</a:t>
            </a:r>
            <a:r>
              <a:rPr lang="en-US" sz="3200" dirty="0" smtClean="0"/>
              <a:t>):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closest-side</a:t>
            </a:r>
            <a:r>
              <a:rPr lang="en-US" sz="3200" dirty="0" smtClean="0"/>
              <a:t>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closest-corner</a:t>
            </a:r>
            <a:r>
              <a:rPr lang="en-US" sz="3200" dirty="0" smtClean="0"/>
              <a:t>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farthest-side</a:t>
            </a:r>
            <a:r>
              <a:rPr lang="en-US" sz="3200" dirty="0" smtClean="0"/>
              <a:t>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farthest-corner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ru-RU" sz="3200" dirty="0" smtClean="0"/>
              <a:t>Вместо спец. параметров можно указать радиус градиента в единицах размера.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71013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closest-side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0157" y="1787368"/>
            <a:ext cx="11334668" cy="4023360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Форма градиента совпадает с ближайшей к нему стороной блока.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background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: radial-gradient(circle closest-side at 30px 20px, #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fff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#000);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background: radial-gradient(ellipse closest-side at 30px 20px, #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fff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000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Рисунок 5" descr="closest-sid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121" y="4280171"/>
            <a:ext cx="3107704" cy="21592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014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closest-corner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2375" y="1845734"/>
            <a:ext cx="11478638" cy="4023360"/>
          </a:xfrm>
        </p:spPr>
        <p:txBody>
          <a:bodyPr>
            <a:normAutofit/>
          </a:bodyPr>
          <a:lstStyle/>
          <a:p>
            <a:r>
              <a:rPr lang="ru-RU" sz="2800" dirty="0"/>
              <a:t>Форма градиента вычисляется на основании информации о расстоянии до ближайшего угла блока.</a:t>
            </a:r>
          </a:p>
          <a:p>
            <a:r>
              <a:rPr lang="en-US" sz="2800" dirty="0" smtClean="0"/>
              <a:t>background</a:t>
            </a:r>
            <a:r>
              <a:rPr lang="en-US" sz="2800" dirty="0"/>
              <a:t>: radial-gradient(circle closest-corner at 30px 20px, #</a:t>
            </a:r>
            <a:r>
              <a:rPr lang="en-US" sz="2800" dirty="0" err="1"/>
              <a:t>fff</a:t>
            </a:r>
            <a:r>
              <a:rPr lang="en-US" sz="2800" dirty="0"/>
              <a:t>, #000);</a:t>
            </a:r>
            <a:endParaRPr lang="ru-RU" sz="2800" dirty="0"/>
          </a:p>
          <a:p>
            <a:r>
              <a:rPr lang="en-US" sz="2800" dirty="0"/>
              <a:t>background: radial-gradient(ellipse closest-corner at 30px 20px, #</a:t>
            </a:r>
            <a:r>
              <a:rPr lang="en-US" sz="2800" dirty="0" err="1"/>
              <a:t>fff</a:t>
            </a:r>
            <a:r>
              <a:rPr lang="en-US" sz="2800" dirty="0"/>
              <a:t>, #000</a:t>
            </a:r>
            <a:r>
              <a:rPr lang="en-US" sz="2800" dirty="0" smtClean="0"/>
              <a:t>);</a:t>
            </a:r>
          </a:p>
        </p:txBody>
      </p:sp>
      <p:pic>
        <p:nvPicPr>
          <p:cNvPr id="5" name="Рисунок 4" descr="closest-corner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4196" y="4105072"/>
            <a:ext cx="2556469" cy="2159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509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farthest-side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0196" y="1845734"/>
            <a:ext cx="10805484" cy="4023360"/>
          </a:xfrm>
        </p:spPr>
        <p:txBody>
          <a:bodyPr>
            <a:normAutofit/>
          </a:bodyPr>
          <a:lstStyle/>
          <a:p>
            <a:r>
              <a:rPr lang="ru-RU" sz="2800" dirty="0"/>
              <a:t>Градиент распространяется до дальней стороны блока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r>
              <a:rPr lang="en-US" sz="2800" dirty="0"/>
              <a:t>background: radial-gradient(circle farthest-side at 30px 20px, #</a:t>
            </a:r>
            <a:r>
              <a:rPr lang="en-US" sz="2800" dirty="0" err="1"/>
              <a:t>fff</a:t>
            </a:r>
            <a:r>
              <a:rPr lang="en-US" sz="2800" dirty="0"/>
              <a:t>, #000);</a:t>
            </a:r>
            <a:endParaRPr lang="ru-RU" sz="2800" dirty="0"/>
          </a:p>
          <a:p>
            <a:r>
              <a:rPr lang="en-US" sz="2800" dirty="0"/>
              <a:t>background: radial-gradient(ellipse farthest-side at 30px 20px, #</a:t>
            </a:r>
            <a:r>
              <a:rPr lang="en-US" sz="2800" dirty="0" err="1"/>
              <a:t>fff</a:t>
            </a:r>
            <a:r>
              <a:rPr lang="en-US" sz="2800" dirty="0"/>
              <a:t>, #000);</a:t>
            </a:r>
            <a:endParaRPr lang="ru-RU" sz="2800" dirty="0"/>
          </a:p>
        </p:txBody>
      </p:sp>
      <p:pic>
        <p:nvPicPr>
          <p:cNvPr id="4" name="Рисунок 3" descr="farthest-sid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723" y="4221804"/>
            <a:ext cx="2731568" cy="21008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460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farthest-corner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2373" y="1845734"/>
            <a:ext cx="11459183" cy="4023360"/>
          </a:xfrm>
        </p:spPr>
        <p:txBody>
          <a:bodyPr>
            <a:normAutofit/>
          </a:bodyPr>
          <a:lstStyle/>
          <a:p>
            <a:r>
              <a:rPr lang="ru-RU" sz="2800" dirty="0"/>
              <a:t>Форма градиента вычисляется на основании информации о расстоянии до дальнего угла </a:t>
            </a:r>
            <a:r>
              <a:rPr lang="ru-RU" sz="2800" dirty="0" smtClean="0"/>
              <a:t>блока</a:t>
            </a:r>
            <a:endParaRPr lang="en-US" sz="2800" dirty="0" smtClean="0"/>
          </a:p>
          <a:p>
            <a:r>
              <a:rPr lang="en-US" sz="2800" dirty="0"/>
              <a:t>background: radial-gradient(circle farthest-corner at 30px 20px, #</a:t>
            </a:r>
            <a:r>
              <a:rPr lang="en-US" sz="2800" dirty="0" err="1"/>
              <a:t>fff</a:t>
            </a:r>
            <a:r>
              <a:rPr lang="en-US" sz="2800" dirty="0"/>
              <a:t>, #000);</a:t>
            </a:r>
            <a:endParaRPr lang="ru-RU" sz="2800" dirty="0"/>
          </a:p>
          <a:p>
            <a:r>
              <a:rPr lang="en-US" sz="2800" dirty="0"/>
              <a:t>background: radial-gradient(ellipse farthest-corner at 30px 20px, #</a:t>
            </a:r>
            <a:r>
              <a:rPr lang="en-US" sz="2800" dirty="0" err="1"/>
              <a:t>fff</a:t>
            </a:r>
            <a:r>
              <a:rPr lang="en-US" sz="2800" dirty="0"/>
              <a:t>, #000</a:t>
            </a:r>
            <a:r>
              <a:rPr lang="en-US" sz="2800" dirty="0" smtClean="0"/>
              <a:t>);</a:t>
            </a:r>
          </a:p>
          <a:p>
            <a:endParaRPr lang="ru-RU" sz="2800" dirty="0"/>
          </a:p>
        </p:txBody>
      </p:sp>
      <p:pic>
        <p:nvPicPr>
          <p:cNvPr id="4" name="Рисунок 3" descr="cover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830" y="4416357"/>
            <a:ext cx="2756170" cy="19646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901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Радиальный градиент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7096106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radial-gradient(circle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farthest-corner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150px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 smtClean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 smtClean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radial-gradient(circle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closest-side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150px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28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5" y="1791546"/>
            <a:ext cx="2781225" cy="224727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885" y="4093010"/>
            <a:ext cx="2768363" cy="223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7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Радиальный градиент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/>
              <a:t>Функция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repeating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radial-gradient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ru-RU" sz="3200" dirty="0" smtClean="0"/>
              <a:t> </a:t>
            </a:r>
            <a:r>
              <a:rPr lang="ru-RU" sz="3200" dirty="0"/>
              <a:t>создаёт бесконечно повторяющийся </a:t>
            </a:r>
            <a:r>
              <a:rPr lang="ru-RU" sz="3200" dirty="0" smtClean="0"/>
              <a:t>радиальный градиент.</a:t>
            </a:r>
            <a:endParaRPr lang="ru-RU" sz="3200" dirty="0"/>
          </a:p>
          <a:p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repeating-radial-gradient(red,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20px)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26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385" y="3479031"/>
            <a:ext cx="3414295" cy="275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4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3935" y="335846"/>
            <a:ext cx="1143932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div </a:t>
            </a:r>
            <a:r>
              <a:rPr lang="en-US" sz="3200" dirty="0"/>
              <a:t>{</a:t>
            </a:r>
          </a:p>
          <a:p>
            <a:r>
              <a:rPr lang="en-US" sz="3200" dirty="0"/>
              <a:t>height: 290px; /* </a:t>
            </a:r>
            <a:r>
              <a:rPr lang="ru-RU" sz="3200" dirty="0"/>
              <a:t>устанавливаем высоту элемента */</a:t>
            </a:r>
          </a:p>
          <a:p>
            <a:r>
              <a:rPr lang="en-US" sz="3200" dirty="0"/>
              <a:t>width: 290px; /* </a:t>
            </a:r>
            <a:r>
              <a:rPr lang="ru-RU" sz="3200" dirty="0"/>
              <a:t>устанавливаем ширину элемента */</a:t>
            </a:r>
          </a:p>
          <a:p>
            <a:r>
              <a:rPr lang="en-US" sz="3200" dirty="0"/>
              <a:t>display: inline-block; /* </a:t>
            </a:r>
            <a:r>
              <a:rPr lang="ru-RU" sz="3200" dirty="0"/>
              <a:t>устанавливаем, что элементы &lt;</a:t>
            </a:r>
            <a:r>
              <a:rPr lang="en-US" sz="3200" dirty="0"/>
              <a:t>div&gt; </a:t>
            </a:r>
            <a:r>
              <a:rPr lang="ru-RU" sz="3200" dirty="0"/>
              <a:t>становятся </a:t>
            </a:r>
            <a:r>
              <a:rPr lang="ru-RU" sz="3200" dirty="0" err="1"/>
              <a:t>блочно</a:t>
            </a:r>
            <a:r>
              <a:rPr lang="ru-RU" sz="3200" dirty="0"/>
              <a:t>-строчными (чтобы выстроились в линейку) */</a:t>
            </a:r>
          </a:p>
          <a:p>
            <a:r>
              <a:rPr lang="en-US" sz="3200" dirty="0"/>
              <a:t>border-radius: 100%; /* </a:t>
            </a:r>
            <a:r>
              <a:rPr lang="ru-RU" sz="3200" dirty="0"/>
              <a:t>задаем радиус </a:t>
            </a:r>
            <a:r>
              <a:rPr lang="ru-RU" sz="3200" dirty="0" err="1"/>
              <a:t>скругления</a:t>
            </a:r>
            <a:r>
              <a:rPr lang="ru-RU" sz="3200" dirty="0"/>
              <a:t> углов элемента */</a:t>
            </a:r>
          </a:p>
          <a:p>
            <a:r>
              <a:rPr lang="ru-RU" sz="3200" dirty="0" smtClean="0"/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2903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0627" y="93250"/>
            <a:ext cx="1143932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.</a:t>
            </a:r>
            <a:r>
              <a:rPr lang="en-US" sz="3200" dirty="0"/>
              <a:t>test {</a:t>
            </a:r>
          </a:p>
          <a:p>
            <a:r>
              <a:rPr lang="en-US" sz="3200" dirty="0"/>
              <a:t>background-image: repeating-radial-gradient(red, red 25px, orange 50px, yellow 75px</a:t>
            </a:r>
            <a:r>
              <a:rPr lang="en-US" sz="3200" dirty="0" smtClean="0"/>
              <a:t>);</a:t>
            </a:r>
            <a:endParaRPr lang="ru-RU" sz="3200" dirty="0" smtClean="0"/>
          </a:p>
          <a:p>
            <a:r>
              <a:rPr lang="en-US" sz="3200" dirty="0" smtClean="0"/>
              <a:t> </a:t>
            </a:r>
            <a:r>
              <a:rPr lang="en-US" sz="3200" dirty="0"/>
              <a:t>/* </a:t>
            </a:r>
            <a:r>
              <a:rPr lang="ru-RU" sz="3200" dirty="0" smtClean="0"/>
              <a:t>повторяющийся градиент </a:t>
            </a:r>
            <a:r>
              <a:rPr lang="ru-RU" sz="3200" dirty="0"/>
              <a:t>с точками остановки для каждого цвета через каждые 25</a:t>
            </a:r>
            <a:r>
              <a:rPr lang="en-US" sz="3200" dirty="0" err="1"/>
              <a:t>px</a:t>
            </a:r>
            <a:r>
              <a:rPr lang="en-US" sz="3200" dirty="0"/>
              <a:t> */</a:t>
            </a:r>
          </a:p>
          <a:p>
            <a:r>
              <a:rPr lang="en-US" sz="3200" dirty="0"/>
              <a:t>}</a:t>
            </a:r>
          </a:p>
          <a:p>
            <a:r>
              <a:rPr lang="en-US" sz="3200" dirty="0"/>
              <a:t>.test2 {</a:t>
            </a:r>
          </a:p>
          <a:p>
            <a:r>
              <a:rPr lang="en-US" sz="3200" dirty="0"/>
              <a:t>background-image: repeating-radial-gradient(black , black 20px, white 40px, white 60px); </a:t>
            </a:r>
            <a:endParaRPr lang="ru-RU" sz="3200" dirty="0" smtClean="0"/>
          </a:p>
          <a:p>
            <a:r>
              <a:rPr lang="en-US" sz="3200" dirty="0" smtClean="0"/>
              <a:t>/* </a:t>
            </a:r>
            <a:r>
              <a:rPr lang="ru-RU" sz="3200" dirty="0" smtClean="0"/>
              <a:t>повторяющийся градиент </a:t>
            </a:r>
            <a:r>
              <a:rPr lang="ru-RU" sz="3200" dirty="0"/>
              <a:t>с точками остановки для каждого цвета через каждые 20</a:t>
            </a:r>
            <a:r>
              <a:rPr lang="en-US" sz="3200" dirty="0" err="1"/>
              <a:t>px</a:t>
            </a:r>
            <a:r>
              <a:rPr lang="en-US" sz="3200" dirty="0"/>
              <a:t> */</a:t>
            </a:r>
          </a:p>
          <a:p>
            <a:r>
              <a:rPr lang="en-US" sz="3200" dirty="0"/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516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29"/>
          <a:stretch/>
        </p:blipFill>
        <p:spPr bwMode="auto">
          <a:xfrm>
            <a:off x="1586203" y="1156997"/>
            <a:ext cx="8733453" cy="460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31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644" y="116635"/>
            <a:ext cx="11937883" cy="3985706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.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test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{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background-image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repeating-radial-gradient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(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red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red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5px,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orange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10px,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orange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15px,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yellow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20px,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yellow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25px,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green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30px,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green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35px,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SkyBlue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40px,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SkyBlue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45px,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blue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50px,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blue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55px,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violet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60px,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violet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65px)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/* повторяющийся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четырнадцатицветный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градиент с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точками остановки для каждого цвета через каждые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5px */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" name="Рисунок 2"/>
          <p:cNvPicPr/>
          <p:nvPr/>
        </p:nvPicPr>
        <p:blipFill rotWithShape="1">
          <a:blip r:embed="rId2"/>
          <a:srcRect l="1703" t="18795" r="56012" b="13735"/>
          <a:stretch/>
        </p:blipFill>
        <p:spPr bwMode="auto">
          <a:xfrm>
            <a:off x="6276198" y="3681707"/>
            <a:ext cx="2600325" cy="2667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680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Вендорные</a:t>
            </a:r>
            <a:r>
              <a:rPr lang="ru-RU" dirty="0" smtClean="0"/>
              <a:t> префиксы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/>
              <a:t>Это приставки </a:t>
            </a:r>
            <a:r>
              <a:rPr lang="ru-RU" sz="3200" dirty="0" smtClean="0"/>
              <a:t>(перед именем </a:t>
            </a:r>
            <a:r>
              <a:rPr lang="en-US" sz="3200" dirty="0" smtClean="0"/>
              <a:t>CSS-</a:t>
            </a:r>
            <a:r>
              <a:rPr lang="ru-RU" sz="3200" dirty="0" smtClean="0"/>
              <a:t>свойства или функции), </a:t>
            </a:r>
            <a:r>
              <a:rPr lang="ru-RU" sz="3200" dirty="0"/>
              <a:t>используемые </a:t>
            </a:r>
            <a:r>
              <a:rPr lang="ru-RU" sz="3200" dirty="0" smtClean="0"/>
              <a:t>производителями браузеров </a:t>
            </a:r>
            <a:r>
              <a:rPr lang="ru-RU" sz="3200" dirty="0"/>
              <a:t>для </a:t>
            </a:r>
            <a:r>
              <a:rPr lang="ru-RU" sz="3200" dirty="0" smtClean="0"/>
              <a:t>экспериментальных CSS-свойств и функций.</a:t>
            </a:r>
          </a:p>
          <a:p>
            <a:r>
              <a:rPr lang="ru-RU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o-</a:t>
            </a:r>
            <a:r>
              <a:rPr lang="ru-RU" sz="3200" dirty="0"/>
              <a:t> </a:t>
            </a:r>
            <a:r>
              <a:rPr lang="ru-RU" sz="3200" dirty="0" smtClean="0"/>
              <a:t>			префикс </a:t>
            </a:r>
            <a:r>
              <a:rPr lang="ru-RU" sz="3200" dirty="0"/>
              <a:t>для </a:t>
            </a:r>
            <a:r>
              <a:rPr lang="en-US" sz="3200" dirty="0" smtClean="0"/>
              <a:t>Opera</a:t>
            </a:r>
            <a:endParaRPr lang="ru-RU" sz="3200" dirty="0"/>
          </a:p>
          <a:p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moz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3200" dirty="0" smtClean="0"/>
              <a:t>		префикс </a:t>
            </a:r>
            <a:r>
              <a:rPr lang="ru-RU" sz="3200" dirty="0"/>
              <a:t>для </a:t>
            </a:r>
            <a:r>
              <a:rPr lang="ru-RU" sz="3200" dirty="0" err="1" smtClean="0"/>
              <a:t>Mozilla</a:t>
            </a:r>
            <a:endParaRPr lang="ru-RU" sz="3200" dirty="0"/>
          </a:p>
          <a:p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ms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3200" dirty="0" smtClean="0"/>
              <a:t>		префикс </a:t>
            </a:r>
            <a:r>
              <a:rPr lang="ru-RU" sz="3200" dirty="0"/>
              <a:t>для </a:t>
            </a:r>
            <a:r>
              <a:rPr lang="en-US" sz="3200" dirty="0" smtClean="0"/>
              <a:t>IE</a:t>
            </a:r>
            <a:endParaRPr lang="ru-RU" sz="3200" dirty="0"/>
          </a:p>
          <a:p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2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webkit</a:t>
            </a:r>
            <a:r>
              <a:rPr lang="ru-RU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-		</a:t>
            </a:r>
            <a:r>
              <a:rPr lang="ru-RU" sz="3200" dirty="0" smtClean="0"/>
              <a:t>префикс </a:t>
            </a:r>
            <a:r>
              <a:rPr lang="ru-RU" sz="3200" dirty="0"/>
              <a:t>для </a:t>
            </a:r>
            <a:r>
              <a:rPr lang="ru-RU" sz="3200" dirty="0" err="1" smtClean="0"/>
              <a:t>Safari</a:t>
            </a:r>
            <a:r>
              <a:rPr lang="ru-RU" sz="3200" dirty="0" smtClean="0"/>
              <a:t> </a:t>
            </a:r>
            <a:r>
              <a:rPr lang="ru-RU" sz="3200" dirty="0"/>
              <a:t>и </a:t>
            </a:r>
            <a:r>
              <a:rPr lang="ru-RU" sz="3200" dirty="0" err="1" smtClean="0"/>
              <a:t>Chrome</a:t>
            </a: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40706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Вендорные</a:t>
            </a:r>
            <a:r>
              <a:rPr lang="ru-RU" dirty="0" smtClean="0"/>
              <a:t> префиксы и градиенты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Иногда встречается такой унаследованный код: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0064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 old syntax, </a:t>
            </a:r>
            <a:r>
              <a:rPr lang="en-US" sz="24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prefixed</a:t>
            </a:r>
            <a:r>
              <a:rPr lang="en-US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for old browsers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moz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-linear-gradient(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white)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 new syntax needed by standard-compliant browsers (Opera </a:t>
            </a:r>
            <a:r>
              <a:rPr lang="en-US" sz="24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12.1,</a:t>
            </a:r>
            <a:r>
              <a:rPr lang="ru-RU" sz="24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IE </a:t>
            </a:r>
            <a:r>
              <a:rPr lang="en-US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10, Firefox 16, Chrome 26, Safari 6.1), without prefix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linear-gradient(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bottom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white)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13896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hlinkClick r:id="rId3"/>
              </a:rPr>
              <a:t>http://www.colorzilla.com/gradient-editor/</a:t>
            </a:r>
            <a:endParaRPr lang="ru-RU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endParaRPr lang="ru-RU" sz="32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369" y="1845733"/>
            <a:ext cx="4914221" cy="444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Тень блока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273" y="1845733"/>
            <a:ext cx="11831217" cy="4036321"/>
          </a:xfrm>
        </p:spPr>
        <p:txBody>
          <a:bodyPr>
            <a:noAutofit/>
          </a:bodyPr>
          <a:lstStyle/>
          <a:p>
            <a:r>
              <a:rPr lang="ru-RU" sz="2800" dirty="0" smtClean="0"/>
              <a:t>Свойство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box-shadow</a:t>
            </a:r>
            <a:r>
              <a:rPr lang="en-US" sz="2800" dirty="0" smtClean="0"/>
              <a:t> </a:t>
            </a:r>
            <a:r>
              <a:rPr lang="ru-RU" sz="2800" dirty="0" smtClean="0"/>
              <a:t>добавляет к блоку тень (или даже несколько теней).</a:t>
            </a:r>
          </a:p>
          <a:p>
            <a:endParaRPr lang="ru-RU" sz="2800" dirty="0" smtClean="0"/>
          </a:p>
          <a:p>
            <a:r>
              <a:rPr lang="ru-RU" sz="2800" dirty="0" smtClean="0"/>
              <a:t>Синтаксис для тени такой:</a:t>
            </a:r>
          </a:p>
          <a:p>
            <a:r>
              <a:rPr lang="ru-RU" sz="2600" i="1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&lt;сдвиг по x</a:t>
            </a:r>
            <a:r>
              <a:rPr lang="ru-RU" sz="2600" i="1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&lt;</a:t>
            </a:r>
            <a:r>
              <a:rPr lang="ru-RU" sz="2600" i="1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сдвиг по y&gt; &lt;радиус размытия&gt; &lt;растяжение&gt; &lt;цвет&gt;</a:t>
            </a:r>
          </a:p>
        </p:txBody>
      </p:sp>
    </p:spTree>
    <p:extLst>
      <p:ext uri="{BB962C8B-B14F-4D97-AF65-F5344CB8AC3E}">
        <p14:creationId xmlns:p14="http://schemas.microsoft.com/office/powerpoint/2010/main" val="46196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dashed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border-radius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background-clip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content-box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box-shadow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4px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2px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gray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i="1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77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03673" y="914400"/>
            <a:ext cx="6019411" cy="5067771"/>
          </a:xfrm>
          <a:prstGeom prst="rect">
            <a:avLst/>
          </a:prstGeo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548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 блока. Отступы и поля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ru-RU" sz="3200" dirty="0" smtClean="0"/>
              <a:t>Отступы блока настраиваются через свойство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ru-RU" sz="3200" dirty="0" smtClean="0"/>
              <a:t>, поля – через свойство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</a:t>
            </a:r>
            <a:r>
              <a:rPr lang="ru-RU" sz="3200" dirty="0" smtClean="0"/>
              <a:t>.</a:t>
            </a:r>
          </a:p>
          <a:p>
            <a:pPr>
              <a:spcBef>
                <a:spcPts val="2400"/>
              </a:spcBef>
            </a:pPr>
            <a:r>
              <a:rPr lang="ru-RU" sz="3200" dirty="0" smtClean="0"/>
              <a:t>При этом могут использоваться отдельные свойства для сторон блока (например,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padding-top</a:t>
            </a:r>
            <a:r>
              <a:rPr lang="en-US" sz="3200" dirty="0" smtClean="0"/>
              <a:t>). </a:t>
            </a:r>
            <a:r>
              <a:rPr lang="ru-RU" sz="3200" dirty="0" smtClean="0"/>
              <a:t>Или можно указать одно-два-три-четыре значения через пробел.</a:t>
            </a:r>
          </a:p>
          <a:p>
            <a:pPr>
              <a:spcBef>
                <a:spcPts val="2400"/>
              </a:spcBef>
            </a:pPr>
            <a:r>
              <a:rPr lang="ru-RU" sz="3200" dirty="0" smtClean="0"/>
              <a:t>Значения свойств – любая единица размера или проценты.</a:t>
            </a:r>
            <a:r>
              <a:rPr lang="en-US" sz="3200" dirty="0" smtClean="0"/>
              <a:t> </a:t>
            </a:r>
            <a:r>
              <a:rPr lang="ru-RU" sz="3200" dirty="0" smtClean="0"/>
              <a:t>Для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</a:t>
            </a:r>
            <a:r>
              <a:rPr lang="en-US" sz="3200" dirty="0" smtClean="0"/>
              <a:t> </a:t>
            </a:r>
            <a:r>
              <a:rPr lang="ru-RU" sz="3200" dirty="0" smtClean="0"/>
              <a:t>можно указать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3200" dirty="0" smtClean="0"/>
              <a:t> (</a:t>
            </a:r>
            <a:r>
              <a:rPr lang="ru-RU" sz="3200" dirty="0"/>
              <a:t>размер </a:t>
            </a:r>
            <a:r>
              <a:rPr lang="ru-RU" sz="3200" dirty="0" smtClean="0"/>
              <a:t>будет </a:t>
            </a:r>
            <a:r>
              <a:rPr lang="ru-RU" sz="3200" dirty="0"/>
              <a:t>автоматически рассчитан браузером</a:t>
            </a:r>
            <a:r>
              <a:rPr lang="en-US" sz="3200" dirty="0" smtClean="0"/>
              <a:t>).</a:t>
            </a:r>
            <a:endParaRPr lang="ru-RU" sz="32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77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Отступы </a:t>
            </a:r>
            <a:r>
              <a:rPr lang="ru-RU" dirty="0" smtClean="0"/>
              <a:t>и поля</a:t>
            </a:r>
            <a:r>
              <a:rPr lang="ru-RU" dirty="0"/>
              <a:t> – </a:t>
            </a:r>
            <a:r>
              <a:rPr lang="ru-RU" dirty="0" smtClean="0"/>
              <a:t>пример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hotpink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50px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955" y="1845733"/>
            <a:ext cx="465772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6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Отступы и поля</a:t>
            </a:r>
            <a:r>
              <a:rPr lang="ru-RU" dirty="0"/>
              <a:t> – </a:t>
            </a:r>
            <a:r>
              <a:rPr lang="ru-RU" dirty="0" smtClean="0"/>
              <a:t>пример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hotpink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-10px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2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863" y="1845733"/>
            <a:ext cx="4066817" cy="443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9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Ширина и высота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У блока можно принудительно задать ширину (свойство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3200" dirty="0" smtClean="0"/>
              <a:t>) </a:t>
            </a:r>
            <a:r>
              <a:rPr lang="ru-RU" sz="3200" dirty="0" smtClean="0"/>
              <a:t>и высоту (свойство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3200" dirty="0" smtClean="0"/>
              <a:t>).</a:t>
            </a:r>
          </a:p>
          <a:p>
            <a:endParaRPr lang="en-US" sz="1400" dirty="0" smtClean="0"/>
          </a:p>
          <a:p>
            <a:r>
              <a:rPr lang="ru-RU" sz="3200" dirty="0" smtClean="0"/>
              <a:t>Для </a:t>
            </a:r>
            <a:r>
              <a:rPr lang="ru-RU" sz="3200" dirty="0"/>
              <a:t>значений этих свойств можно использовать любую допустимую в </a:t>
            </a:r>
            <a:r>
              <a:rPr lang="en-US" sz="3200" dirty="0"/>
              <a:t>CSS </a:t>
            </a:r>
            <a:r>
              <a:rPr lang="ru-RU" sz="3200" dirty="0"/>
              <a:t>единицу измерения</a:t>
            </a:r>
            <a:r>
              <a:rPr lang="ru-RU" sz="3200" dirty="0" smtClean="0"/>
              <a:t>.</a:t>
            </a:r>
          </a:p>
          <a:p>
            <a:endParaRPr lang="ru-RU" sz="1600" dirty="0"/>
          </a:p>
          <a:p>
            <a:r>
              <a:rPr lang="ru-RU" sz="3200" dirty="0"/>
              <a:t>Если у блока задана ширина, а значение левого и правого поля установлены в значение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3200" dirty="0"/>
              <a:t>, </a:t>
            </a:r>
            <a:r>
              <a:rPr lang="ru-RU" sz="3200" dirty="0"/>
              <a:t>то блок </a:t>
            </a:r>
            <a:r>
              <a:rPr lang="ru-RU" sz="3200" dirty="0" smtClean="0"/>
              <a:t>центрируется </a:t>
            </a:r>
            <a:r>
              <a:rPr lang="ru-RU" sz="3200" dirty="0"/>
              <a:t>на странице</a:t>
            </a:r>
            <a:r>
              <a:rPr lang="ru-RU" sz="3200" dirty="0" smtClean="0"/>
              <a:t>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21788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Ширина и высота – пример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250px</a:t>
            </a: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hotpink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60px</a:t>
            </a:r>
            <a:r>
              <a:rPr lang="en-US" sz="2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2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88" y="1845733"/>
            <a:ext cx="4071592" cy="442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6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с шириной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Есть три свойства, связанные с шириной, которые у блока можно установить в значение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ru-RU" sz="3200" dirty="0" smtClean="0"/>
              <a:t>: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ru-RU" sz="3200" dirty="0" smtClean="0"/>
              <a:t>,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pPr>
              <a:spcBef>
                <a:spcPts val="1800"/>
              </a:spcBef>
            </a:pPr>
            <a:r>
              <a:rPr lang="ru-RU" sz="3200" dirty="0" smtClean="0"/>
              <a:t>Кстати, по умолчанию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36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133600" y="1846263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Пусть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ru-RU" sz="3200" dirty="0" smtClean="0"/>
              <a:t> используется </a:t>
            </a:r>
            <a:r>
              <a:rPr lang="ru-RU" sz="3200" b="1" dirty="0" smtClean="0"/>
              <a:t>ровно для одного</a:t>
            </a:r>
            <a:r>
              <a:rPr lang="ru-RU" sz="3200" dirty="0" smtClean="0"/>
              <a:t> из свойств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r>
              <a:rPr lang="ru-RU" sz="3200" dirty="0" smtClean="0"/>
              <a:t>В этом случае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3200" dirty="0" smtClean="0"/>
              <a:t>-</a:t>
            </a:r>
            <a:r>
              <a:rPr lang="ru-RU" sz="3200" dirty="0" smtClean="0"/>
              <a:t>свойство получает значение, чтобы общая ширина блока была равна общей ширине родительского элемента.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8009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"/>
            <a:ext cx="12042775" cy="58816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p.one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250px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margin-right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/*by default*/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p.three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250px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28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8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008" y="0"/>
            <a:ext cx="5361993" cy="612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69911" y="1361071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Пусть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ru-RU" sz="3200" dirty="0" smtClean="0"/>
              <a:t> используется </a:t>
            </a:r>
            <a:r>
              <a:rPr lang="ru-RU" sz="3200" b="1" dirty="0" smtClean="0"/>
              <a:t>ровно для двух</a:t>
            </a:r>
            <a:r>
              <a:rPr lang="ru-RU" sz="3200" dirty="0" smtClean="0"/>
              <a:t> свойств</a:t>
            </a:r>
            <a:r>
              <a:rPr lang="en-US" sz="3200" dirty="0" smtClean="0"/>
              <a:t>.</a:t>
            </a:r>
          </a:p>
          <a:p>
            <a:endParaRPr lang="ru-RU" sz="3200" dirty="0" smtClean="0"/>
          </a:p>
          <a:p>
            <a:r>
              <a:rPr lang="ru-RU" sz="3200" dirty="0" smtClean="0"/>
              <a:t>Если это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margin-*</a:t>
            </a:r>
            <a:r>
              <a:rPr lang="en-US" sz="3200" dirty="0" smtClean="0"/>
              <a:t>,</a:t>
            </a:r>
            <a:r>
              <a:rPr lang="ru-RU" sz="3200" dirty="0" smtClean="0"/>
              <a:t> то блок центрируется в родителе.</a:t>
            </a:r>
          </a:p>
          <a:p>
            <a:r>
              <a:rPr lang="ru-RU" sz="3200" dirty="0" smtClean="0"/>
              <a:t>Если это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3200" dirty="0" smtClean="0"/>
              <a:t> </a:t>
            </a:r>
            <a:r>
              <a:rPr lang="ru-RU" sz="3200" dirty="0" smtClean="0"/>
              <a:t>и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3200" dirty="0" smtClean="0"/>
              <a:t> </a:t>
            </a:r>
            <a:r>
              <a:rPr lang="ru-RU" sz="3200" dirty="0" smtClean="0"/>
              <a:t>(или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3200" dirty="0" smtClean="0"/>
              <a:t> </a:t>
            </a:r>
            <a:r>
              <a:rPr lang="ru-RU" sz="3200" dirty="0" smtClean="0"/>
              <a:t>и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3200" dirty="0" smtClean="0"/>
              <a:t>), </a:t>
            </a:r>
            <a:r>
              <a:rPr lang="ru-RU" sz="3200" dirty="0" smtClean="0"/>
              <a:t>то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3200" dirty="0" smtClean="0"/>
              <a:t> </a:t>
            </a:r>
            <a:r>
              <a:rPr lang="ru-RU" sz="3200" dirty="0" smtClean="0"/>
              <a:t>для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margin-*</a:t>
            </a:r>
            <a:r>
              <a:rPr lang="en-US" sz="3200" dirty="0" smtClean="0"/>
              <a:t> </a:t>
            </a:r>
            <a:r>
              <a:rPr lang="ru-RU" sz="3200" dirty="0" smtClean="0"/>
              <a:t>будет означать 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ru-RU" sz="3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520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-20389"/>
            <a:ext cx="100584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p.one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250px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/*by default*/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p.three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751" y="0"/>
            <a:ext cx="5623249" cy="64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1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83298" y="1099814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Пусть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ru-RU" sz="3200" dirty="0" smtClean="0"/>
              <a:t> используется </a:t>
            </a:r>
            <a:r>
              <a:rPr lang="ru-RU" sz="3200" b="1" dirty="0" smtClean="0"/>
              <a:t>для всех трёх</a:t>
            </a:r>
            <a:r>
              <a:rPr lang="ru-RU" sz="3200" dirty="0" smtClean="0"/>
              <a:t> свойств</a:t>
            </a:r>
            <a:r>
              <a:rPr lang="en-US" sz="3200" dirty="0" smtClean="0"/>
              <a:t>.</a:t>
            </a:r>
          </a:p>
          <a:p>
            <a:r>
              <a:rPr lang="ru-RU" sz="3200" dirty="0" smtClean="0"/>
              <a:t>В этом случае оба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margin-*</a:t>
            </a:r>
            <a:r>
              <a:rPr lang="en-US" sz="3200" dirty="0" smtClean="0"/>
              <a:t>,</a:t>
            </a:r>
            <a:r>
              <a:rPr lang="ru-RU" sz="3200" dirty="0" smtClean="0"/>
              <a:t> устанавливаются в </a:t>
            </a:r>
            <a:r>
              <a:rPr lang="ru-RU" sz="3200" dirty="0" smtClean="0">
                <a:solidFill>
                  <a:srgbClr val="0000FF"/>
                </a:solidFill>
              </a:rPr>
              <a:t>0</a:t>
            </a:r>
            <a:r>
              <a:rPr lang="ru-RU" sz="3200" dirty="0" smtClean="0"/>
              <a:t>, а свойство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3200" dirty="0" smtClean="0"/>
              <a:t> </a:t>
            </a:r>
            <a:r>
              <a:rPr lang="ru-RU" sz="3200" dirty="0" smtClean="0"/>
              <a:t>становится равным ширине родителя.</a:t>
            </a:r>
          </a:p>
          <a:p>
            <a:endParaRPr lang="ru-RU" sz="3200" dirty="0" smtClean="0"/>
          </a:p>
          <a:p>
            <a:r>
              <a:rPr lang="ru-RU" sz="3200" dirty="0" smtClean="0"/>
              <a:t>Если </a:t>
            </a:r>
            <a:r>
              <a:rPr lang="ru-RU" sz="3200" dirty="0"/>
              <a:t>же заданы </a:t>
            </a:r>
            <a:r>
              <a:rPr lang="ru-RU" sz="3200" b="1" dirty="0"/>
              <a:t>конкретные значения</a:t>
            </a:r>
            <a:r>
              <a:rPr lang="ru-RU" sz="3200" dirty="0"/>
              <a:t> для всех трёх свойств 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ru-RU" sz="3200" dirty="0"/>
              <a:t>), то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ru-RU" sz="3200" dirty="0"/>
              <a:t> </a:t>
            </a:r>
            <a:r>
              <a:rPr lang="ru-RU" sz="3200" dirty="0" smtClean="0"/>
              <a:t>принудительно </a:t>
            </a:r>
            <a:r>
              <a:rPr lang="ru-RU" sz="3200" dirty="0"/>
              <a:t>получает значение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3200" dirty="0" smtClean="0"/>
              <a:t>.</a:t>
            </a: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213067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0"/>
            <a:ext cx="100584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p.one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  <a:endParaRPr lang="en-US" sz="2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7415" b="38933"/>
          <a:stretch/>
        </p:blipFill>
        <p:spPr>
          <a:xfrm>
            <a:off x="5670979" y="2724539"/>
            <a:ext cx="6521022" cy="268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3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56522" y="1006508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Особый случай: </a:t>
            </a:r>
            <a:r>
              <a:rPr lang="ru-RU" sz="3200" i="1" dirty="0" smtClean="0"/>
              <a:t>заменяемые</a:t>
            </a:r>
            <a:r>
              <a:rPr lang="ru-RU" sz="3200" dirty="0" smtClean="0"/>
              <a:t> элементы (например, </a:t>
            </a: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img</a:t>
            </a:r>
            <a:r>
              <a:rPr lang="ru-RU" sz="3200" dirty="0" smtClean="0"/>
              <a:t>).</a:t>
            </a:r>
          </a:p>
          <a:p>
            <a:endParaRPr lang="ru-RU" sz="3200" dirty="0"/>
          </a:p>
          <a:p>
            <a:r>
              <a:rPr lang="ru-RU" sz="3200" dirty="0" smtClean="0"/>
              <a:t>У таких элементов при установке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3200" dirty="0" smtClean="0"/>
              <a:t> </a:t>
            </a:r>
            <a:r>
              <a:rPr lang="ru-RU" sz="3200" dirty="0" smtClean="0"/>
              <a:t>в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ru-RU" sz="3200" dirty="0"/>
              <a:t> </a:t>
            </a:r>
            <a:r>
              <a:rPr lang="ru-RU" sz="3200" dirty="0" smtClean="0"/>
              <a:t>реальное значение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3200" dirty="0" smtClean="0"/>
              <a:t> </a:t>
            </a:r>
            <a:r>
              <a:rPr lang="ru-RU" sz="3200" dirty="0" smtClean="0"/>
              <a:t>берётся из замещающего контента.</a:t>
            </a:r>
          </a:p>
        </p:txBody>
      </p:sp>
    </p:spTree>
    <p:extLst>
      <p:ext uri="{BB962C8B-B14F-4D97-AF65-F5344CB8AC3E}">
        <p14:creationId xmlns:p14="http://schemas.microsoft.com/office/powerpoint/2010/main" val="172068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с высотой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 lvl="0">
              <a:buClr>
                <a:srgbClr val="1CADE4"/>
              </a:buClr>
            </a:pP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Есть три свойства, связанные с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высотой, 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которые у блока можно установить в значение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: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margin-top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margin-bottom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ru-RU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0">
              <a:spcBef>
                <a:spcPts val="1800"/>
              </a:spcBef>
              <a:buClr>
                <a:srgbClr val="1CADE4"/>
              </a:buClr>
            </a:pP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Кстати, по умолчанию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margin-top</a:t>
            </a:r>
            <a:r>
              <a:rPr lang="ru-RU" sz="2800" dirty="0" smtClean="0">
                <a:solidFill>
                  <a:prstClr val="black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ru-RU" sz="2800" dirty="0">
                <a:solidFill>
                  <a:prstClr val="black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ru-RU" sz="2800" dirty="0" smtClean="0">
                <a:solidFill>
                  <a:prstClr val="black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>
                <a:solidFill>
                  <a:prstClr val="black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margin-bottom</a:t>
            </a:r>
            <a:r>
              <a:rPr lang="en-US" sz="2800" dirty="0" smtClean="0">
                <a:solidFill>
                  <a:prstClr val="black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prstClr val="black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64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39282" y="1529022"/>
            <a:ext cx="10058400" cy="4035425"/>
          </a:xfrm>
        </p:spPr>
        <p:txBody>
          <a:bodyPr>
            <a:noAutofit/>
          </a:bodyPr>
          <a:lstStyle/>
          <a:p>
            <a:pPr lvl="0"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Установка любого из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margin-top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или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margin-bottom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в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эквивалентна обнулению!</a:t>
            </a:r>
          </a:p>
          <a:p>
            <a:pPr lvl="0">
              <a:buClr>
                <a:srgbClr val="1CADE4"/>
              </a:buClr>
            </a:pPr>
            <a:endParaRPr lang="ru-RU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0"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И помним про вертикальное схлопывание отступов.</a:t>
            </a:r>
          </a:p>
        </p:txBody>
      </p:sp>
    </p:spTree>
    <p:extLst>
      <p:ext uri="{BB962C8B-B14F-4D97-AF65-F5344CB8AC3E}">
        <p14:creationId xmlns:p14="http://schemas.microsoft.com/office/powerpoint/2010/main" val="356514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5194"/>
            <a:ext cx="100584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p.one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margin-top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margin-bottom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margin-top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margin-bottom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p.threetwo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margin-top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margin-bottom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  <a:endParaRPr lang="ru-RU" sz="2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15" y="-1"/>
            <a:ext cx="6183086" cy="562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6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25893" y="1305088"/>
            <a:ext cx="10058400" cy="4035425"/>
          </a:xfrm>
        </p:spPr>
        <p:txBody>
          <a:bodyPr>
            <a:noAutofit/>
          </a:bodyPr>
          <a:lstStyle/>
          <a:p>
            <a:pPr lvl="0"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Пусть у блока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установлено в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Фактическая высота будет зависеть от наличия у этого блока границ и отступов 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padding-*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):</a:t>
            </a:r>
          </a:p>
          <a:p>
            <a:pPr lvl="0"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1. Границы и (или) отступы есть: учитываем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вертикальные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детей</a:t>
            </a:r>
          </a:p>
          <a:p>
            <a:pPr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2. Границ и отступов нет: не учитываем вертикальные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детей</a:t>
            </a:r>
          </a:p>
        </p:txBody>
      </p:sp>
    </p:spTree>
    <p:extLst>
      <p:ext uri="{BB962C8B-B14F-4D97-AF65-F5344CB8AC3E}">
        <p14:creationId xmlns:p14="http://schemas.microsoft.com/office/powerpoint/2010/main" val="268624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1081"/>
            <a:ext cx="100584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margin-top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margin-bottom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765" y="25096"/>
            <a:ext cx="7488235" cy="585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9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5510" y="43759"/>
            <a:ext cx="100584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margin-top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margin-bottom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535" y="690465"/>
            <a:ext cx="7170465" cy="560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1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02433" y="913202"/>
            <a:ext cx="10344539" cy="4035425"/>
          </a:xfrm>
        </p:spPr>
        <p:txBody>
          <a:bodyPr>
            <a:noAutofit/>
          </a:bodyPr>
          <a:lstStyle/>
          <a:p>
            <a:pPr lvl="0"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Всё, что описывалось раньше справедливо </a:t>
            </a:r>
            <a:r>
              <a:rPr lang="ru-RU" sz="32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для блочных элементов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lvl="0"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Для элементов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inline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(делает элемент строчным)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свойства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и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вообще не играют роли! </a:t>
            </a:r>
          </a:p>
          <a:p>
            <a:pPr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Однако эти свойства работают, если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 smtClean="0">
                <a:solidFill>
                  <a:prstClr val="black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inline-block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r>
              <a:rPr lang="ru-RU" sz="3200" dirty="0"/>
              <a:t> </a:t>
            </a:r>
            <a:r>
              <a:rPr lang="ru-RU" sz="3200" dirty="0" smtClean="0"/>
              <a:t>Элемент ведет себя </a:t>
            </a:r>
            <a:r>
              <a:rPr lang="ru-RU" sz="3200" dirty="0"/>
              <a:t>как блочный, включая все свойства блочной модели </a:t>
            </a:r>
            <a:r>
              <a:rPr lang="ru-RU" sz="3200" dirty="0" smtClean="0"/>
              <a:t>, но отображается </a:t>
            </a:r>
            <a:r>
              <a:rPr lang="ru-RU" sz="3200" dirty="0"/>
              <a:t>на строке с другими элементами, а не </a:t>
            </a:r>
            <a:r>
              <a:rPr lang="ru-RU" sz="3200" dirty="0" smtClean="0"/>
              <a:t>начинается </a:t>
            </a:r>
            <a:r>
              <a:rPr lang="ru-RU" sz="3200" dirty="0"/>
              <a:t>с новой строки по умолчанию.</a:t>
            </a:r>
          </a:p>
          <a:p>
            <a:pPr lvl="0">
              <a:buClr>
                <a:srgbClr val="1CADE4"/>
              </a:buClr>
            </a:pPr>
            <a:endParaRPr lang="en-US" sz="32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86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6290"/>
            <a:ext cx="100584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15px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p.one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inline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inline-block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544" y="122161"/>
            <a:ext cx="5911876" cy="630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4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63433" y="726622"/>
            <a:ext cx="11329987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Свойство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overflow</a:t>
            </a:r>
            <a:r>
              <a:rPr lang="ru-RU" sz="3200" dirty="0"/>
              <a:t> управляет </a:t>
            </a:r>
            <a:r>
              <a:rPr lang="ru-RU" sz="3200" dirty="0" smtClean="0"/>
              <a:t>отображением, </a:t>
            </a:r>
            <a:r>
              <a:rPr lang="ru-RU" sz="3200" dirty="0"/>
              <a:t>если </a:t>
            </a:r>
            <a:r>
              <a:rPr lang="ru-RU" sz="3200" dirty="0" smtClean="0"/>
              <a:t>содержимое выходит </a:t>
            </a:r>
            <a:r>
              <a:rPr lang="ru-RU" sz="3200" dirty="0"/>
              <a:t>за </a:t>
            </a:r>
            <a:r>
              <a:rPr lang="ru-RU" sz="3200" dirty="0" smtClean="0"/>
              <a:t>размеры блока</a:t>
            </a:r>
            <a:r>
              <a:rPr lang="ru-RU" sz="3200" dirty="0"/>
              <a:t> (длиннее, чем его контейнер) </a:t>
            </a:r>
            <a:r>
              <a:rPr lang="ru-RU" sz="3200" dirty="0" smtClean="0"/>
              <a:t>:</a:t>
            </a:r>
          </a:p>
          <a:p>
            <a:endParaRPr lang="ru-RU" sz="1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visible</a:t>
            </a:r>
            <a:r>
              <a:rPr lang="ru-RU" sz="3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3000" dirty="0" smtClean="0"/>
              <a:t>показывается все содержимое, даже за пределами</a:t>
            </a:r>
            <a:endParaRPr lang="en-US" sz="3000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smtClean="0"/>
              <a:t>		</a:t>
            </a:r>
            <a:r>
              <a:rPr lang="ru-RU" sz="3000" dirty="0" smtClean="0"/>
              <a:t>установленной высоты и ширины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hidden</a:t>
            </a:r>
            <a:r>
              <a:rPr lang="ru-RU" sz="3000" dirty="0" smtClean="0"/>
              <a:t>	отображается </a:t>
            </a:r>
            <a:r>
              <a:rPr lang="ru-RU" sz="3000" dirty="0"/>
              <a:t>только область внутри </a:t>
            </a:r>
            <a:r>
              <a:rPr lang="ru-RU" sz="3000" dirty="0" smtClean="0"/>
              <a:t>элемента,</a:t>
            </a:r>
            <a:endParaRPr lang="en-US" sz="3000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	</a:t>
            </a:r>
            <a:r>
              <a:rPr lang="en-US" sz="3000" dirty="0" smtClean="0"/>
              <a:t>	</a:t>
            </a:r>
            <a:r>
              <a:rPr lang="ru-RU" sz="3000" dirty="0" smtClean="0"/>
              <a:t>остальное </a:t>
            </a:r>
            <a:r>
              <a:rPr lang="ru-RU" sz="3000" dirty="0"/>
              <a:t>будет </a:t>
            </a:r>
            <a:r>
              <a:rPr lang="ru-RU" sz="3000" dirty="0" smtClean="0"/>
              <a:t>скрыто</a:t>
            </a:r>
            <a:endParaRPr lang="ru-RU" sz="3000" dirty="0"/>
          </a:p>
          <a:p>
            <a:pPr marL="0" indent="0">
              <a:buNone/>
            </a:pP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scroll</a:t>
            </a:r>
            <a:r>
              <a:rPr lang="ru-RU" sz="3000" dirty="0" smtClean="0"/>
              <a:t>	всегда </a:t>
            </a:r>
            <a:r>
              <a:rPr lang="ru-RU" sz="3000" dirty="0"/>
              <a:t>добавляются полосы </a:t>
            </a:r>
            <a:r>
              <a:rPr lang="ru-RU" sz="3000" dirty="0" smtClean="0"/>
              <a:t>прокрутки</a:t>
            </a:r>
            <a:endParaRPr lang="ru-RU" sz="3000" dirty="0"/>
          </a:p>
          <a:p>
            <a:pPr marL="0" indent="0">
              <a:buNone/>
            </a:pP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ru-RU" sz="3000" dirty="0" smtClean="0"/>
              <a:t>		полосы </a:t>
            </a:r>
            <a:r>
              <a:rPr lang="ru-RU" sz="3000" dirty="0"/>
              <a:t>прокрутки добавляются </a:t>
            </a:r>
            <a:r>
              <a:rPr lang="ru-RU" sz="3000" dirty="0" smtClean="0"/>
              <a:t>при необходимости</a:t>
            </a:r>
            <a:r>
              <a:rPr lang="ru-RU" sz="3200" dirty="0"/>
              <a:t> , </a:t>
            </a:r>
            <a:r>
              <a:rPr lang="ru-RU" sz="3000" dirty="0"/>
              <a:t>если содержимое будет </a:t>
            </a:r>
            <a:r>
              <a:rPr lang="ru-RU" sz="3000" dirty="0" smtClean="0"/>
              <a:t>переполнено</a:t>
            </a:r>
          </a:p>
          <a:p>
            <a:pPr marL="0" indent="0">
              <a:buNone/>
            </a:pPr>
            <a:r>
              <a:rPr lang="ru-RU" sz="2800" i="1" dirty="0"/>
              <a:t>Есть отдельно </a:t>
            </a:r>
            <a:r>
              <a:rPr lang="ru-RU" sz="2800" i="1" dirty="0" err="1"/>
              <a:t>overflow</a:t>
            </a:r>
            <a:r>
              <a:rPr lang="ru-RU" sz="2800" i="1" dirty="0"/>
              <a:t>-</a:t>
            </a:r>
            <a:r>
              <a:rPr lang="en-US" sz="2800" i="1" dirty="0"/>
              <a:t>x</a:t>
            </a:r>
            <a:r>
              <a:rPr lang="ru-RU" sz="2800" i="1" dirty="0"/>
              <a:t> и </a:t>
            </a:r>
            <a:r>
              <a:rPr lang="ru-RU" sz="2800" i="1" dirty="0" err="1"/>
              <a:t>overflow</a:t>
            </a:r>
            <a:r>
              <a:rPr lang="ru-RU" sz="2800" i="1" dirty="0"/>
              <a:t>-</a:t>
            </a:r>
            <a:r>
              <a:rPr lang="en-US" sz="2800" i="1" dirty="0"/>
              <a:t>y</a:t>
            </a:r>
            <a:endParaRPr lang="ru-RU" sz="2800" dirty="0"/>
          </a:p>
          <a:p>
            <a:pPr marL="0" indent="0">
              <a:buNone/>
            </a:pP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191731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0"/>
            <a:ext cx="100584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250px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35px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p.one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overflow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visible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overflow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hidden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p.three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overflow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endParaRPr lang="ru-RU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713" y="32483"/>
            <a:ext cx="6379288" cy="480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1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2588" y="1081153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Если у блока не задана ширина, он растягивается вместе со своим родительским элементом (например, окном браузера)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endParaRPr lang="ru-RU" dirty="0"/>
          </a:p>
          <a:p>
            <a:r>
              <a:rPr lang="ru-RU" sz="3200" dirty="0" smtClean="0"/>
              <a:t>Контролировать границы растяжения можно при помощи свойств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min-width</a:t>
            </a:r>
            <a:r>
              <a:rPr lang="en-US" sz="3200" dirty="0" smtClean="0"/>
              <a:t> </a:t>
            </a:r>
            <a:r>
              <a:rPr lang="ru-RU" sz="3200" dirty="0" smtClean="0"/>
              <a:t>и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max-width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endParaRPr lang="en-US" dirty="0" smtClean="0"/>
          </a:p>
          <a:p>
            <a:r>
              <a:rPr lang="ru-RU" sz="3200" dirty="0" smtClean="0"/>
              <a:t>Существуют также свойства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min-height</a:t>
            </a:r>
            <a:r>
              <a:rPr lang="en-US" sz="3200" dirty="0" smtClean="0"/>
              <a:t> </a:t>
            </a:r>
            <a:r>
              <a:rPr lang="ru-RU" sz="3200" dirty="0"/>
              <a:t>и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max-height</a:t>
            </a:r>
            <a:r>
              <a:rPr lang="ru-RU" sz="3200" dirty="0" smtClean="0"/>
              <a:t>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1045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119674" y="1694671"/>
            <a:ext cx="2989263" cy="4035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023" y="1855056"/>
            <a:ext cx="4867275" cy="3095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7491" y="5068377"/>
            <a:ext cx="4642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min-width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max-width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400px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381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Свойство </a:t>
            </a:r>
            <a:r>
              <a:rPr lang="en-US" dirty="0" smtClean="0"/>
              <a:t>box-sizing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Общая ширина блока</a:t>
            </a:r>
            <a:r>
              <a:rPr lang="ru-RU" sz="3200" dirty="0" smtClean="0"/>
              <a:t>= </a:t>
            </a:r>
            <a:r>
              <a:rPr lang="ru-RU" sz="3200" b="1" dirty="0" err="1" smtClean="0"/>
              <a:t>width</a:t>
            </a:r>
            <a:r>
              <a:rPr lang="ru-RU" sz="3200" b="1" dirty="0" smtClean="0"/>
              <a:t> </a:t>
            </a:r>
            <a:r>
              <a:rPr lang="ru-RU" sz="3200" dirty="0" smtClean="0"/>
              <a:t>+ </a:t>
            </a:r>
            <a:r>
              <a:rPr lang="ru-RU" sz="3200" b="1" dirty="0" err="1" smtClean="0"/>
              <a:t>padding</a:t>
            </a:r>
            <a:r>
              <a:rPr lang="ru-RU" sz="3200" b="1" dirty="0" smtClean="0"/>
              <a:t> </a:t>
            </a:r>
            <a:r>
              <a:rPr lang="ru-RU" sz="3200" dirty="0" smtClean="0"/>
              <a:t>+ </a:t>
            </a:r>
            <a:r>
              <a:rPr lang="ru-RU" sz="3200" b="1" dirty="0" err="1" smtClean="0"/>
              <a:t>border</a:t>
            </a:r>
            <a:r>
              <a:rPr lang="ru-RU" sz="3200" b="1" dirty="0" smtClean="0"/>
              <a:t> </a:t>
            </a:r>
            <a:r>
              <a:rPr lang="ru-RU" sz="3200" dirty="0" smtClean="0"/>
              <a:t>+ </a:t>
            </a:r>
            <a:r>
              <a:rPr lang="ru-RU" sz="3200" b="1" dirty="0" err="1" smtClean="0"/>
              <a:t>margin</a:t>
            </a:r>
            <a:r>
              <a:rPr lang="ru-RU" sz="3200" dirty="0" smtClean="0"/>
              <a:t> (аналогично высота). Это алгоритм по умолчанию.</a:t>
            </a:r>
          </a:p>
          <a:p>
            <a:r>
              <a:rPr lang="ru-RU" sz="3200" dirty="0" smtClean="0"/>
              <a:t>Свойство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box-sizing</a:t>
            </a:r>
            <a:r>
              <a:rPr lang="ru-RU" sz="3200" dirty="0"/>
              <a:t> </a:t>
            </a:r>
            <a:r>
              <a:rPr lang="ru-RU" sz="3200" dirty="0" smtClean="0"/>
              <a:t>позволяет </a:t>
            </a:r>
            <a:r>
              <a:rPr lang="ru-RU" sz="3200" dirty="0"/>
              <a:t>изменить </a:t>
            </a:r>
            <a:r>
              <a:rPr lang="ru-RU" sz="3200" dirty="0" smtClean="0"/>
              <a:t>алгоритм:</a:t>
            </a:r>
          </a:p>
          <a:p>
            <a:pPr>
              <a:spcBef>
                <a:spcPts val="600"/>
              </a:spcBef>
            </a:pPr>
            <a:r>
              <a:rPr lang="ru-RU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content-box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3200" dirty="0" smtClean="0"/>
              <a:t>алгоритм по умолчанию</a:t>
            </a:r>
          </a:p>
          <a:p>
            <a:pPr>
              <a:spcBef>
                <a:spcPts val="600"/>
              </a:spcBef>
            </a:pPr>
            <a:r>
              <a:rPr lang="ru-RU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border-box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3200" dirty="0" err="1" smtClean="0"/>
              <a:t>width</a:t>
            </a:r>
            <a:r>
              <a:rPr lang="ru-RU" sz="3200" dirty="0" smtClean="0"/>
              <a:t> </a:t>
            </a:r>
            <a:r>
              <a:rPr lang="ru-RU" sz="3200" dirty="0"/>
              <a:t>и </a:t>
            </a:r>
            <a:r>
              <a:rPr lang="ru-RU" sz="3200" dirty="0" err="1"/>
              <a:t>height</a:t>
            </a:r>
            <a:r>
              <a:rPr lang="ru-RU" sz="3200" dirty="0"/>
              <a:t> включают </a:t>
            </a:r>
            <a:r>
              <a:rPr lang="ru-RU" sz="3200" dirty="0" smtClean="0"/>
              <a:t>контент, </a:t>
            </a:r>
            <a:r>
              <a:rPr lang="en-US" sz="3200" dirty="0" smtClean="0"/>
              <a:t>padding, border</a:t>
            </a:r>
            <a:r>
              <a:rPr lang="ru-RU" sz="3200" dirty="0" smtClean="0"/>
              <a:t>, </a:t>
            </a:r>
            <a:r>
              <a:rPr lang="ru-RU" sz="3200" dirty="0"/>
              <a:t>но не </a:t>
            </a:r>
            <a:r>
              <a:rPr lang="ru-RU" sz="3200" dirty="0" err="1" smtClean="0"/>
              <a:t>margin</a:t>
            </a:r>
            <a:r>
              <a:rPr lang="ru-RU" sz="3200" dirty="0" smtClean="0"/>
              <a:t> </a:t>
            </a:r>
            <a:r>
              <a:rPr lang="en-US" sz="3200" dirty="0" smtClean="0"/>
              <a:t>(</a:t>
            </a:r>
            <a:r>
              <a:rPr lang="ru-RU" sz="3200" dirty="0" smtClean="0"/>
              <a:t>IE </a:t>
            </a:r>
            <a:r>
              <a:rPr lang="ru-RU" sz="3200" dirty="0"/>
              <a:t>в режиме </a:t>
            </a:r>
            <a:r>
              <a:rPr lang="ru-RU" sz="3200" dirty="0" smtClean="0"/>
              <a:t>совместимости</a:t>
            </a:r>
            <a:r>
              <a:rPr lang="en-US" sz="3200" dirty="0" smtClean="0"/>
              <a:t>)</a:t>
            </a:r>
            <a:endParaRPr lang="ru-RU" sz="3200" dirty="0"/>
          </a:p>
          <a:p>
            <a:pPr>
              <a:spcBef>
                <a:spcPts val="600"/>
              </a:spcBef>
            </a:pPr>
            <a:r>
              <a:rPr lang="ru-RU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padding-box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3200" dirty="0" smtClean="0"/>
              <a:t>(убрали </a:t>
            </a:r>
            <a:r>
              <a:rPr lang="ru-RU" sz="3200" dirty="0"/>
              <a:t>из спецификации</a:t>
            </a:r>
            <a:r>
              <a:rPr lang="ru-RU" sz="3200" dirty="0" smtClean="0"/>
              <a:t>)</a:t>
            </a:r>
            <a:r>
              <a:rPr lang="en-US" sz="3200" dirty="0" smtClean="0"/>
              <a:t> w</a:t>
            </a:r>
            <a:r>
              <a:rPr lang="ru-RU" sz="3200" dirty="0" err="1" smtClean="0"/>
              <a:t>idth</a:t>
            </a:r>
            <a:r>
              <a:rPr lang="ru-RU" sz="3200" dirty="0" smtClean="0"/>
              <a:t> </a:t>
            </a:r>
            <a:r>
              <a:rPr lang="ru-RU" sz="3200" dirty="0"/>
              <a:t>и </a:t>
            </a:r>
            <a:r>
              <a:rPr lang="ru-RU" sz="3200" dirty="0" err="1"/>
              <a:t>height</a:t>
            </a:r>
            <a:r>
              <a:rPr lang="ru-RU" sz="3200" dirty="0"/>
              <a:t> включают </a:t>
            </a:r>
            <a:r>
              <a:rPr lang="ru-RU" sz="3200" dirty="0" smtClean="0"/>
              <a:t>контент и </a:t>
            </a:r>
            <a:r>
              <a:rPr lang="en-US" sz="3200" dirty="0" smtClean="0"/>
              <a:t>padding</a:t>
            </a:r>
            <a:r>
              <a:rPr lang="ru-RU" sz="3200" dirty="0" smtClean="0"/>
              <a:t>, </a:t>
            </a:r>
            <a:r>
              <a:rPr lang="ru-RU" sz="3200" dirty="0"/>
              <a:t>но не </a:t>
            </a:r>
            <a:r>
              <a:rPr lang="ru-RU" sz="3200" dirty="0" err="1" smtClean="0"/>
              <a:t>margin</a:t>
            </a:r>
            <a:r>
              <a:rPr lang="ru-RU" sz="3200" dirty="0" smtClean="0"/>
              <a:t> </a:t>
            </a:r>
            <a:r>
              <a:rPr lang="ru-RU" sz="3200" dirty="0"/>
              <a:t>и </a:t>
            </a:r>
            <a:r>
              <a:rPr lang="ru-RU" sz="3200" dirty="0" err="1" smtClean="0"/>
              <a:t>border</a:t>
            </a:r>
            <a:r>
              <a:rPr lang="en-US" sz="3200" dirty="0" smtClean="0"/>
              <a:t> (</a:t>
            </a:r>
            <a:r>
              <a:rPr lang="ru-RU" sz="3200" dirty="0" smtClean="0"/>
              <a:t>поддерживает только </a:t>
            </a:r>
            <a:r>
              <a:rPr lang="en-US" sz="3200" dirty="0" smtClean="0"/>
              <a:t>Firefox)</a:t>
            </a: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93569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2833" y="278721"/>
            <a:ext cx="100584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pink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p.one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box-sizing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content-box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box-sizing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border-box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p.three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box-sizing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padding-box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  <a:endParaRPr lang="ru-RU" sz="28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797" y="0"/>
            <a:ext cx="4634204" cy="66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0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Видимость элемента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Видимость элемента контролируется свойством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visibility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ru-RU" sz="3200" dirty="0" smtClean="0"/>
              <a:t>При значении </a:t>
            </a: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visible</a:t>
            </a:r>
            <a:r>
              <a:rPr lang="ru-RU" sz="3200" dirty="0" smtClean="0"/>
              <a:t> элемент отображается, при значении</a:t>
            </a:r>
            <a:r>
              <a:rPr lang="ru-RU" sz="3200" dirty="0"/>
              <a:t> </a:t>
            </a: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hidden</a:t>
            </a:r>
            <a:r>
              <a:rPr lang="ru-RU" sz="3200" dirty="0" smtClean="0"/>
              <a:t> элемент </a:t>
            </a:r>
            <a:r>
              <a:rPr lang="ru-RU" sz="3200" dirty="0"/>
              <a:t>становится </a:t>
            </a:r>
            <a:r>
              <a:rPr lang="ru-RU" sz="3200" dirty="0" smtClean="0"/>
              <a:t>невидимым (вернее – </a:t>
            </a:r>
            <a:r>
              <a:rPr lang="ru-RU" sz="3200" i="1" dirty="0" smtClean="0"/>
              <a:t>полностью </a:t>
            </a:r>
            <a:r>
              <a:rPr lang="ru-RU" sz="3200" i="1" dirty="0"/>
              <a:t>прозрачным</a:t>
            </a:r>
            <a:r>
              <a:rPr lang="ru-RU" sz="3200" dirty="0"/>
              <a:t>, </a:t>
            </a:r>
            <a:r>
              <a:rPr lang="ru-RU" sz="3200" dirty="0" smtClean="0"/>
              <a:t>так как </a:t>
            </a:r>
            <a:r>
              <a:rPr lang="ru-RU" sz="3200" dirty="0"/>
              <a:t>продолжает участвовать в </a:t>
            </a:r>
            <a:r>
              <a:rPr lang="ru-RU" sz="3200" dirty="0" smtClean="0"/>
              <a:t>формировании страницы).</a:t>
            </a:r>
            <a:r>
              <a:rPr lang="en-US" sz="3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315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0"/>
            <a:ext cx="100584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p.two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visibility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hidden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6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720" y="184884"/>
            <a:ext cx="6646716" cy="560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1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0782" y="185414"/>
            <a:ext cx="11831218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Свойство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ru-RU" sz="3200" dirty="0" smtClean="0"/>
              <a:t> контролирует видимость </a:t>
            </a:r>
            <a:r>
              <a:rPr lang="ru-RU" sz="3200" b="1" dirty="0" smtClean="0"/>
              <a:t>и поток элемента</a:t>
            </a:r>
            <a:r>
              <a:rPr lang="ru-RU" sz="3200" dirty="0" smtClean="0"/>
              <a:t>. </a:t>
            </a:r>
            <a:r>
              <a:rPr lang="ru-RU" sz="3200" i="1" dirty="0" smtClean="0"/>
              <a:t>Некоторые</a:t>
            </a:r>
            <a:r>
              <a:rPr lang="ru-RU" sz="3200" dirty="0" smtClean="0"/>
              <a:t> из его возможных значений:</a:t>
            </a:r>
          </a:p>
          <a:p>
            <a:pPr marL="0" indent="0">
              <a:buNone/>
            </a:pPr>
            <a:r>
              <a:rPr lang="ru-RU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3200" dirty="0" smtClean="0"/>
              <a:t>элемент не виден, и </a:t>
            </a:r>
            <a:r>
              <a:rPr lang="ru-RU" sz="3200" dirty="0"/>
              <a:t>веб-страница формируется так, словно элемента и не </a:t>
            </a:r>
            <a:r>
              <a:rPr lang="ru-RU" sz="3200" dirty="0" smtClean="0"/>
              <a:t>было</a:t>
            </a:r>
            <a:endParaRPr lang="ru-RU" sz="3200" dirty="0"/>
          </a:p>
          <a:p>
            <a:pPr marL="0" indent="0">
              <a:buNone/>
            </a:pP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block</a:t>
            </a:r>
            <a:r>
              <a:rPr lang="ru-RU" sz="3200" dirty="0"/>
              <a:t>	</a:t>
            </a:r>
            <a:r>
              <a:rPr lang="ru-RU" sz="3200" dirty="0" smtClean="0"/>
              <a:t>элемент </a:t>
            </a:r>
            <a:r>
              <a:rPr lang="ru-RU" sz="3200" dirty="0"/>
              <a:t>показывается как </a:t>
            </a:r>
            <a:r>
              <a:rPr lang="ru-RU" sz="3200" dirty="0" smtClean="0"/>
              <a:t>блочный (</a:t>
            </a:r>
            <a:r>
              <a:rPr lang="ru-RU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ru-RU" sz="3200" dirty="0" smtClean="0"/>
              <a:t>) </a:t>
            </a:r>
            <a:r>
              <a:rPr lang="ru-RU" sz="3200" dirty="0"/>
              <a:t>		</a:t>
            </a:r>
          </a:p>
          <a:p>
            <a:pPr marL="0" indent="0">
              <a:buNone/>
            </a:pP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inline</a:t>
            </a:r>
            <a:r>
              <a:rPr lang="ru-RU" sz="3200" dirty="0"/>
              <a:t>	</a:t>
            </a:r>
            <a:r>
              <a:rPr lang="ru-RU" sz="3200" dirty="0" smtClean="0"/>
              <a:t>элемент </a:t>
            </a:r>
            <a:r>
              <a:rPr lang="ru-RU" sz="3200" dirty="0"/>
              <a:t>отображается как </a:t>
            </a:r>
            <a:r>
              <a:rPr lang="ru-RU" sz="3200" dirty="0" smtClean="0"/>
              <a:t>встроенный - строчный (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ru-RU" sz="3200" dirty="0" smtClean="0"/>
              <a:t>)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ru-RU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ist-item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ru-RU" sz="3200" dirty="0" smtClean="0"/>
              <a:t>элемент </a:t>
            </a:r>
            <a:r>
              <a:rPr lang="ru-RU" sz="3200" dirty="0"/>
              <a:t>выводится как блочный и добавляется маркер </a:t>
            </a:r>
            <a:r>
              <a:rPr lang="ru-RU" sz="3200" dirty="0" smtClean="0"/>
              <a:t>списка</a:t>
            </a:r>
            <a:r>
              <a:rPr lang="ru-RU" sz="3200" dirty="0"/>
              <a:t>					</a:t>
            </a:r>
          </a:p>
          <a:p>
            <a:pPr marL="0" indent="0">
              <a:buNone/>
            </a:pP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inline-block</a:t>
            </a:r>
            <a:r>
              <a:rPr lang="ru-RU" sz="3200" dirty="0" smtClean="0"/>
              <a:t> ‒ элемент ведет </a:t>
            </a:r>
            <a:r>
              <a:rPr lang="ru-RU" sz="3200" dirty="0"/>
              <a:t>себя как блочный, включая все свойства блочной модели </a:t>
            </a:r>
            <a:r>
              <a:rPr lang="ru-RU" sz="3200" dirty="0" smtClean="0"/>
              <a:t>,но будет </a:t>
            </a:r>
            <a:r>
              <a:rPr lang="ru-RU" sz="3200" dirty="0"/>
              <a:t>отображаться </a:t>
            </a:r>
            <a:r>
              <a:rPr lang="ru-RU" sz="3200" dirty="0" smtClean="0"/>
              <a:t>в строке </a:t>
            </a:r>
            <a:r>
              <a:rPr lang="ru-RU" sz="3200" dirty="0"/>
              <a:t>с другими элементами</a:t>
            </a:r>
          </a:p>
        </p:txBody>
      </p:sp>
    </p:spTree>
    <p:extLst>
      <p:ext uri="{BB962C8B-B14F-4D97-AF65-F5344CB8AC3E}">
        <p14:creationId xmlns:p14="http://schemas.microsoft.com/office/powerpoint/2010/main" val="327927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0"/>
            <a:ext cx="10058400" cy="61089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inline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margin-right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b="1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li.coming</a:t>
            </a:r>
            <a:r>
              <a:rPr lang="en-US" sz="28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-soon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Home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="coming-soon"&gt;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Services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About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Contact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67" y="-1"/>
            <a:ext cx="5732834" cy="45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Позиционирование блоков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По умолчанию блоки позиционируются (располагаются) на странице слева направо и сверху вниз.</a:t>
            </a:r>
          </a:p>
          <a:p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</a:rPr>
              <a:t>Все блочные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Times New Roman"/>
              </a:rPr>
              <a:t>элементы 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</a:rPr>
              <a:t>являются </a:t>
            </a:r>
            <a:r>
              <a:rPr lang="ru-RU" sz="3200" b="1" dirty="0" smtClean="0">
                <a:solidFill>
                  <a:srgbClr val="0A0A0A"/>
                </a:solidFill>
                <a:latin typeface="Helvetica"/>
                <a:ea typeface="Times New Roman"/>
              </a:rPr>
              <a:t>гибкими</a:t>
            </a:r>
            <a:r>
              <a:rPr lang="en-US" sz="3200" b="1" dirty="0">
                <a:solidFill>
                  <a:srgbClr val="0A0A0A"/>
                </a:solidFill>
                <a:latin typeface="Helvetica"/>
                <a:ea typeface="Times New Roman"/>
              </a:rPr>
              <a:t>:</a:t>
            </a:r>
            <a:endParaRPr lang="en-US" sz="3200" b="1" dirty="0" smtClean="0">
              <a:solidFill>
                <a:srgbClr val="0A0A0A"/>
              </a:solidFill>
              <a:latin typeface="Helvetica"/>
              <a:ea typeface="Times New Roman"/>
            </a:endParaRPr>
          </a:p>
          <a:p>
            <a:r>
              <a:rPr lang="ru-RU" sz="3200" b="1" dirty="0" err="1" smtClean="0">
                <a:solidFill>
                  <a:srgbClr val="0A0A0A"/>
                </a:solidFill>
                <a:latin typeface="Helvetica"/>
                <a:ea typeface="Times New Roman"/>
              </a:rPr>
              <a:t>width</a:t>
            </a:r>
            <a:r>
              <a:rPr lang="ru-RU" sz="3200" b="1" dirty="0">
                <a:solidFill>
                  <a:srgbClr val="0A0A0A"/>
                </a:solidFill>
                <a:latin typeface="Helvetica"/>
                <a:ea typeface="Times New Roman"/>
              </a:rPr>
              <a:t>: </a:t>
            </a:r>
            <a:r>
              <a:rPr lang="ru-RU" sz="3200" b="1" dirty="0" smtClean="0">
                <a:solidFill>
                  <a:srgbClr val="0A0A0A"/>
                </a:solidFill>
                <a:latin typeface="Helvetica"/>
                <a:ea typeface="Times New Roman"/>
              </a:rPr>
              <a:t>100%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Times New Roman"/>
              </a:rPr>
              <a:t>‒ вся доступная ширина</a:t>
            </a:r>
            <a:endParaRPr lang="en-US" sz="3200" dirty="0" smtClean="0">
              <a:solidFill>
                <a:srgbClr val="0A0A0A"/>
              </a:solidFill>
              <a:latin typeface="Helvetica"/>
              <a:ea typeface="Times New Roman"/>
            </a:endParaRPr>
          </a:p>
          <a:p>
            <a:r>
              <a:rPr lang="ru-RU" sz="3200" b="1" dirty="0" smtClean="0">
                <a:solidFill>
                  <a:srgbClr val="0A0A0A"/>
                </a:solidFill>
                <a:latin typeface="Helvetica"/>
                <a:ea typeface="Times New Roman"/>
              </a:rPr>
              <a:t>Перенос слов</a:t>
            </a:r>
            <a:endParaRPr lang="en-US" sz="3200" b="1" dirty="0" smtClean="0">
              <a:solidFill>
                <a:srgbClr val="0A0A0A"/>
              </a:solidFill>
              <a:latin typeface="Helvetica"/>
              <a:ea typeface="Times New Roman"/>
            </a:endParaRPr>
          </a:p>
          <a:p>
            <a:r>
              <a:rPr lang="ru-RU" sz="3200" b="1" dirty="0" err="1">
                <a:solidFill>
                  <a:srgbClr val="0A0A0A"/>
                </a:solidFill>
                <a:latin typeface="Helvetica"/>
                <a:ea typeface="Times New Roman"/>
              </a:rPr>
              <a:t>height</a:t>
            </a:r>
            <a:r>
              <a:rPr lang="ru-RU" sz="3200" b="1" dirty="0">
                <a:solidFill>
                  <a:srgbClr val="0A0A0A"/>
                </a:solidFill>
                <a:latin typeface="Helvetica"/>
                <a:ea typeface="Times New Roman"/>
              </a:rPr>
              <a:t>: </a:t>
            </a:r>
            <a:r>
              <a:rPr lang="ru-RU" sz="3200" b="1" dirty="0" err="1" smtClean="0">
                <a:solidFill>
                  <a:srgbClr val="0A0A0A"/>
                </a:solidFill>
                <a:latin typeface="Helvetica"/>
                <a:ea typeface="Times New Roman"/>
              </a:rPr>
              <a:t>auto</a:t>
            </a:r>
            <a:r>
              <a:rPr lang="en-US" sz="3200" b="1" dirty="0" smtClean="0">
                <a:solidFill>
                  <a:srgbClr val="0A0A0A"/>
                </a:solidFill>
                <a:latin typeface="Helvetica"/>
                <a:ea typeface="Times New Roman"/>
              </a:rPr>
              <a:t> 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Times New Roman"/>
              </a:rPr>
              <a:t>‒  соответствует размеру содержимого</a:t>
            </a:r>
            <a:endParaRPr lang="en-US" sz="3200" dirty="0" smtClean="0">
              <a:solidFill>
                <a:srgbClr val="0A0A0A"/>
              </a:solidFill>
              <a:latin typeface="Helvetica"/>
              <a:ea typeface="Times New Roman"/>
            </a:endParaRPr>
          </a:p>
          <a:p>
            <a:r>
              <a:rPr lang="en-US" sz="3200" b="1" dirty="0" smtClean="0">
                <a:solidFill>
                  <a:srgbClr val="0A0A0A"/>
                </a:solidFill>
                <a:latin typeface="Helvetica"/>
                <a:ea typeface="Times New Roman"/>
              </a:rPr>
              <a:t> </a:t>
            </a:r>
            <a:endParaRPr lang="en-US" sz="3200" dirty="0" smtClean="0">
              <a:solidFill>
                <a:srgbClr val="0A0A0A"/>
              </a:solidFill>
              <a:latin typeface="Helvetica"/>
              <a:ea typeface="Times New Roman"/>
            </a:endParaRPr>
          </a:p>
          <a:p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179410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180233"/>
            <a:ext cx="1219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A0A0A"/>
                </a:solidFill>
                <a:ea typeface="Times New Roman"/>
              </a:rPr>
              <a:t>Элементы HTML отображаются в том </a:t>
            </a:r>
            <a:r>
              <a:rPr lang="ru-RU" sz="2800" b="1" dirty="0">
                <a:solidFill>
                  <a:srgbClr val="0A0A0A"/>
                </a:solidFill>
                <a:ea typeface="Times New Roman"/>
              </a:rPr>
              <a:t>порядке</a:t>
            </a:r>
            <a:r>
              <a:rPr lang="ru-RU" sz="2800" dirty="0">
                <a:solidFill>
                  <a:srgbClr val="0A0A0A"/>
                </a:solidFill>
                <a:ea typeface="Times New Roman"/>
              </a:rPr>
              <a:t>, в котором они записаны</a:t>
            </a:r>
            <a:r>
              <a:rPr lang="ru-RU" sz="2800" b="1" dirty="0">
                <a:solidFill>
                  <a:srgbClr val="0A0A0A"/>
                </a:solidFill>
                <a:ea typeface="Times New Roman"/>
              </a:rPr>
              <a:t> в </a:t>
            </a:r>
            <a:r>
              <a:rPr lang="ru-RU" sz="2800" b="1" dirty="0" smtClean="0">
                <a:solidFill>
                  <a:srgbClr val="0A0A0A"/>
                </a:solidFill>
                <a:ea typeface="Times New Roman"/>
              </a:rPr>
              <a:t>коде ‒ </a:t>
            </a:r>
            <a:r>
              <a:rPr lang="ru-RU" sz="2800" b="1" dirty="0"/>
              <a:t>сверху вниз</a:t>
            </a:r>
            <a:r>
              <a:rPr lang="ru-RU" sz="2800" dirty="0" smtClean="0"/>
              <a:t>.</a:t>
            </a:r>
            <a:r>
              <a:rPr lang="ru-RU" sz="2800" dirty="0" smtClean="0">
                <a:solidFill>
                  <a:srgbClr val="0A0A0A"/>
                </a:solidFill>
                <a:ea typeface="Times New Roman"/>
              </a:rPr>
              <a:t> </a:t>
            </a:r>
          </a:p>
          <a:p>
            <a:r>
              <a:rPr lang="ru-RU" sz="2800" dirty="0" smtClean="0"/>
              <a:t>Каждый </a:t>
            </a:r>
            <a:r>
              <a:rPr lang="ru-RU" sz="2800" dirty="0"/>
              <a:t>элемент </a:t>
            </a:r>
            <a:r>
              <a:rPr lang="ru-RU" sz="2800" dirty="0" smtClean="0"/>
              <a:t>принадлежит </a:t>
            </a:r>
            <a:r>
              <a:rPr lang="ru-RU" sz="2800" dirty="0"/>
              <a:t>воображаемому </a:t>
            </a:r>
            <a:r>
              <a:rPr lang="ru-RU" sz="2800" b="1" dirty="0"/>
              <a:t>слою</a:t>
            </a:r>
            <a:r>
              <a:rPr lang="ru-RU" sz="2800" dirty="0"/>
              <a:t>.</a:t>
            </a:r>
          </a:p>
          <a:p>
            <a:r>
              <a:rPr lang="ru-RU" sz="2800" dirty="0" smtClean="0"/>
              <a:t>дочерние </a:t>
            </a:r>
            <a:r>
              <a:rPr lang="ru-RU" sz="2800" dirty="0"/>
              <a:t>элементы появляются </a:t>
            </a:r>
            <a:r>
              <a:rPr lang="ru-RU" sz="2800" b="1" dirty="0"/>
              <a:t>поверх</a:t>
            </a:r>
            <a:r>
              <a:rPr lang="ru-RU" sz="2800" dirty="0"/>
              <a:t> своих родителей.</a:t>
            </a:r>
          </a:p>
          <a:p>
            <a:r>
              <a:rPr lang="ru-RU" sz="2800" dirty="0" smtClean="0"/>
              <a:t>Чем</a:t>
            </a:r>
            <a:r>
              <a:rPr lang="ru-RU" sz="2800" dirty="0"/>
              <a:t> </a:t>
            </a:r>
            <a:r>
              <a:rPr lang="ru-RU" sz="2800" b="1" dirty="0"/>
              <a:t>глубже</a:t>
            </a:r>
            <a:r>
              <a:rPr lang="ru-RU" sz="2800" dirty="0"/>
              <a:t> элемент </a:t>
            </a:r>
            <a:r>
              <a:rPr lang="ru-RU" sz="2800" dirty="0" smtClean="0"/>
              <a:t> по </a:t>
            </a:r>
            <a:r>
              <a:rPr lang="ru-RU" sz="2800" dirty="0"/>
              <a:t>иерархии, тем </a:t>
            </a:r>
            <a:r>
              <a:rPr lang="ru-RU" sz="2800" i="1" dirty="0"/>
              <a:t>выше</a:t>
            </a:r>
            <a:r>
              <a:rPr lang="ru-RU" sz="2800" dirty="0"/>
              <a:t> в наложении.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04544" y="2427002"/>
            <a:ext cx="1178291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 err="1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div</a:t>
            </a:r>
            <a:r>
              <a:rPr lang="ru-RU" sz="2400" dirty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Этот родитель позади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</a:t>
            </a:r>
            <a:r>
              <a:rPr lang="ru-RU" sz="2400" dirty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&lt;p&gt;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  Этот вложенный дочерний элемент появляется </a:t>
            </a:r>
            <a:r>
              <a:rPr lang="ru-RU" sz="2400" dirty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</a:t>
            </a:r>
            <a:r>
              <a:rPr lang="ru-RU" sz="2400" dirty="0" err="1" smtClean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strong</a:t>
            </a:r>
            <a:r>
              <a:rPr lang="ru-RU" sz="2400" dirty="0" smtClean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 smtClean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поверх </a:t>
            </a:r>
            <a:r>
              <a:rPr lang="ru-RU" sz="2400" dirty="0" smtClean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dirty="0" err="1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strong</a:t>
            </a:r>
            <a:r>
              <a:rPr lang="ru-RU" sz="2400" dirty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своего родителя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333333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</a:t>
            </a:r>
            <a:r>
              <a:rPr lang="ru-RU" sz="2400" dirty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&lt;/p&gt;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dirty="0" err="1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div</a:t>
            </a:r>
            <a:r>
              <a:rPr lang="ru-RU" sz="2400" dirty="0">
                <a:solidFill>
                  <a:srgbClr val="3182BD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019" y="4760806"/>
            <a:ext cx="10279354" cy="2026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334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48814" y="354563"/>
            <a:ext cx="11943185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3200" dirty="0" err="1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height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 и </a:t>
            </a:r>
            <a:r>
              <a:rPr lang="ru-RU" sz="3200" dirty="0" err="1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width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 могут поменять изменчивость элемента;</a:t>
            </a:r>
            <a:endParaRPr lang="ru-RU" sz="3200" dirty="0">
              <a:solidFill>
                <a:srgbClr val="0A0A0A"/>
              </a:solidFill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3200" dirty="0" err="1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float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 нарушает поведение элемента, а также его окружения;</a:t>
            </a:r>
            <a:endParaRPr lang="ru-RU" sz="3200" dirty="0">
              <a:solidFill>
                <a:srgbClr val="0A0A0A"/>
              </a:solidFill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значения </a:t>
            </a:r>
            <a:r>
              <a:rPr lang="ru-RU" sz="3200" dirty="0" err="1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absolute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 и </a:t>
            </a:r>
            <a:r>
              <a:rPr lang="ru-RU" sz="3200" dirty="0" err="1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fixed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 у свойства </a:t>
            </a:r>
            <a:r>
              <a:rPr lang="ru-RU" sz="3200" dirty="0" err="1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position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 удаляют элемент из потока;</a:t>
            </a:r>
            <a:endParaRPr lang="ru-RU" sz="3200" dirty="0">
              <a:solidFill>
                <a:srgbClr val="0A0A0A"/>
              </a:solidFill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3200" dirty="0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z-</a:t>
            </a:r>
            <a:r>
              <a:rPr lang="ru-RU" sz="3200" dirty="0" err="1">
                <a:solidFill>
                  <a:srgbClr val="E6550D"/>
                </a:solidFill>
                <a:latin typeface="Helvetica"/>
                <a:ea typeface="Times New Roman"/>
                <a:cs typeface="Times New Roman"/>
              </a:rPr>
              <a:t>index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 может менять порядок наложения элементов.</a:t>
            </a:r>
            <a:endParaRPr lang="ru-RU" sz="3200" dirty="0">
              <a:solidFill>
                <a:srgbClr val="0A0A0A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419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39969" y="188776"/>
            <a:ext cx="1141660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0000"/>
                </a:solidFill>
                <a:ea typeface="Times New Roman"/>
                <a:cs typeface="Arial"/>
              </a:rPr>
              <a:t>свойство </a:t>
            </a:r>
            <a:r>
              <a:rPr lang="ru-RU" sz="3600" b="1" u="sng" dirty="0" err="1" smtClean="0">
                <a:solidFill>
                  <a:srgbClr val="B22222"/>
                </a:solidFill>
                <a:ea typeface="Times New Roman"/>
                <a:cs typeface="Arial"/>
                <a:hlinkClick r:id="rId3" tooltip="CSS свойство position"/>
              </a:rPr>
              <a:t>position</a:t>
            </a:r>
            <a:r>
              <a:rPr lang="ru-RU" sz="3600" dirty="0" smtClean="0">
                <a:solidFill>
                  <a:srgbClr val="000000"/>
                </a:solidFill>
                <a:ea typeface="Times New Roman"/>
                <a:cs typeface="Arial"/>
              </a:rPr>
              <a:t>  сообщает </a:t>
            </a:r>
            <a:r>
              <a:rPr lang="ru-RU" sz="3600" dirty="0">
                <a:solidFill>
                  <a:srgbClr val="000000"/>
                </a:solidFill>
                <a:ea typeface="Times New Roman"/>
                <a:cs typeface="Arial"/>
              </a:rPr>
              <a:t>браузеру, какой тип позиционирования используется для </a:t>
            </a:r>
            <a:r>
              <a:rPr lang="ru-RU" sz="3600" dirty="0" smtClean="0">
                <a:solidFill>
                  <a:srgbClr val="000000"/>
                </a:solidFill>
                <a:ea typeface="Times New Roman"/>
                <a:cs typeface="Arial"/>
              </a:rPr>
              <a:t>элемента: </a:t>
            </a:r>
          </a:p>
          <a:p>
            <a:r>
              <a:rPr lang="ru-RU" sz="3600" i="1" dirty="0" smtClean="0">
                <a:solidFill>
                  <a:srgbClr val="000000"/>
                </a:solidFill>
                <a:ea typeface="Times New Roman"/>
                <a:cs typeface="Arial"/>
              </a:rPr>
              <a:t>статический</a:t>
            </a:r>
            <a:r>
              <a:rPr lang="ru-RU" sz="3600" dirty="0">
                <a:solidFill>
                  <a:srgbClr val="000000"/>
                </a:solidFill>
                <a:ea typeface="Times New Roman"/>
                <a:cs typeface="Arial"/>
              </a:rPr>
              <a:t> - </a:t>
            </a:r>
            <a:r>
              <a:rPr lang="ru-RU" sz="3600" b="1" dirty="0" err="1" smtClean="0">
                <a:solidFill>
                  <a:srgbClr val="4B0082"/>
                </a:solidFill>
                <a:ea typeface="Times New Roman"/>
                <a:cs typeface="Arial"/>
              </a:rPr>
              <a:t>static</a:t>
            </a:r>
            <a:r>
              <a:rPr lang="ru-RU" sz="3600" b="1" dirty="0" smtClean="0">
                <a:solidFill>
                  <a:srgbClr val="4B0082"/>
                </a:solidFill>
                <a:ea typeface="Times New Roman"/>
                <a:cs typeface="Arial"/>
              </a:rPr>
              <a:t>   </a:t>
            </a:r>
            <a:r>
              <a:rPr lang="ru-RU" sz="3600" dirty="0" smtClean="0">
                <a:ea typeface="Times New Roman"/>
                <a:cs typeface="Arial"/>
              </a:rPr>
              <a:t>‒  по умолчанию классическое размещение в потоке (сверху вниз),</a:t>
            </a:r>
            <a:r>
              <a:rPr lang="ru-RU" sz="3600" dirty="0">
                <a:ea typeface="Times New Roman"/>
                <a:cs typeface="Arial"/>
              </a:rPr>
              <a:t> </a:t>
            </a:r>
            <a:endParaRPr lang="ru-RU" sz="3600" dirty="0" smtClean="0">
              <a:ea typeface="Times New Roman"/>
              <a:cs typeface="Arial"/>
            </a:endParaRPr>
          </a:p>
          <a:p>
            <a:r>
              <a:rPr lang="ru-RU" sz="3600" i="1" dirty="0">
                <a:solidFill>
                  <a:srgbClr val="000000"/>
                </a:solidFill>
                <a:ea typeface="Times New Roman"/>
                <a:cs typeface="Arial"/>
              </a:rPr>
              <a:t>абсолютный</a:t>
            </a:r>
            <a:r>
              <a:rPr lang="ru-RU" sz="3600" dirty="0">
                <a:solidFill>
                  <a:srgbClr val="000000"/>
                </a:solidFill>
                <a:ea typeface="Times New Roman"/>
                <a:cs typeface="Arial"/>
              </a:rPr>
              <a:t> – </a:t>
            </a:r>
            <a:r>
              <a:rPr lang="ru-RU" sz="3600" b="1" dirty="0" err="1">
                <a:solidFill>
                  <a:srgbClr val="4B0082"/>
                </a:solidFill>
                <a:ea typeface="Times New Roman"/>
                <a:cs typeface="Arial"/>
              </a:rPr>
              <a:t>absolute</a:t>
            </a:r>
            <a:r>
              <a:rPr lang="ru-RU" sz="3600" dirty="0">
                <a:solidFill>
                  <a:srgbClr val="000000"/>
                </a:solidFill>
                <a:ea typeface="Times New Roman"/>
                <a:cs typeface="Arial"/>
              </a:rPr>
              <a:t>, </a:t>
            </a:r>
          </a:p>
          <a:p>
            <a:r>
              <a:rPr lang="ru-RU" sz="3600" i="1" dirty="0" smtClean="0">
                <a:solidFill>
                  <a:srgbClr val="000000"/>
                </a:solidFill>
                <a:ea typeface="Times New Roman"/>
                <a:cs typeface="Arial"/>
              </a:rPr>
              <a:t>относительный</a:t>
            </a:r>
            <a:r>
              <a:rPr lang="ru-RU" sz="3600" dirty="0">
                <a:solidFill>
                  <a:srgbClr val="000000"/>
                </a:solidFill>
                <a:ea typeface="Times New Roman"/>
                <a:cs typeface="Arial"/>
              </a:rPr>
              <a:t> - </a:t>
            </a:r>
            <a:r>
              <a:rPr lang="ru-RU" sz="3600" b="1" dirty="0" err="1">
                <a:solidFill>
                  <a:srgbClr val="4B0082"/>
                </a:solidFill>
                <a:ea typeface="Times New Roman"/>
                <a:cs typeface="Arial"/>
              </a:rPr>
              <a:t>relative</a:t>
            </a:r>
            <a:r>
              <a:rPr lang="ru-RU" sz="3600" dirty="0">
                <a:solidFill>
                  <a:srgbClr val="000000"/>
                </a:solidFill>
                <a:ea typeface="Times New Roman"/>
                <a:cs typeface="Arial"/>
              </a:rPr>
              <a:t>, </a:t>
            </a:r>
            <a:endParaRPr lang="ru-RU" sz="3600" dirty="0" smtClean="0">
              <a:solidFill>
                <a:srgbClr val="000000"/>
              </a:solidFill>
              <a:ea typeface="Times New Roman"/>
              <a:cs typeface="Arial"/>
            </a:endParaRPr>
          </a:p>
          <a:p>
            <a:r>
              <a:rPr lang="ru-RU" sz="3600" i="1" dirty="0" smtClean="0">
                <a:solidFill>
                  <a:srgbClr val="000000"/>
                </a:solidFill>
                <a:ea typeface="Times New Roman"/>
                <a:cs typeface="Arial"/>
              </a:rPr>
              <a:t>фиксированный</a:t>
            </a:r>
            <a:r>
              <a:rPr lang="ru-RU" sz="3600" dirty="0">
                <a:solidFill>
                  <a:srgbClr val="000000"/>
                </a:solidFill>
                <a:ea typeface="Times New Roman"/>
                <a:cs typeface="Arial"/>
              </a:rPr>
              <a:t> - </a:t>
            </a:r>
            <a:r>
              <a:rPr lang="ru-RU" sz="3600" b="1" dirty="0" err="1" smtClean="0">
                <a:solidFill>
                  <a:srgbClr val="4B0082"/>
                </a:solidFill>
                <a:ea typeface="Times New Roman"/>
                <a:cs typeface="Arial"/>
              </a:rPr>
              <a:t>fixed</a:t>
            </a:r>
            <a:r>
              <a:rPr lang="en-US" sz="3600" dirty="0">
                <a:solidFill>
                  <a:srgbClr val="000000"/>
                </a:solidFill>
                <a:ea typeface="Times New Roman"/>
                <a:cs typeface="Arial"/>
              </a:rPr>
              <a:t>,</a:t>
            </a:r>
          </a:p>
          <a:p>
            <a:r>
              <a:rPr lang="ru-RU" sz="3600" i="1" dirty="0">
                <a:solidFill>
                  <a:srgbClr val="000000"/>
                </a:solidFill>
                <a:ea typeface="Times New Roman"/>
                <a:cs typeface="Arial"/>
              </a:rPr>
              <a:t>сочетание относительного и фиксированного </a:t>
            </a:r>
            <a:r>
              <a:rPr lang="ru-RU" sz="3600" i="1" dirty="0" smtClean="0">
                <a:solidFill>
                  <a:srgbClr val="000000"/>
                </a:solidFill>
                <a:ea typeface="Times New Roman"/>
                <a:cs typeface="Arial"/>
              </a:rPr>
              <a:t>позиционирования</a:t>
            </a:r>
            <a:r>
              <a:rPr lang="en-US" sz="3600" i="1" dirty="0" smtClean="0">
                <a:solidFill>
                  <a:srgbClr val="000000"/>
                </a:solidFill>
                <a:ea typeface="Times New Roman"/>
                <a:cs typeface="Arial"/>
              </a:rPr>
              <a:t> </a:t>
            </a:r>
            <a:r>
              <a:rPr lang="ru-RU" sz="3600" i="1" dirty="0">
                <a:solidFill>
                  <a:srgbClr val="000000"/>
                </a:solidFill>
                <a:ea typeface="Times New Roman"/>
                <a:cs typeface="Arial"/>
              </a:rPr>
              <a:t>‒</a:t>
            </a:r>
            <a:r>
              <a:rPr lang="en-US" sz="3600" i="1" dirty="0" smtClean="0">
                <a:solidFill>
                  <a:srgbClr val="000000"/>
                </a:solidFill>
                <a:ea typeface="Times New Roman"/>
                <a:cs typeface="Arial"/>
              </a:rPr>
              <a:t> </a:t>
            </a:r>
            <a:r>
              <a:rPr lang="en-US" sz="3600" b="1" dirty="0" smtClean="0">
                <a:solidFill>
                  <a:srgbClr val="4B0082"/>
                </a:solidFill>
                <a:ea typeface="Times New Roman"/>
                <a:cs typeface="Arial"/>
              </a:rPr>
              <a:t>sticky</a:t>
            </a:r>
          </a:p>
          <a:p>
            <a:endParaRPr lang="ru-RU" sz="3600" dirty="0" smtClean="0">
              <a:solidFill>
                <a:srgbClr val="000000"/>
              </a:solidFill>
              <a:ea typeface="Times New Roman"/>
              <a:cs typeface="Arial"/>
            </a:endParaRPr>
          </a:p>
          <a:p>
            <a:r>
              <a:rPr lang="ru-RU" sz="3600" dirty="0" smtClean="0"/>
              <a:t>значение свойства </a:t>
            </a:r>
            <a:r>
              <a:rPr lang="ru-RU" sz="3600" dirty="0"/>
              <a:t> </a:t>
            </a:r>
            <a:r>
              <a:rPr lang="ru-RU" sz="3600" b="1" u="sng" dirty="0" err="1" smtClean="0">
                <a:hlinkClick r:id="rId3" tooltip="CSS свойство position"/>
              </a:rPr>
              <a:t>position</a:t>
            </a:r>
            <a:r>
              <a:rPr lang="ru-RU" sz="3600" b="1" u="sng" dirty="0" smtClean="0"/>
              <a:t>  </a:t>
            </a:r>
            <a:r>
              <a:rPr lang="ru-RU" sz="3600" b="1" dirty="0" smtClean="0"/>
              <a:t>не </a:t>
            </a:r>
            <a:r>
              <a:rPr lang="ru-RU" sz="3600" b="1" dirty="0"/>
              <a:t>наследуется</a:t>
            </a:r>
            <a:r>
              <a:rPr lang="ru-RU" sz="3600" dirty="0" smtClean="0">
                <a:latin typeface="Times New Roman"/>
                <a:ea typeface="Times New Roman"/>
              </a:rPr>
              <a:t> 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9916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2596" y="278720"/>
            <a:ext cx="11784304" cy="4741149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</a:rPr>
              <a:t>Абсолютное позиционирование</a:t>
            </a:r>
          </a:p>
          <a:p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position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absolute</a:t>
            </a:r>
            <a:r>
              <a:rPr lang="ru-RU" sz="3200" dirty="0" smtClean="0"/>
              <a:t>;</a:t>
            </a:r>
            <a:r>
              <a:rPr lang="ru-RU" sz="3200" b="1" dirty="0" smtClean="0">
                <a:solidFill>
                  <a:srgbClr val="000000"/>
                </a:solidFill>
                <a:ea typeface="Calibri"/>
                <a:cs typeface="Arial"/>
              </a:rPr>
              <a:t> </a:t>
            </a:r>
          </a:p>
          <a:p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Позиционирование относительно 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заданного края </a:t>
            </a:r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предка элемента</a:t>
            </a:r>
          </a:p>
          <a:p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предок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 </a:t>
            </a:r>
            <a:r>
              <a:rPr lang="ru-RU" sz="3200" b="1" dirty="0">
                <a:solidFill>
                  <a:srgbClr val="000000"/>
                </a:solidFill>
                <a:ea typeface="Calibri"/>
                <a:cs typeface="Arial"/>
              </a:rPr>
              <a:t>должен иметь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  </a:t>
            </a:r>
            <a:r>
              <a:rPr lang="ru-RU" sz="3200" b="1" u="sng" dirty="0" err="1">
                <a:solidFill>
                  <a:srgbClr val="B22222"/>
                </a:solidFill>
                <a:ea typeface="Calibri"/>
                <a:cs typeface="Arial"/>
                <a:hlinkClick r:id="rId2" tooltip="CSS свойство position"/>
              </a:rPr>
              <a:t>position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 отличное </a:t>
            </a:r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от </a:t>
            </a:r>
            <a:r>
              <a:rPr lang="ru-RU" sz="3200" b="1" dirty="0" err="1" smtClean="0">
                <a:solidFill>
                  <a:srgbClr val="4B0082"/>
                </a:solidFill>
                <a:ea typeface="Calibri"/>
                <a:cs typeface="Arial"/>
              </a:rPr>
              <a:t>static</a:t>
            </a:r>
            <a:r>
              <a:rPr lang="ru-RU" sz="3200" b="1" dirty="0" smtClean="0">
                <a:solidFill>
                  <a:srgbClr val="4B0082"/>
                </a:solidFill>
                <a:ea typeface="Calibri"/>
                <a:cs typeface="Arial"/>
              </a:rPr>
              <a:t> </a:t>
            </a:r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(по умолчанию), </a:t>
            </a:r>
          </a:p>
          <a:p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иначе (</a:t>
            </a:r>
            <a:r>
              <a:rPr lang="ru-RU" sz="3200" dirty="0"/>
              <a:t>если у родителя значение </a:t>
            </a:r>
            <a:r>
              <a:rPr lang="ru-RU" sz="3200" dirty="0" err="1"/>
              <a:t>position:static</a:t>
            </a:r>
            <a:r>
              <a:rPr lang="ru-RU" sz="3200" dirty="0"/>
              <a:t> или родителя нет</a:t>
            </a:r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) смещение  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 </a:t>
            </a:r>
            <a:r>
              <a:rPr lang="ru-RU" sz="3200" b="1" dirty="0">
                <a:solidFill>
                  <a:srgbClr val="000000"/>
                </a:solidFill>
                <a:ea typeface="Calibri"/>
                <a:cs typeface="Arial"/>
              </a:rPr>
              <a:t>относительно, указанного края окна </a:t>
            </a:r>
            <a:r>
              <a:rPr lang="ru-RU" sz="3200" b="1" dirty="0" smtClean="0">
                <a:solidFill>
                  <a:srgbClr val="000000"/>
                </a:solidFill>
                <a:ea typeface="Calibri"/>
                <a:cs typeface="Arial"/>
              </a:rPr>
              <a:t>браузера</a:t>
            </a:r>
          </a:p>
          <a:p>
            <a:endParaRPr lang="ru-RU" sz="3200" dirty="0" smtClean="0"/>
          </a:p>
          <a:p>
            <a:r>
              <a:rPr lang="ru-RU" sz="3200" dirty="0" smtClean="0"/>
              <a:t>свойства</a:t>
            </a:r>
            <a:r>
              <a:rPr lang="ru-RU" sz="3200" dirty="0"/>
              <a:t>, </a:t>
            </a:r>
            <a:r>
              <a:rPr lang="ru-RU" sz="3200" dirty="0" smtClean="0"/>
              <a:t> управляющие </a:t>
            </a:r>
            <a:r>
              <a:rPr lang="ru-RU" sz="3200" dirty="0"/>
              <a:t>смещением позиционированного </a:t>
            </a:r>
            <a:r>
              <a:rPr lang="ru-RU" sz="3200" dirty="0" smtClean="0"/>
              <a:t>элемента от края</a:t>
            </a:r>
            <a:r>
              <a:rPr lang="en-US" sz="3200" dirty="0" smtClean="0"/>
              <a:t> </a:t>
            </a:r>
            <a:r>
              <a:rPr lang="ru-RU" sz="3200" dirty="0" smtClean="0"/>
              <a:t>родителя или </a:t>
            </a:r>
            <a:r>
              <a:rPr lang="ru-RU" sz="3200" dirty="0" err="1" smtClean="0"/>
              <a:t>окна:</a:t>
            </a:r>
            <a:r>
              <a:rPr lang="ru-RU" sz="3200" b="1" u="sng" dirty="0" err="1" smtClean="0">
                <a:solidFill>
                  <a:srgbClr val="B22222"/>
                </a:solidFill>
                <a:ea typeface="Calibri"/>
                <a:cs typeface="Arial"/>
                <a:hlinkClick r:id="rId3" tooltip="CSS свойство top"/>
              </a:rPr>
              <a:t>top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ru-RU" sz="3200" b="1" u="sng" dirty="0" err="1">
                <a:solidFill>
                  <a:srgbClr val="B22222"/>
                </a:solidFill>
                <a:ea typeface="Calibri"/>
                <a:cs typeface="Arial"/>
                <a:hlinkClick r:id="rId4" tooltip="CSS свойство right"/>
              </a:rPr>
              <a:t>right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ru-RU" sz="3200" b="1" u="sng" dirty="0" err="1">
                <a:solidFill>
                  <a:srgbClr val="B22222"/>
                </a:solidFill>
                <a:ea typeface="Calibri"/>
                <a:cs typeface="Arial"/>
                <a:hlinkClick r:id="rId5" tooltip="CSS свойство bottom"/>
              </a:rPr>
              <a:t>bottom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, </a:t>
            </a:r>
            <a:r>
              <a:rPr lang="ru-RU" sz="3200" b="1" u="sng" dirty="0" err="1">
                <a:solidFill>
                  <a:srgbClr val="B22222"/>
                </a:solidFill>
                <a:ea typeface="Calibri"/>
                <a:cs typeface="Arial"/>
                <a:hlinkClick r:id="rId6" tooltip="CSS свойство left"/>
              </a:rPr>
              <a:t>left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.</a:t>
            </a:r>
          </a:p>
          <a:p>
            <a:r>
              <a:rPr lang="ru-RU" sz="3200" dirty="0" smtClean="0">
                <a:solidFill>
                  <a:srgbClr val="000000"/>
                </a:solidFill>
                <a:cs typeface="Arial"/>
              </a:rPr>
              <a:t>Элементы с абсолютным позиционированием не могут быть плавающими.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7656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63"/>
          <a:stretch/>
        </p:blipFill>
        <p:spPr bwMode="auto">
          <a:xfrm>
            <a:off x="3428733" y="2799184"/>
            <a:ext cx="8763267" cy="401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0" y="8582"/>
            <a:ext cx="362649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00000"/>
                </a:solidFill>
                <a:cs typeface="Arial"/>
              </a:rPr>
              <a:t>div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{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position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cs typeface="Arial"/>
              </a:rPr>
              <a:t>absolute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100px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height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100px</a:t>
            </a:r>
            <a:r>
              <a:rPr lang="ru-RU" sz="2800" dirty="0" smtClean="0">
                <a:solidFill>
                  <a:srgbClr val="000000"/>
                </a:solidFill>
                <a:cs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}</a:t>
            </a:r>
          </a:p>
          <a:p>
            <a:endParaRPr lang="ru-RU" sz="2800" b="1" dirty="0" smtClean="0">
              <a:solidFill>
                <a:srgbClr val="FF0000"/>
              </a:solidFill>
              <a:cs typeface="Arial"/>
            </a:endParaRPr>
          </a:p>
          <a:p>
            <a:endParaRPr lang="ru-RU" sz="2800" b="1" dirty="0" smtClean="0">
              <a:solidFill>
                <a:srgbClr val="FF0000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cs typeface="Arial"/>
              </a:rPr>
              <a:t>.</a:t>
            </a:r>
            <a:r>
              <a:rPr lang="ru-RU" sz="2800" b="1" dirty="0">
                <a:solidFill>
                  <a:srgbClr val="000000"/>
                </a:solidFill>
                <a:cs typeface="Arial"/>
              </a:rPr>
              <a:t>absolute2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{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bottom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 smtClean="0">
                <a:solidFill>
                  <a:srgbClr val="4B0082"/>
                </a:solidFill>
                <a:cs typeface="Arial"/>
              </a:rPr>
              <a:t>25;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left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40%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dirty="0" smtClean="0">
              <a:solidFill>
                <a:srgbClr val="000000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B22222"/>
                </a:solidFill>
                <a:cs typeface="Arial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yellow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dirty="0" smtClean="0">
              <a:solidFill>
                <a:srgbClr val="000000"/>
              </a:solidFill>
              <a:cs typeface="Arial"/>
            </a:endParaRPr>
          </a:p>
          <a:p>
            <a:r>
              <a:rPr lang="ru-RU" sz="2800" b="1" dirty="0">
                <a:solidFill>
                  <a:srgbClr val="FF0000"/>
                </a:solidFill>
                <a:cs typeface="Arial"/>
              </a:rPr>
              <a:t>}</a:t>
            </a:r>
          </a:p>
          <a:p>
            <a:endParaRPr lang="ru-RU" sz="2800" dirty="0"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788229" y="0"/>
            <a:ext cx="838511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rgbClr val="000000"/>
                </a:solidFill>
                <a:cs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cs typeface="Arial"/>
              </a:rPr>
              <a:t>absolute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{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top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3em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cs typeface="Arial"/>
              </a:rPr>
              <a:t>/* смещение от </a:t>
            </a:r>
            <a:r>
              <a:rPr lang="ru-RU" sz="2800" b="1" dirty="0" smtClean="0">
                <a:solidFill>
                  <a:srgbClr val="228B22"/>
                </a:solidFill>
                <a:cs typeface="Arial"/>
              </a:rPr>
              <a:t>верхнего </a:t>
            </a:r>
            <a:r>
              <a:rPr lang="ru-RU" sz="2800" b="1" dirty="0">
                <a:solidFill>
                  <a:srgbClr val="228B22"/>
                </a:solidFill>
                <a:cs typeface="Arial"/>
              </a:rPr>
              <a:t>края </a:t>
            </a:r>
            <a:r>
              <a:rPr lang="ru-RU" sz="2800" b="1" dirty="0" smtClean="0">
                <a:solidFill>
                  <a:srgbClr val="228B22"/>
                </a:solidFill>
                <a:cs typeface="Arial"/>
              </a:rPr>
              <a:t>*/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right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50%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cs typeface="Arial"/>
              </a:rPr>
              <a:t>/* смещение от правого края */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	</a:t>
            </a:r>
            <a:endParaRPr lang="ru-RU" sz="2800" dirty="0" smtClean="0">
              <a:solidFill>
                <a:srgbClr val="000000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B22222"/>
                </a:solidFill>
                <a:cs typeface="Arial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green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en-US" sz="2800" b="1" dirty="0">
                <a:solidFill>
                  <a:srgbClr val="228B22"/>
                </a:solidFill>
                <a:cs typeface="Arial"/>
              </a:rPr>
              <a:t>/* </a:t>
            </a:r>
            <a:r>
              <a:rPr lang="ru-RU" sz="2800" b="1" dirty="0">
                <a:solidFill>
                  <a:srgbClr val="228B22"/>
                </a:solidFill>
                <a:cs typeface="Arial"/>
              </a:rPr>
              <a:t>цвет заднего фона</a:t>
            </a:r>
            <a:r>
              <a:rPr lang="en-US" sz="2800" b="1" dirty="0">
                <a:solidFill>
                  <a:srgbClr val="228B22"/>
                </a:solidFill>
                <a:cs typeface="Arial"/>
              </a:rPr>
              <a:t> </a:t>
            </a:r>
            <a:r>
              <a:rPr lang="en-US" sz="2800" b="1" dirty="0" smtClean="0">
                <a:solidFill>
                  <a:srgbClr val="228B22"/>
                </a:solidFill>
                <a:cs typeface="Arial"/>
              </a:rPr>
              <a:t>*/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}</a:t>
            </a:r>
            <a:endParaRPr lang="ru-RU" sz="2800" b="1" dirty="0">
              <a:solidFill>
                <a:srgbClr val="FF0000"/>
              </a:solidFill>
              <a:cs typeface="Arial"/>
            </a:endParaRPr>
          </a:p>
          <a:p>
            <a:r>
              <a:rPr lang="ru-RU" sz="2600" dirty="0"/>
              <a:t>элементы позиционируются относительно окна браузера</a:t>
            </a:r>
            <a:endParaRPr lang="ru-RU" sz="2600" dirty="0">
              <a:effectLst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626498" y="0"/>
            <a:ext cx="0" cy="2799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907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2929" y="9950"/>
            <a:ext cx="12059071" cy="1400790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</a:rPr>
              <a:t>Относительное позиционирование</a:t>
            </a:r>
          </a:p>
          <a:p>
            <a:r>
              <a:rPr lang="en-US" sz="28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position</a:t>
            </a:r>
            <a:r>
              <a:rPr lang="en-US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:relative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  </a:t>
            </a:r>
            <a:r>
              <a:rPr lang="ru-RU" sz="3200" dirty="0" smtClean="0"/>
              <a:t>относительно </a:t>
            </a:r>
            <a:r>
              <a:rPr lang="ru-RU" sz="3200" dirty="0"/>
              <a:t>текущей позиции </a:t>
            </a:r>
            <a:r>
              <a:rPr lang="ru-RU" sz="3200" dirty="0" smtClean="0"/>
              <a:t>элемента</a:t>
            </a:r>
          </a:p>
          <a:p>
            <a:r>
              <a:rPr lang="ru-RU" sz="3200" dirty="0"/>
              <a:t> </a:t>
            </a:r>
            <a:r>
              <a:rPr lang="ru-RU" sz="3200" dirty="0" smtClean="0"/>
              <a:t>                                             (исходного места в нормальном потоке) </a:t>
            </a:r>
          </a:p>
          <a:p>
            <a:endParaRPr lang="ru-RU" sz="3200" dirty="0"/>
          </a:p>
          <a:p>
            <a:endParaRPr lang="ru-RU" sz="3200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45985" y="1504683"/>
            <a:ext cx="5655061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cs typeface="Arial"/>
              </a:rPr>
              <a:t>.static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cs typeface="Arial"/>
              </a:rPr>
              <a:t>{</a:t>
            </a:r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   </a:t>
            </a:r>
            <a:r>
              <a:rPr lang="ru-RU" sz="2800" b="1" dirty="0" smtClean="0">
                <a:solidFill>
                  <a:schemeClr val="accent4">
                    <a:lumMod val="75000"/>
                  </a:schemeClr>
                </a:solidFill>
                <a:cs typeface="Arial"/>
              </a:rPr>
              <a:t>/*</a:t>
            </a:r>
            <a:r>
              <a:rPr lang="ru-RU" sz="2800" b="1" dirty="0" err="1" smtClean="0">
                <a:solidFill>
                  <a:schemeClr val="accent4">
                    <a:lumMod val="75000"/>
                  </a:schemeClr>
                </a:solidFill>
              </a:rPr>
              <a:t>static</a:t>
            </a:r>
            <a:r>
              <a:rPr lang="ru-RU" sz="2800" b="1" dirty="0" smtClean="0">
                <a:solidFill>
                  <a:schemeClr val="accent4">
                    <a:lumMod val="75000"/>
                  </a:schemeClr>
                </a:solidFill>
              </a:rPr>
              <a:t> по умолчанию*/</a:t>
            </a:r>
            <a:endParaRPr lang="ru-RU" sz="2800" b="1" dirty="0" smtClean="0">
              <a:solidFill>
                <a:schemeClr val="accent4">
                  <a:lumMod val="75000"/>
                </a:schemeClr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B22222"/>
                </a:solidFill>
                <a:cs typeface="Arial"/>
              </a:rPr>
              <a:t>height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50px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B22222"/>
                </a:solidFill>
                <a:cs typeface="Arial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red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}</a:t>
            </a:r>
          </a:p>
          <a:p>
            <a:endParaRPr lang="ru-RU" sz="800" b="1" dirty="0">
              <a:solidFill>
                <a:srgbClr val="FF0000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cs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cs typeface="Arial"/>
              </a:rPr>
              <a:t>relative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{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position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cs typeface="Arial"/>
              </a:rPr>
              <a:t>relative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height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100px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top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50px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left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100px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B22222"/>
                </a:solidFill>
                <a:cs typeface="Arial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green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FF0000"/>
                </a:solidFill>
                <a:cs typeface="Arial"/>
              </a:rPr>
              <a:t>}</a:t>
            </a:r>
            <a:endParaRPr lang="ru-RU" sz="2800" dirty="0"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269199" y="1766784"/>
            <a:ext cx="548737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4169E1"/>
                </a:solidFill>
                <a:cs typeface="Arial"/>
              </a:rPr>
              <a:t>&lt;div </a:t>
            </a:r>
            <a:r>
              <a:rPr lang="en-US" sz="3200" b="1" dirty="0">
                <a:solidFill>
                  <a:srgbClr val="B22222"/>
                </a:solidFill>
                <a:cs typeface="Arial"/>
              </a:rPr>
              <a:t>class = </a:t>
            </a:r>
            <a:r>
              <a:rPr lang="en-US" sz="3200" b="1" dirty="0">
                <a:solidFill>
                  <a:srgbClr val="4B0082"/>
                </a:solidFill>
                <a:cs typeface="Arial"/>
              </a:rPr>
              <a:t>"static"</a:t>
            </a:r>
            <a:r>
              <a:rPr lang="en-US" sz="3200" b="1" dirty="0">
                <a:solidFill>
                  <a:srgbClr val="4169E1"/>
                </a:solidFill>
                <a:cs typeface="Arial"/>
              </a:rPr>
              <a:t>&gt;</a:t>
            </a:r>
            <a:r>
              <a:rPr lang="en-US" sz="3200" dirty="0">
                <a:solidFill>
                  <a:srgbClr val="000000"/>
                </a:solidFill>
                <a:cs typeface="Arial"/>
              </a:rPr>
              <a:t>		</a:t>
            </a:r>
            <a:endParaRPr lang="ru-RU" sz="3200" dirty="0" smtClean="0">
              <a:solidFill>
                <a:srgbClr val="000000"/>
              </a:solidFill>
              <a:cs typeface="Arial"/>
            </a:endParaRPr>
          </a:p>
          <a:p>
            <a:r>
              <a:rPr lang="en-US" sz="3200" dirty="0" smtClean="0">
                <a:solidFill>
                  <a:srgbClr val="000000"/>
                </a:solidFill>
                <a:cs typeface="Arial"/>
              </a:rPr>
              <a:t>static</a:t>
            </a:r>
            <a:r>
              <a:rPr lang="en-US" sz="3200" dirty="0">
                <a:solidFill>
                  <a:srgbClr val="000000"/>
                </a:solidFill>
                <a:cs typeface="Arial"/>
              </a:rPr>
              <a:t>		</a:t>
            </a:r>
            <a:endParaRPr lang="ru-RU" sz="3200" dirty="0" smtClean="0">
              <a:solidFill>
                <a:srgbClr val="000000"/>
              </a:solidFill>
              <a:cs typeface="Arial"/>
            </a:endParaRPr>
          </a:p>
          <a:p>
            <a:r>
              <a:rPr lang="en-US" sz="3200" b="1" dirty="0" smtClean="0">
                <a:solidFill>
                  <a:srgbClr val="4169E1"/>
                </a:solidFill>
                <a:cs typeface="Arial"/>
              </a:rPr>
              <a:t>&lt;/</a:t>
            </a:r>
            <a:r>
              <a:rPr lang="en-US" sz="3200" b="1" dirty="0">
                <a:solidFill>
                  <a:srgbClr val="4169E1"/>
                </a:solidFill>
                <a:cs typeface="Arial"/>
              </a:rPr>
              <a:t>div&gt;		</a:t>
            </a:r>
            <a:endParaRPr lang="ru-RU" sz="3200" b="1" dirty="0" smtClean="0">
              <a:solidFill>
                <a:srgbClr val="4169E1"/>
              </a:solidFill>
              <a:cs typeface="Arial"/>
            </a:endParaRPr>
          </a:p>
          <a:p>
            <a:r>
              <a:rPr lang="en-US" sz="3200" b="1" dirty="0" smtClean="0">
                <a:solidFill>
                  <a:srgbClr val="4169E1"/>
                </a:solidFill>
                <a:cs typeface="Arial"/>
              </a:rPr>
              <a:t>&lt;</a:t>
            </a:r>
            <a:r>
              <a:rPr lang="en-US" sz="3200" b="1" dirty="0">
                <a:solidFill>
                  <a:srgbClr val="4169E1"/>
                </a:solidFill>
                <a:cs typeface="Arial"/>
              </a:rPr>
              <a:t>div </a:t>
            </a:r>
            <a:r>
              <a:rPr lang="en-US" sz="3200" b="1" dirty="0">
                <a:solidFill>
                  <a:srgbClr val="B22222"/>
                </a:solidFill>
                <a:cs typeface="Arial"/>
              </a:rPr>
              <a:t>class = </a:t>
            </a:r>
            <a:r>
              <a:rPr lang="en-US" sz="3200" b="1" dirty="0">
                <a:solidFill>
                  <a:srgbClr val="4B0082"/>
                </a:solidFill>
                <a:cs typeface="Arial"/>
              </a:rPr>
              <a:t>"relative</a:t>
            </a:r>
            <a:r>
              <a:rPr lang="en-US" sz="3200" b="1" dirty="0" smtClean="0">
                <a:solidFill>
                  <a:srgbClr val="4B0082"/>
                </a:solidFill>
                <a:cs typeface="Arial"/>
              </a:rPr>
              <a:t>"</a:t>
            </a:r>
            <a:r>
              <a:rPr lang="en-US" sz="3200" b="1" dirty="0" smtClean="0">
                <a:solidFill>
                  <a:srgbClr val="4169E1"/>
                </a:solidFill>
                <a:cs typeface="Arial"/>
              </a:rPr>
              <a:t>&gt;</a:t>
            </a:r>
            <a:endParaRPr lang="ru-RU" sz="3200" dirty="0" smtClean="0">
              <a:solidFill>
                <a:srgbClr val="000000"/>
              </a:solidFill>
              <a:cs typeface="Arial"/>
            </a:endParaRPr>
          </a:p>
          <a:p>
            <a:r>
              <a:rPr lang="en-US" sz="3200" dirty="0" smtClean="0">
                <a:solidFill>
                  <a:srgbClr val="000000"/>
                </a:solidFill>
                <a:cs typeface="Arial"/>
              </a:rPr>
              <a:t>relative</a:t>
            </a:r>
            <a:r>
              <a:rPr lang="en-US" sz="3200" dirty="0">
                <a:solidFill>
                  <a:srgbClr val="000000"/>
                </a:solidFill>
                <a:cs typeface="Arial"/>
              </a:rPr>
              <a:t>		</a:t>
            </a:r>
            <a:endParaRPr lang="ru-RU" sz="3200" dirty="0" smtClean="0">
              <a:solidFill>
                <a:srgbClr val="000000"/>
              </a:solidFill>
              <a:cs typeface="Arial"/>
            </a:endParaRPr>
          </a:p>
          <a:p>
            <a:r>
              <a:rPr lang="en-US" sz="3200" b="1" dirty="0" smtClean="0">
                <a:solidFill>
                  <a:srgbClr val="4169E1"/>
                </a:solidFill>
                <a:cs typeface="Arial"/>
              </a:rPr>
              <a:t>&lt;/</a:t>
            </a:r>
            <a:r>
              <a:rPr lang="en-US" sz="3200" b="1" dirty="0">
                <a:solidFill>
                  <a:srgbClr val="4169E1"/>
                </a:solidFill>
                <a:cs typeface="Arial"/>
              </a:rPr>
              <a:t>div&gt;		</a:t>
            </a:r>
            <a:endParaRPr lang="ru-RU" sz="3200" b="1" dirty="0" smtClean="0">
              <a:solidFill>
                <a:srgbClr val="4169E1"/>
              </a:solidFill>
              <a:cs typeface="Arial"/>
            </a:endParaRPr>
          </a:p>
          <a:p>
            <a:r>
              <a:rPr lang="en-US" sz="3200" b="1" dirty="0" smtClean="0">
                <a:solidFill>
                  <a:srgbClr val="4169E1"/>
                </a:solidFill>
                <a:cs typeface="Arial"/>
              </a:rPr>
              <a:t>&lt;</a:t>
            </a:r>
            <a:r>
              <a:rPr lang="en-US" sz="3200" b="1" dirty="0">
                <a:solidFill>
                  <a:srgbClr val="4169E1"/>
                </a:solidFill>
                <a:cs typeface="Arial"/>
              </a:rPr>
              <a:t>div </a:t>
            </a:r>
            <a:r>
              <a:rPr lang="en-US" sz="3200" b="1" dirty="0">
                <a:solidFill>
                  <a:srgbClr val="B22222"/>
                </a:solidFill>
                <a:cs typeface="Arial"/>
              </a:rPr>
              <a:t>class = </a:t>
            </a:r>
            <a:r>
              <a:rPr lang="en-US" sz="3200" b="1" dirty="0">
                <a:solidFill>
                  <a:srgbClr val="4B0082"/>
                </a:solidFill>
                <a:cs typeface="Arial"/>
              </a:rPr>
              <a:t>"static"</a:t>
            </a:r>
            <a:r>
              <a:rPr lang="en-US" sz="3200" b="1" dirty="0">
                <a:solidFill>
                  <a:srgbClr val="4169E1"/>
                </a:solidFill>
                <a:cs typeface="Arial"/>
              </a:rPr>
              <a:t>&gt;</a:t>
            </a:r>
            <a:r>
              <a:rPr lang="en-US" sz="3200" dirty="0">
                <a:solidFill>
                  <a:srgbClr val="000000"/>
                </a:solidFill>
                <a:cs typeface="Arial"/>
              </a:rPr>
              <a:t>		</a:t>
            </a:r>
            <a:endParaRPr lang="ru-RU" sz="3200" dirty="0" smtClean="0">
              <a:solidFill>
                <a:srgbClr val="000000"/>
              </a:solidFill>
              <a:cs typeface="Arial"/>
            </a:endParaRPr>
          </a:p>
          <a:p>
            <a:r>
              <a:rPr lang="ru-RU" sz="3200" dirty="0" err="1" smtClean="0">
                <a:solidFill>
                  <a:srgbClr val="000000"/>
                </a:solidFill>
                <a:cs typeface="Arial"/>
              </a:rPr>
              <a:t>static</a:t>
            </a:r>
            <a:r>
              <a:rPr lang="ru-RU" sz="3200" dirty="0">
                <a:solidFill>
                  <a:srgbClr val="000000"/>
                </a:solidFill>
                <a:cs typeface="Arial"/>
              </a:rPr>
              <a:t>		</a:t>
            </a:r>
            <a:endParaRPr lang="ru-RU" sz="3200" dirty="0" smtClean="0">
              <a:solidFill>
                <a:srgbClr val="000000"/>
              </a:solidFill>
              <a:cs typeface="Arial"/>
            </a:endParaRPr>
          </a:p>
          <a:p>
            <a:r>
              <a:rPr lang="ru-RU" sz="3200" b="1" dirty="0" smtClean="0">
                <a:solidFill>
                  <a:srgbClr val="4169E1"/>
                </a:solidFill>
                <a:cs typeface="Arial"/>
              </a:rPr>
              <a:t>&lt;/</a:t>
            </a:r>
            <a:r>
              <a:rPr lang="ru-RU" sz="3200" b="1" dirty="0" err="1">
                <a:solidFill>
                  <a:srgbClr val="4169E1"/>
                </a:solidFill>
                <a:cs typeface="Arial"/>
              </a:rPr>
              <a:t>div</a:t>
            </a:r>
            <a:r>
              <a:rPr lang="ru-RU" sz="3200" b="1" dirty="0">
                <a:solidFill>
                  <a:srgbClr val="4169E1"/>
                </a:solidFill>
                <a:cs typeface="Arial"/>
              </a:rPr>
              <a:t>&gt;</a:t>
            </a:r>
            <a:endParaRPr lang="ru-RU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467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4" b="14111"/>
          <a:stretch/>
        </p:blipFill>
        <p:spPr bwMode="auto">
          <a:xfrm>
            <a:off x="425126" y="1155701"/>
            <a:ext cx="7891782" cy="298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425126" y="5140410"/>
            <a:ext cx="72073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Calibri"/>
                <a:cs typeface="Arial"/>
              </a:rPr>
              <a:t>браузер зарезервировал место под </a:t>
            </a:r>
            <a:r>
              <a:rPr lang="ru-RU" sz="2800" dirty="0" smtClean="0">
                <a:solidFill>
                  <a:srgbClr val="000000"/>
                </a:solidFill>
                <a:ea typeface="Calibri"/>
                <a:cs typeface="Arial"/>
              </a:rPr>
              <a:t>элемент, где он находился бы до перемещения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65549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6753"/>
            <a:ext cx="12191999" cy="1848659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</a:rPr>
              <a:t>Фиксированное позиционирование</a:t>
            </a:r>
          </a:p>
          <a:p>
            <a:r>
              <a:rPr lang="en-US" sz="28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position</a:t>
            </a:r>
            <a:r>
              <a:rPr lang="en-US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:fixed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ru-RU" sz="2800" b="1" u="sng" dirty="0"/>
              <a:t>всегда</a:t>
            </a:r>
            <a:r>
              <a:rPr lang="ru-RU" sz="2800" dirty="0"/>
              <a:t> </a:t>
            </a:r>
            <a:r>
              <a:rPr lang="ru-RU" sz="3200" dirty="0" smtClean="0">
                <a:solidFill>
                  <a:srgbClr val="000000"/>
                </a:solidFill>
                <a:ea typeface="Calibri"/>
                <a:cs typeface="Arial"/>
              </a:rPr>
              <a:t>относительно </a:t>
            </a:r>
            <a:r>
              <a:rPr lang="ru-RU" sz="3200" dirty="0">
                <a:solidFill>
                  <a:srgbClr val="000000"/>
                </a:solidFill>
                <a:ea typeface="Calibri"/>
                <a:cs typeface="Arial"/>
              </a:rPr>
              <a:t>заданного края окна браузера</a:t>
            </a:r>
            <a:endParaRPr lang="ru-RU" sz="3200" dirty="0" smtClean="0"/>
          </a:p>
          <a:p>
            <a:r>
              <a:rPr lang="ru-RU" sz="3200" b="1" dirty="0" smtClean="0"/>
              <a:t>элемент </a:t>
            </a:r>
            <a:r>
              <a:rPr lang="ru-RU" sz="3200" b="1" dirty="0"/>
              <a:t>остается на одном месте</a:t>
            </a:r>
            <a:r>
              <a:rPr lang="ru-RU" sz="3200" dirty="0" smtClean="0"/>
              <a:t> при прокрутке страницы!</a:t>
            </a:r>
            <a:endParaRPr lang="ru-RU" sz="32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7822" y="1955461"/>
            <a:ext cx="531857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00000"/>
                </a:solidFill>
                <a:cs typeface="Arial"/>
              </a:rPr>
              <a:t>html</a:t>
            </a:r>
            <a:r>
              <a:rPr lang="ru-RU" sz="2800" b="1" dirty="0">
                <a:solidFill>
                  <a:srgbClr val="000000"/>
                </a:solidFill>
                <a:cs typeface="Arial"/>
              </a:rPr>
              <a:t>, </a:t>
            </a:r>
            <a:r>
              <a:rPr lang="ru-RU" sz="2800" b="1" dirty="0" err="1">
                <a:solidFill>
                  <a:srgbClr val="000000"/>
                </a:solidFill>
                <a:cs typeface="Arial"/>
              </a:rPr>
              <a:t>body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cs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cs typeface="Arial"/>
              </a:rPr>
              <a:t>height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100%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	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cs typeface="Arial"/>
              </a:rPr>
              <a:t>	</a:t>
            </a:r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margin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0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ru-RU" sz="2800" dirty="0">
                <a:solidFill>
                  <a:schemeClr val="accent4">
                    <a:lumMod val="75000"/>
                  </a:schemeClr>
                </a:solidFill>
              </a:rPr>
              <a:t>/*убрали встроенные стили браузера</a:t>
            </a:r>
            <a:r>
              <a:rPr lang="ru-RU" sz="2800" dirty="0" smtClean="0">
                <a:solidFill>
                  <a:schemeClr val="accent4">
                    <a:lumMod val="75000"/>
                  </a:schemeClr>
                </a:solidFill>
              </a:rPr>
              <a:t>*/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		}</a:t>
            </a:r>
          </a:p>
          <a:p>
            <a:r>
              <a:rPr lang="ru-RU" sz="2800" b="1" dirty="0" smtClean="0">
                <a:solidFill>
                  <a:srgbClr val="000000"/>
                </a:solidFill>
                <a:cs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cs typeface="Arial"/>
              </a:rPr>
              <a:t>fixed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cs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cs typeface="Arial"/>
              </a:rPr>
              <a:t>position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cs typeface="Arial"/>
              </a:rPr>
              <a:t>fixed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dirty="0">
                <a:solidFill>
                  <a:srgbClr val="000000"/>
                </a:solidFill>
                <a:cs typeface="Arial"/>
              </a:rPr>
              <a:t>	</a:t>
            </a:r>
            <a:r>
              <a:rPr lang="ru-RU" sz="2800" b="1" dirty="0" err="1">
                <a:solidFill>
                  <a:srgbClr val="B22222"/>
                </a:solidFill>
                <a:cs typeface="Arial"/>
              </a:rPr>
              <a:t>height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100%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cs typeface="Arial"/>
              </a:rPr>
              <a:t>	</a:t>
            </a:r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15%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cs typeface="Arial"/>
              </a:rPr>
              <a:t>	</a:t>
            </a:r>
            <a:r>
              <a:rPr lang="en-US" sz="2800" b="1" dirty="0" smtClean="0">
                <a:solidFill>
                  <a:srgbClr val="B22222"/>
                </a:solidFill>
                <a:cs typeface="Arial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red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cs typeface="Arial"/>
              </a:rPr>
              <a:t>	</a:t>
            </a:r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right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0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	</a:t>
            </a:r>
            <a:r>
              <a:rPr lang="en-US" sz="2800" b="1" dirty="0" smtClean="0">
                <a:solidFill>
                  <a:srgbClr val="FF0000"/>
                </a:solidFill>
                <a:cs typeface="Arial"/>
              </a:rPr>
              <a:t>}</a:t>
            </a:r>
            <a:endParaRPr lang="ru-RU" sz="2800" b="1" dirty="0" smtClean="0">
              <a:solidFill>
                <a:srgbClr val="FF0000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000000"/>
                </a:solidFill>
                <a:cs typeface="Arial"/>
              </a:rPr>
              <a:t>.</a:t>
            </a:r>
            <a:r>
              <a:rPr lang="en-US" sz="2800" b="1" dirty="0">
                <a:solidFill>
                  <a:srgbClr val="000000"/>
                </a:solidFill>
                <a:cs typeface="Arial"/>
              </a:rPr>
              <a:t>container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800" b="1" dirty="0">
                <a:solidFill>
                  <a:srgbClr val="FF0000"/>
                </a:solidFill>
                <a:cs typeface="Arial"/>
              </a:rPr>
              <a:t>{</a:t>
            </a:r>
            <a:r>
              <a:rPr lang="en-US" sz="2800" b="1" dirty="0">
                <a:solidFill>
                  <a:srgbClr val="B22222"/>
                </a:solidFill>
                <a:cs typeface="Arial"/>
              </a:rPr>
              <a:t>height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2000px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en-US" sz="2800" b="1" dirty="0">
                <a:solidFill>
                  <a:srgbClr val="FF0000"/>
                </a:solidFill>
                <a:cs typeface="Arial"/>
              </a:rPr>
              <a:t>}</a:t>
            </a:r>
            <a:endParaRPr lang="ru-RU" sz="2800" b="1" dirty="0">
              <a:solidFill>
                <a:srgbClr val="FF0000"/>
              </a:solidFill>
              <a:cs typeface="Arial"/>
            </a:endParaRPr>
          </a:p>
          <a:p>
            <a:endParaRPr lang="ru-RU" sz="2800" dirty="0"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170705" y="1955460"/>
            <a:ext cx="502129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4169E1"/>
                </a:solidFill>
                <a:cs typeface="Arial"/>
              </a:rPr>
              <a:t>&lt;body&gt;		</a:t>
            </a:r>
            <a:endParaRPr lang="ru-RU" sz="2800" b="1" dirty="0" smtClean="0">
              <a:solidFill>
                <a:srgbClr val="4169E1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4169E1"/>
                </a:solidFill>
                <a:cs typeface="Arial"/>
              </a:rPr>
              <a:t>	</a:t>
            </a:r>
            <a:r>
              <a:rPr lang="en-US" sz="2800" b="1" dirty="0" smtClean="0">
                <a:solidFill>
                  <a:srgbClr val="4169E1"/>
                </a:solidFill>
                <a:cs typeface="Arial"/>
              </a:rPr>
              <a:t>&lt;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div </a:t>
            </a:r>
            <a:r>
              <a:rPr lang="en-US" sz="2800" b="1" dirty="0">
                <a:solidFill>
                  <a:srgbClr val="B22222"/>
                </a:solidFill>
                <a:cs typeface="Arial"/>
              </a:rPr>
              <a:t>class =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"fixed"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&gt;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			</a:t>
            </a:r>
            <a:r>
              <a:rPr lang="ru-RU" sz="2800" dirty="0" smtClean="0">
                <a:solidFill>
                  <a:srgbClr val="000000"/>
                </a:solidFill>
                <a:cs typeface="Arial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cs typeface="Arial"/>
              </a:rPr>
              <a:t>fixed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		</a:t>
            </a:r>
            <a:endParaRPr lang="ru-RU" sz="2800" dirty="0" smtClean="0">
              <a:solidFill>
                <a:srgbClr val="000000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4169E1"/>
                </a:solidFill>
                <a:cs typeface="Arial"/>
              </a:rPr>
              <a:t>	</a:t>
            </a:r>
            <a:r>
              <a:rPr lang="en-US" sz="2800" b="1" dirty="0" smtClean="0">
                <a:solidFill>
                  <a:srgbClr val="4169E1"/>
                </a:solidFill>
                <a:cs typeface="Arial"/>
              </a:rPr>
              <a:t>&lt;/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div&gt;		</a:t>
            </a:r>
            <a:endParaRPr lang="ru-RU" sz="2800" b="1" dirty="0" smtClean="0">
              <a:solidFill>
                <a:srgbClr val="4169E1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4169E1"/>
                </a:solidFill>
                <a:cs typeface="Arial"/>
              </a:rPr>
              <a:t>	</a:t>
            </a:r>
            <a:r>
              <a:rPr lang="en-US" sz="2800" b="1" dirty="0" smtClean="0">
                <a:solidFill>
                  <a:srgbClr val="4169E1"/>
                </a:solidFill>
                <a:cs typeface="Arial"/>
              </a:rPr>
              <a:t>&lt;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div </a:t>
            </a:r>
            <a:r>
              <a:rPr lang="en-US" sz="2800" b="1" dirty="0">
                <a:solidFill>
                  <a:srgbClr val="B22222"/>
                </a:solidFill>
                <a:cs typeface="Arial"/>
              </a:rPr>
              <a:t>class =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"container"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&gt;		</a:t>
            </a:r>
            <a:r>
              <a:rPr lang="ru-RU" sz="2800" b="1" dirty="0" smtClean="0">
                <a:solidFill>
                  <a:srgbClr val="4169E1"/>
                </a:solidFill>
                <a:cs typeface="Arial"/>
              </a:rPr>
              <a:t>&lt;/</a:t>
            </a:r>
            <a:r>
              <a:rPr lang="ru-RU" sz="2800" b="1" dirty="0" err="1">
                <a:solidFill>
                  <a:srgbClr val="4169E1"/>
                </a:solidFill>
                <a:cs typeface="Arial"/>
              </a:rPr>
              <a:t>div</a:t>
            </a:r>
            <a:r>
              <a:rPr lang="ru-RU" sz="2800" b="1" dirty="0">
                <a:solidFill>
                  <a:srgbClr val="4169E1"/>
                </a:solidFill>
                <a:cs typeface="Arial"/>
              </a:rPr>
              <a:t>&gt;	</a:t>
            </a:r>
            <a:endParaRPr lang="ru-RU" sz="2800" b="1" dirty="0" smtClean="0">
              <a:solidFill>
                <a:srgbClr val="4169E1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4169E1"/>
                </a:solidFill>
                <a:cs typeface="Arial"/>
              </a:rPr>
              <a:t>&lt;/</a:t>
            </a:r>
            <a:r>
              <a:rPr lang="ru-RU" sz="2800" b="1" dirty="0" err="1">
                <a:solidFill>
                  <a:srgbClr val="4169E1"/>
                </a:solidFill>
                <a:cs typeface="Arial"/>
              </a:rPr>
              <a:t>body</a:t>
            </a:r>
            <a:r>
              <a:rPr lang="ru-RU" sz="2800" b="1" dirty="0">
                <a:solidFill>
                  <a:srgbClr val="4169E1"/>
                </a:solidFill>
                <a:cs typeface="Arial"/>
              </a:rPr>
              <a:t>&gt;</a:t>
            </a:r>
            <a:endParaRPr lang="ru-RU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341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27"/>
          <a:stretch/>
        </p:blipFill>
        <p:spPr bwMode="auto">
          <a:xfrm>
            <a:off x="1074737" y="1866900"/>
            <a:ext cx="7602731" cy="3534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46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7951" y="705089"/>
            <a:ext cx="6755363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cs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cs typeface="Arial"/>
              </a:rPr>
              <a:t>relative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cs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cs typeface="Arial"/>
              </a:rPr>
              <a:t>position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cs typeface="Arial"/>
              </a:rPr>
              <a:t>relative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margin-top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100px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cs typeface="Arial"/>
              </a:rPr>
              <a:t>/* внешний </a:t>
            </a:r>
            <a:r>
              <a:rPr lang="ru-RU" sz="2800" b="1" dirty="0" smtClean="0">
                <a:solidFill>
                  <a:srgbClr val="228B22"/>
                </a:solidFill>
                <a:cs typeface="Arial"/>
              </a:rPr>
              <a:t>отступ */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400px</a:t>
            </a:r>
            <a:r>
              <a:rPr lang="ru-RU" sz="2800" dirty="0" smtClean="0">
                <a:solidFill>
                  <a:srgbClr val="000000"/>
                </a:solidFill>
                <a:cs typeface="Arial"/>
              </a:rPr>
              <a:t>; </a:t>
            </a:r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height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200px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B22222"/>
                </a:solidFill>
                <a:cs typeface="Arial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blue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en-US" sz="2800" b="1" dirty="0" smtClean="0">
                <a:solidFill>
                  <a:srgbClr val="FF0000"/>
                </a:solidFill>
                <a:cs typeface="Arial"/>
              </a:rPr>
              <a:t>}</a:t>
            </a:r>
            <a:endParaRPr lang="ru-RU" sz="2800" b="1" dirty="0" smtClean="0">
              <a:solidFill>
                <a:srgbClr val="FF0000"/>
              </a:solidFill>
              <a:cs typeface="Arial"/>
            </a:endParaRPr>
          </a:p>
          <a:p>
            <a:endParaRPr lang="ru-RU" sz="1000" b="1" dirty="0" smtClean="0">
              <a:solidFill>
                <a:srgbClr val="FF0000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000000"/>
                </a:solidFill>
                <a:cs typeface="Arial"/>
              </a:rPr>
              <a:t>.</a:t>
            </a:r>
            <a:r>
              <a:rPr lang="en-US" sz="2800" b="1" dirty="0">
                <a:solidFill>
                  <a:srgbClr val="000000"/>
                </a:solidFill>
                <a:cs typeface="Arial"/>
              </a:rPr>
              <a:t>container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800" b="1" dirty="0">
                <a:solidFill>
                  <a:srgbClr val="FF0000"/>
                </a:solidFill>
                <a:cs typeface="Arial"/>
              </a:rPr>
              <a:t>{</a:t>
            </a:r>
            <a:r>
              <a:rPr lang="en-US" sz="2800" b="1" dirty="0">
                <a:solidFill>
                  <a:srgbClr val="B22222"/>
                </a:solidFill>
                <a:cs typeface="Arial"/>
              </a:rPr>
              <a:t>height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100px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cs typeface="Arial"/>
              </a:rPr>
              <a:t>/* </a:t>
            </a:r>
            <a:r>
              <a:rPr lang="ru-RU" sz="2800" b="1" dirty="0" err="1">
                <a:solidFill>
                  <a:srgbClr val="228B22"/>
                </a:solidFill>
                <a:cs typeface="Arial"/>
              </a:rPr>
              <a:t>static</a:t>
            </a:r>
            <a:r>
              <a:rPr lang="ru-RU" sz="2800" b="1" dirty="0">
                <a:solidFill>
                  <a:srgbClr val="228B22"/>
                </a:solidFill>
                <a:cs typeface="Arial"/>
              </a:rPr>
              <a:t>  по ум*</a:t>
            </a:r>
            <a:r>
              <a:rPr lang="ru-RU" sz="2800" b="1" dirty="0" smtClean="0">
                <a:solidFill>
                  <a:srgbClr val="4B0082"/>
                </a:solidFill>
                <a:ea typeface="Times New Roman"/>
                <a:cs typeface="Arial"/>
              </a:rPr>
              <a:t>/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B22222"/>
                </a:solidFill>
                <a:cs typeface="Arial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yellow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</a:t>
            </a:r>
            <a:r>
              <a:rPr lang="ru-RU" sz="2800" b="1" dirty="0" smtClean="0">
                <a:solidFill>
                  <a:srgbClr val="FF0000"/>
                </a:solidFill>
                <a:cs typeface="Arial"/>
              </a:rPr>
              <a:t>}</a:t>
            </a:r>
          </a:p>
          <a:p>
            <a:endParaRPr lang="ru-RU" sz="1000" b="1" dirty="0" smtClean="0">
              <a:solidFill>
                <a:srgbClr val="FF0000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cs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cs typeface="Arial"/>
              </a:rPr>
              <a:t>absolute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cs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cs typeface="Arial"/>
              </a:rPr>
              <a:t>position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cs typeface="Arial"/>
              </a:rPr>
              <a:t>absolute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top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0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right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0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50px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cs typeface="Arial"/>
              </a:rPr>
              <a:t>height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cs typeface="Arial"/>
              </a:rPr>
              <a:t>50px</a:t>
            </a:r>
            <a:r>
              <a:rPr lang="ru-RU" sz="2800" dirty="0">
                <a:solidFill>
                  <a:srgbClr val="000000"/>
                </a:solidFill>
                <a:cs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cs typeface="Arial"/>
            </a:endParaRPr>
          </a:p>
          <a:p>
            <a:r>
              <a:rPr lang="en-US" sz="2800" b="1" dirty="0" smtClean="0">
                <a:solidFill>
                  <a:srgbClr val="B22222"/>
                </a:solidFill>
                <a:cs typeface="Arial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red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; 	</a:t>
            </a:r>
            <a:r>
              <a:rPr lang="en-US" sz="2800" b="1" dirty="0">
                <a:solidFill>
                  <a:srgbClr val="FF0000"/>
                </a:solidFill>
                <a:cs typeface="Arial"/>
              </a:rPr>
              <a:t>}</a:t>
            </a:r>
            <a:endParaRPr lang="ru-RU" sz="2800" dirty="0"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5470" y="120314"/>
            <a:ext cx="109239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Абсолютное позиционирование относительно предка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923314" y="1179384"/>
            <a:ext cx="51131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4169E1"/>
                </a:solidFill>
                <a:cs typeface="Arial"/>
              </a:rPr>
              <a:t>&lt;div </a:t>
            </a:r>
            <a:r>
              <a:rPr lang="en-US" sz="2800" b="1" dirty="0">
                <a:solidFill>
                  <a:srgbClr val="B22222"/>
                </a:solidFill>
                <a:cs typeface="Arial"/>
              </a:rPr>
              <a:t>class =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"relative"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&gt;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cs typeface="Arial"/>
              </a:rPr>
              <a:t>relative</a:t>
            </a:r>
            <a:endParaRPr lang="ru-RU" sz="2800" dirty="0" smtClean="0">
              <a:solidFill>
                <a:srgbClr val="000000"/>
              </a:solidFill>
              <a:cs typeface="Arial"/>
            </a:endParaRPr>
          </a:p>
          <a:p>
            <a:r>
              <a:rPr lang="ru-RU" sz="2800" b="1" dirty="0">
                <a:solidFill>
                  <a:srgbClr val="000000"/>
                </a:solidFill>
                <a:cs typeface="Arial"/>
              </a:rPr>
              <a:t> </a:t>
            </a:r>
            <a:r>
              <a:rPr lang="ru-RU" sz="2800" b="1" dirty="0" smtClean="0">
                <a:solidFill>
                  <a:srgbClr val="000000"/>
                </a:solidFill>
                <a:cs typeface="Arial"/>
              </a:rPr>
              <a:t>      </a:t>
            </a:r>
            <a:r>
              <a:rPr lang="en-US" sz="2800" b="1" dirty="0" smtClean="0">
                <a:solidFill>
                  <a:srgbClr val="4169E1"/>
                </a:solidFill>
                <a:cs typeface="Arial"/>
              </a:rPr>
              <a:t>&lt;div </a:t>
            </a:r>
            <a:r>
              <a:rPr lang="en-US" sz="2800" b="1" dirty="0">
                <a:solidFill>
                  <a:srgbClr val="B22222"/>
                </a:solidFill>
                <a:cs typeface="Arial"/>
              </a:rPr>
              <a:t>class =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"container"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&gt;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			</a:t>
            </a:r>
            <a:r>
              <a:rPr lang="ru-RU" sz="2800" dirty="0" smtClean="0">
                <a:solidFill>
                  <a:srgbClr val="000000"/>
                </a:solidFill>
                <a:cs typeface="Arial"/>
              </a:rPr>
              <a:t>       </a:t>
            </a:r>
            <a:r>
              <a:rPr lang="en-US" sz="2800" dirty="0" smtClean="0">
                <a:solidFill>
                  <a:srgbClr val="000000"/>
                </a:solidFill>
                <a:cs typeface="Arial"/>
              </a:rPr>
              <a:t>container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	</a:t>
            </a:r>
            <a:endParaRPr lang="ru-RU" sz="2800" dirty="0" smtClean="0">
              <a:solidFill>
                <a:srgbClr val="000000"/>
              </a:solidFill>
              <a:cs typeface="Arial"/>
            </a:endParaRPr>
          </a:p>
          <a:p>
            <a:r>
              <a:rPr lang="ru-RU" sz="2800" b="1" dirty="0" smtClean="0">
                <a:solidFill>
                  <a:srgbClr val="4169E1"/>
                </a:solidFill>
                <a:cs typeface="Arial"/>
              </a:rPr>
              <a:t>             </a:t>
            </a:r>
            <a:r>
              <a:rPr lang="en-US" sz="2800" b="1" dirty="0" smtClean="0">
                <a:solidFill>
                  <a:srgbClr val="4169E1"/>
                </a:solidFill>
                <a:cs typeface="Arial"/>
              </a:rPr>
              <a:t>&lt;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div </a:t>
            </a:r>
            <a:r>
              <a:rPr lang="en-US" sz="2800" b="1" dirty="0">
                <a:solidFill>
                  <a:srgbClr val="B22222"/>
                </a:solidFill>
                <a:cs typeface="Arial"/>
              </a:rPr>
              <a:t>class = </a:t>
            </a:r>
            <a:r>
              <a:rPr lang="en-US" sz="2800" b="1" dirty="0">
                <a:solidFill>
                  <a:srgbClr val="4B0082"/>
                </a:solidFill>
                <a:cs typeface="Arial"/>
              </a:rPr>
              <a:t>"absolute"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&gt;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				absolute		</a:t>
            </a:r>
            <a:r>
              <a:rPr lang="ru-RU" sz="2800" dirty="0" smtClean="0">
                <a:solidFill>
                  <a:srgbClr val="000000"/>
                </a:solidFill>
                <a:cs typeface="Arial"/>
              </a:rPr>
              <a:t>  </a:t>
            </a:r>
            <a:r>
              <a:rPr lang="en-US" sz="2800" b="1" dirty="0" smtClean="0">
                <a:solidFill>
                  <a:srgbClr val="4169E1"/>
                </a:solidFill>
                <a:cs typeface="Arial"/>
              </a:rPr>
              <a:t>&lt;/</a:t>
            </a:r>
            <a:r>
              <a:rPr lang="en-US" sz="2800" b="1" dirty="0">
                <a:solidFill>
                  <a:srgbClr val="4169E1"/>
                </a:solidFill>
                <a:cs typeface="Arial"/>
              </a:rPr>
              <a:t>div&gt;	</a:t>
            </a:r>
            <a:endParaRPr lang="ru-RU" sz="2800" b="1" dirty="0" smtClean="0">
              <a:solidFill>
                <a:srgbClr val="4169E1"/>
              </a:solidFill>
              <a:cs typeface="Arial"/>
            </a:endParaRPr>
          </a:p>
          <a:p>
            <a:r>
              <a:rPr lang="ru-RU" sz="2800" b="1" dirty="0">
                <a:solidFill>
                  <a:srgbClr val="4169E1"/>
                </a:solidFill>
                <a:cs typeface="Arial"/>
              </a:rPr>
              <a:t> </a:t>
            </a:r>
            <a:r>
              <a:rPr lang="ru-RU" sz="2800" b="1" dirty="0" smtClean="0">
                <a:solidFill>
                  <a:srgbClr val="4169E1"/>
                </a:solidFill>
                <a:cs typeface="Arial"/>
              </a:rPr>
              <a:t>       &lt;/</a:t>
            </a:r>
            <a:r>
              <a:rPr lang="ru-RU" sz="2800" b="1" dirty="0" err="1">
                <a:solidFill>
                  <a:srgbClr val="4169E1"/>
                </a:solidFill>
                <a:cs typeface="Arial"/>
              </a:rPr>
              <a:t>div</a:t>
            </a:r>
            <a:r>
              <a:rPr lang="ru-RU" sz="2800" b="1" dirty="0" smtClean="0">
                <a:solidFill>
                  <a:srgbClr val="4169E1"/>
                </a:solidFill>
                <a:cs typeface="Arial"/>
              </a:rPr>
              <a:t>&gt;</a:t>
            </a:r>
          </a:p>
          <a:p>
            <a:r>
              <a:rPr lang="ru-RU" sz="2800" b="1" dirty="0" smtClean="0">
                <a:solidFill>
                  <a:srgbClr val="4169E1"/>
                </a:solidFill>
                <a:cs typeface="Arial"/>
              </a:rPr>
              <a:t>&lt;/</a:t>
            </a:r>
            <a:r>
              <a:rPr lang="ru-RU" sz="2800" b="1" dirty="0" err="1">
                <a:solidFill>
                  <a:srgbClr val="4169E1"/>
                </a:solidFill>
                <a:cs typeface="Arial"/>
              </a:rPr>
              <a:t>div</a:t>
            </a:r>
            <a:r>
              <a:rPr lang="ru-RU" sz="2800" b="1" dirty="0">
                <a:solidFill>
                  <a:srgbClr val="4169E1"/>
                </a:solidFill>
                <a:cs typeface="Arial"/>
              </a:rPr>
              <a:t>&gt;</a:t>
            </a:r>
            <a:endParaRPr lang="ru-RU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9370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460" y="272249"/>
            <a:ext cx="1156373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позиционируется не относительно окна браузера, не относительно родительского элемента, а относительно своего предка, который имеет позиционирование, отличное от статического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27"/>
          <a:stretch/>
        </p:blipFill>
        <p:spPr bwMode="auto">
          <a:xfrm>
            <a:off x="1454149" y="2120901"/>
            <a:ext cx="9139391" cy="422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10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8617" y="61298"/>
            <a:ext cx="120864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sticky</a:t>
            </a: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A0A0A"/>
                </a:solidFill>
              </a:rPr>
              <a:t>‒ это </a:t>
            </a:r>
            <a:r>
              <a:rPr lang="ru-RU" sz="2800" dirty="0" smtClean="0">
                <a:solidFill>
                  <a:srgbClr val="0A0A0A"/>
                </a:solidFill>
              </a:rPr>
              <a:t>сочетание относительного и фиксированного позиционирования. Элемент рассматривается как позиционированный относительно, пока он не пересекает определённый порог, после чего рассматривается как фиксированный. Обычно применяется для фиксации заголовка на одном месте, пока содержимое, к которому относится заголовок, прокручивается на странице. (плохо поддерживается)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617" y="2994221"/>
            <a:ext cx="44227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800" dirty="0">
                <a:ea typeface="Calibri"/>
                <a:cs typeface="Times New Roman"/>
              </a:rPr>
              <a:t>#one {</a:t>
            </a:r>
            <a:endParaRPr lang="ru-RU" sz="28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2800" dirty="0">
                <a:ea typeface="Calibri"/>
                <a:cs typeface="Times New Roman"/>
              </a:rPr>
              <a:t>  background-color: #f3f5f6;</a:t>
            </a:r>
            <a:endParaRPr lang="ru-RU" sz="28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2800" dirty="0">
                <a:ea typeface="Calibri"/>
                <a:cs typeface="Times New Roman"/>
              </a:rPr>
              <a:t>  position: sticky;</a:t>
            </a:r>
            <a:endParaRPr lang="ru-RU" sz="28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2800" dirty="0">
                <a:ea typeface="Calibri"/>
                <a:cs typeface="Times New Roman"/>
              </a:rPr>
              <a:t>  </a:t>
            </a:r>
            <a:r>
              <a:rPr lang="ru-RU" sz="2800" dirty="0" err="1">
                <a:ea typeface="Calibri"/>
                <a:cs typeface="Times New Roman"/>
              </a:rPr>
              <a:t>top</a:t>
            </a:r>
            <a:r>
              <a:rPr lang="ru-RU" sz="2800" dirty="0">
                <a:ea typeface="Calibri"/>
                <a:cs typeface="Times New Roman"/>
              </a:rPr>
              <a:t>: 0;</a:t>
            </a:r>
          </a:p>
          <a:p>
            <a:pPr>
              <a:spcAft>
                <a:spcPts val="0"/>
              </a:spcAft>
            </a:pPr>
            <a:r>
              <a:rPr lang="ru-RU" sz="2800" dirty="0">
                <a:ea typeface="Calibri"/>
                <a:cs typeface="Times New Roman"/>
              </a:rPr>
              <a:t>}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654781" y="3102367"/>
            <a:ext cx="421743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&lt;h1 id="one"&gt;Lorem ipsum&lt;/h1&gt;</a:t>
            </a:r>
          </a:p>
          <a:p>
            <a:r>
              <a:rPr lang="en-US" sz="2800" dirty="0" smtClean="0"/>
              <a:t>&lt;</a:t>
            </a:r>
            <a:r>
              <a:rPr lang="en-US" sz="2800" dirty="0" err="1" smtClean="0"/>
              <a:t>hr</a:t>
            </a:r>
            <a:r>
              <a:rPr lang="en-US" sz="2800" dirty="0" smtClean="0"/>
              <a:t>&gt;</a:t>
            </a:r>
          </a:p>
          <a:p>
            <a:r>
              <a:rPr lang="en-US" sz="2800" dirty="0" smtClean="0"/>
              <a:t>Lorem ipsum dolor sit </a:t>
            </a:r>
            <a:r>
              <a:rPr lang="en-US" sz="2800" dirty="0" err="1" smtClean="0"/>
              <a:t>amet</a:t>
            </a:r>
            <a:r>
              <a:rPr lang="en-US" sz="2800" dirty="0" smtClean="0"/>
              <a:t>, </a:t>
            </a:r>
            <a:r>
              <a:rPr lang="en-US" sz="2800" dirty="0" err="1" smtClean="0"/>
              <a:t>consectetur</a:t>
            </a:r>
            <a:r>
              <a:rPr lang="en-US" sz="2800" dirty="0" smtClean="0"/>
              <a:t> </a:t>
            </a:r>
            <a:r>
              <a:rPr lang="en-US" sz="2800" dirty="0" err="1" smtClean="0"/>
              <a:t>adipiscing</a:t>
            </a:r>
            <a:r>
              <a:rPr lang="en-US" sz="2800" dirty="0" smtClean="0"/>
              <a:t> </a:t>
            </a:r>
            <a:r>
              <a:rPr lang="en-US" sz="2800" dirty="0" err="1" smtClean="0"/>
              <a:t>elit</a:t>
            </a:r>
            <a:r>
              <a:rPr lang="en-US" sz="2800" dirty="0" smtClean="0"/>
              <a:t>, </a:t>
            </a:r>
            <a:r>
              <a:rPr lang="en-US" sz="2800" dirty="0" err="1" smtClean="0"/>
              <a:t>sed</a:t>
            </a:r>
            <a:r>
              <a:rPr lang="en-US" sz="2800" dirty="0" smtClean="0"/>
              <a:t> do </a:t>
            </a:r>
            <a:r>
              <a:rPr lang="en-US" sz="2800" dirty="0" err="1" smtClean="0"/>
              <a:t>eiusmod</a:t>
            </a:r>
            <a:r>
              <a:rPr lang="en-US" sz="2800" dirty="0" smtClean="0"/>
              <a:t> </a:t>
            </a:r>
            <a:r>
              <a:rPr lang="en-US" sz="2800" dirty="0" err="1" smtClean="0"/>
              <a:t>tempor</a:t>
            </a:r>
            <a:endParaRPr lang="ru-RU" sz="2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227" y="4281502"/>
            <a:ext cx="3807773" cy="2187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009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29209" y="446671"/>
            <a:ext cx="10941698" cy="3789427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z-</a:t>
            </a:r>
            <a:r>
              <a:rPr lang="ru-RU" sz="32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index</a:t>
            </a:r>
            <a:r>
              <a:rPr lang="ru-RU" sz="3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‒ 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определяет порядок расположения позиционированных элементов по оси Z (порядок наложения элементов друг на друга).</a:t>
            </a:r>
            <a:endParaRPr lang="ru-RU" sz="3200" dirty="0" smtClean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Работает только с позиционируемыми элементами (</a:t>
            </a:r>
            <a:r>
              <a:rPr lang="en-US" sz="32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position</a:t>
            </a:r>
            <a:r>
              <a:rPr lang="en-US" sz="32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:absolute|fixed|relative</a:t>
            </a:r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</a:p>
          <a:p>
            <a:endParaRPr lang="ru-RU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Чем 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больше значение, тем выше находится элемент по сравнению с теми элементами, у которых оно меньше.</a:t>
            </a:r>
            <a:endParaRPr lang="ru-RU" sz="32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При равных </a:t>
            </a:r>
            <a:r>
              <a:rPr lang="ru-RU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z-</a:t>
            </a:r>
            <a:r>
              <a:rPr lang="ru-RU" sz="32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index</a:t>
            </a:r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на переднем плане находится тот элемент, который в коде HTML описан ниже</a:t>
            </a:r>
            <a:r>
              <a:rPr lang="ru-RU" sz="3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951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266960" cy="2154436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position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relative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three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50px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55px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index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seven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-120px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25px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index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;}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-295px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index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card:hover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index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096000" y="544927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при наведении курсора на карту она выходит на передний край, частично перекрывая остальные собой остальные изображения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6" t="23653" r="70367" b="43082"/>
          <a:stretch/>
        </p:blipFill>
        <p:spPr bwMode="auto">
          <a:xfrm>
            <a:off x="541175" y="2667395"/>
            <a:ext cx="2183363" cy="2781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0" t="49219" r="59878" b="10002"/>
          <a:stretch/>
        </p:blipFill>
        <p:spPr bwMode="auto">
          <a:xfrm>
            <a:off x="3153747" y="2667395"/>
            <a:ext cx="2612571" cy="3410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47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27314" y="324661"/>
            <a:ext cx="10058400" cy="1449387"/>
          </a:xfrm>
        </p:spPr>
        <p:txBody>
          <a:bodyPr/>
          <a:lstStyle/>
          <a:p>
            <a:r>
              <a:rPr lang="ru-RU" dirty="0" smtClean="0"/>
              <a:t>Плавающие блоки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08653" y="1958230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i="1" dirty="0"/>
              <a:t>Плавающий блок</a:t>
            </a:r>
            <a:r>
              <a:rPr lang="ru-RU" sz="3200" dirty="0"/>
              <a:t> «</a:t>
            </a:r>
            <a:r>
              <a:rPr lang="ru-RU" sz="3200" dirty="0" smtClean="0"/>
              <a:t>прикрепляется</a:t>
            </a:r>
            <a:r>
              <a:rPr lang="ru-RU" sz="3200" dirty="0"/>
              <a:t>» к указанной стороне своего родителя, а остальные элементы его обтекают с других сторон</a:t>
            </a:r>
            <a:r>
              <a:rPr lang="ru-RU" sz="3200" dirty="0" smtClean="0"/>
              <a:t>.</a:t>
            </a:r>
          </a:p>
          <a:p>
            <a:r>
              <a:rPr lang="ru-RU" sz="3200" dirty="0" smtClean="0"/>
              <a:t>Чтобы сделать блок плавающим, используется свойство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sz="3200" dirty="0" smtClean="0"/>
              <a:t> </a:t>
            </a:r>
            <a:r>
              <a:rPr lang="ru-RU" sz="3200" dirty="0" smtClean="0"/>
              <a:t>(возможные значения: </a:t>
            </a: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right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none</a:t>
            </a:r>
            <a:r>
              <a:rPr lang="ru-RU" sz="3200" dirty="0" smtClean="0"/>
              <a:t>).</a:t>
            </a:r>
            <a:endParaRPr lang="ru-RU" sz="3200" dirty="0"/>
          </a:p>
          <a:p>
            <a:r>
              <a:rPr lang="ru-RU" sz="3200" dirty="0" smtClean="0"/>
              <a:t>Плавающим может быть любой блок, кроме абсолютно позиционированных (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position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absolute|fixed</a:t>
            </a:r>
            <a:r>
              <a:rPr lang="ru-RU" sz="32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3254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58847"/>
            <a:ext cx="6512767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800" b="1" dirty="0" err="1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img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{</a:t>
            </a: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width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30%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dirty="0" smtClean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/* от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родительского элемента 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*/</a:t>
            </a: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}</a:t>
            </a:r>
          </a:p>
          <a:p>
            <a:pPr>
              <a:spcAft>
                <a:spcPts val="0"/>
              </a:spcAft>
            </a:pPr>
            <a:r>
              <a:rPr lang="ru-RU" sz="800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endParaRPr lang="ru-RU" sz="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h2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{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text-align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center</a:t>
            </a:r>
            <a:r>
              <a:rPr lang="ru-RU" sz="2800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}</a:t>
            </a:r>
            <a:r>
              <a:rPr lang="ru-RU" sz="2800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</a:p>
          <a:p>
            <a:pPr>
              <a:spcAft>
                <a:spcPts val="0"/>
              </a:spcAft>
            </a:pPr>
            <a:endParaRPr lang="ru-RU" sz="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.</a:t>
            </a:r>
            <a:r>
              <a:rPr lang="ru-RU" sz="2800" b="1" dirty="0" err="1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floatLeft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{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float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left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dirty="0" smtClean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padding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 smtClean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5px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5px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5px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0</a:t>
            </a:r>
            <a:r>
              <a:rPr lang="ru-RU" sz="2800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}</a:t>
            </a:r>
          </a:p>
          <a:p>
            <a:pPr>
              <a:spcAft>
                <a:spcPts val="0"/>
              </a:spcAft>
            </a:pPr>
            <a:endParaRPr lang="ru-RU" sz="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.</a:t>
            </a:r>
            <a:r>
              <a:rPr lang="ru-RU" sz="2800" b="1" dirty="0" err="1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floatRight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{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float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right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padding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5px 0 5px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5px</a:t>
            </a:r>
            <a:r>
              <a:rPr lang="ru-RU" sz="2800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</a:t>
            </a:r>
          </a:p>
          <a:p>
            <a:pPr>
              <a:spcAft>
                <a:spcPts val="0"/>
              </a:spcAft>
            </a:pPr>
            <a:r>
              <a:rPr lang="ru-RU" sz="2800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внутренние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отступы 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*/</a:t>
            </a: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}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p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{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text-align</a:t>
            </a:r>
            <a:r>
              <a:rPr lang="ru-RU" sz="2800" dirty="0" err="1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</a:t>
            </a:r>
            <a:r>
              <a:rPr lang="ru-RU" sz="2800" b="1" dirty="0" err="1" smtClean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justify</a:t>
            </a:r>
            <a:r>
              <a:rPr lang="ru-RU" sz="2800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/*по ширине*/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}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898433" y="1457196"/>
            <a:ext cx="511939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&lt;h2&gt;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Панды</a:t>
            </a: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&lt;/h2&gt;</a:t>
            </a: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</a:t>
            </a:r>
            <a:endParaRPr lang="ru-RU" sz="2800" b="1" dirty="0" smtClean="0">
              <a:solidFill>
                <a:srgbClr val="4169E1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</a:t>
            </a:r>
            <a:r>
              <a:rPr lang="en-US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img</a:t>
            </a: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src</a:t>
            </a:r>
            <a:r>
              <a:rPr lang="en-US" sz="2800" b="1" dirty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= </a:t>
            </a:r>
            <a:r>
              <a:rPr lang="en-US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"panda1.jpg"</a:t>
            </a: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endParaRPr lang="ru-RU" sz="2800" b="1" dirty="0" smtClean="0">
              <a:solidFill>
                <a:srgbClr val="4169E1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800" b="1" dirty="0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class </a:t>
            </a:r>
            <a:r>
              <a:rPr lang="en-US" sz="2800" b="1" dirty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=</a:t>
            </a: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</a:t>
            </a:r>
            <a:r>
              <a:rPr lang="en-US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floatLeft</a:t>
            </a:r>
            <a:r>
              <a:rPr lang="en-US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</a:t>
            </a: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en-US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p&gt;</a:t>
            </a: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Большая панда, </a:t>
            </a:r>
            <a:r>
              <a:rPr lang="ru-RU" sz="2800" b="1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...</a:t>
            </a: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&lt;/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p</a:t>
            </a: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b="1" dirty="0" smtClean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img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src</a:t>
            </a:r>
            <a:r>
              <a:rPr lang="ru-RU" sz="2800" b="1" dirty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=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"panda2.jpg"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endParaRPr lang="ru-RU" sz="2800" b="1" dirty="0" smtClean="0">
              <a:solidFill>
                <a:srgbClr val="4169E1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class</a:t>
            </a:r>
            <a:r>
              <a:rPr lang="ru-RU" sz="2800" b="1" dirty="0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=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floatRight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r>
              <a:rPr lang="ru-RU" sz="2800" b="1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p&gt;</a:t>
            </a: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Большие </a:t>
            </a:r>
            <a:r>
              <a:rPr lang="ru-RU" sz="2800" b="1" dirty="0" smtClean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…</a:t>
            </a: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&lt;/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p&gt;</a:t>
            </a: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8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Рис. 108 Пример работы с плавающими элементами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815" y="410546"/>
            <a:ext cx="8546841" cy="57103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67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91412" y="353365"/>
            <a:ext cx="11154488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Особенности элемента, у которого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ru-RU" sz="3200" dirty="0" smtClean="0"/>
              <a:t> установлено </a:t>
            </a:r>
            <a:r>
              <a:rPr lang="ru-RU" sz="3200" dirty="0"/>
              <a:t>в значение </a:t>
            </a: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</a:t>
            </a:r>
            <a:r>
              <a:rPr lang="ru-RU" sz="3200" dirty="0"/>
              <a:t> или </a:t>
            </a: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right</a:t>
            </a:r>
            <a:r>
              <a:rPr lang="ru-RU" sz="3200" dirty="0" smtClean="0"/>
              <a:t>:</a:t>
            </a:r>
            <a:endParaRPr lang="ru-RU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 smtClean="0"/>
              <a:t> отображается </a:t>
            </a:r>
            <a:r>
              <a:rPr lang="ru-RU" sz="3200" dirty="0"/>
              <a:t>как </a:t>
            </a:r>
            <a:r>
              <a:rPr lang="ru-RU" sz="3200" b="1" dirty="0" smtClean="0"/>
              <a:t>блочный</a:t>
            </a:r>
            <a:r>
              <a:rPr lang="ru-RU" sz="3200" dirty="0" smtClean="0"/>
              <a:t> (словно </a:t>
            </a:r>
            <a:r>
              <a:rPr lang="ru-RU" sz="3200" dirty="0"/>
              <a:t>ему </a:t>
            </a:r>
            <a:r>
              <a:rPr lang="ru-RU" sz="3200" dirty="0" smtClean="0"/>
              <a:t>установили свойство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block</a:t>
            </a:r>
            <a:r>
              <a:rPr lang="ru-RU" sz="3200" dirty="0" smtClean="0"/>
              <a:t>);</a:t>
            </a:r>
            <a:endParaRPr lang="ru-RU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 smtClean="0"/>
              <a:t> по </a:t>
            </a:r>
            <a:r>
              <a:rPr lang="ru-RU" sz="3200" dirty="0"/>
              <a:t>ширине </a:t>
            </a:r>
            <a:r>
              <a:rPr lang="ru-RU" sz="3200" b="1" dirty="0"/>
              <a:t>сжимается до размеров </a:t>
            </a:r>
            <a:r>
              <a:rPr lang="ru-RU" sz="3200" b="1" dirty="0" smtClean="0"/>
              <a:t>содержимого</a:t>
            </a:r>
            <a:r>
              <a:rPr lang="ru-RU" sz="3200" dirty="0" smtClean="0"/>
              <a:t> (если у него </a:t>
            </a:r>
            <a:r>
              <a:rPr lang="ru-RU" sz="3200" dirty="0"/>
              <a:t>явно не установлена ширина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ru-RU" sz="3200" dirty="0" smtClean="0"/>
              <a:t>);</a:t>
            </a:r>
            <a:endParaRPr lang="ru-RU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 smtClean="0"/>
              <a:t> всё </a:t>
            </a:r>
            <a:r>
              <a:rPr lang="ru-RU" sz="3200" b="1" dirty="0"/>
              <a:t>остальное содержимое</a:t>
            </a:r>
            <a:r>
              <a:rPr lang="ru-RU" sz="3200" dirty="0"/>
              <a:t> </a:t>
            </a:r>
            <a:r>
              <a:rPr lang="ru-RU" sz="3200" dirty="0" smtClean="0"/>
              <a:t>страницы, идущее в HTML после элемента с </a:t>
            </a:r>
            <a:r>
              <a:rPr lang="ru-RU" sz="28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ru-RU" sz="3200" dirty="0" smtClean="0"/>
              <a:t>, </a:t>
            </a:r>
            <a:r>
              <a:rPr lang="ru-RU" sz="3200" dirty="0"/>
              <a:t>обтекает его</a:t>
            </a:r>
            <a:r>
              <a:rPr lang="ru-RU" sz="3200" dirty="0" smtClean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/>
              <a:t>если </a:t>
            </a:r>
            <a:r>
              <a:rPr lang="ru-RU" sz="3200" dirty="0" smtClean="0"/>
              <a:t>находится </a:t>
            </a:r>
            <a:r>
              <a:rPr lang="ru-RU" sz="3200" dirty="0"/>
              <a:t>внутри контейнера </a:t>
            </a:r>
            <a:r>
              <a:rPr lang="ru-RU" sz="3200" dirty="0" smtClean="0"/>
              <a:t>и </a:t>
            </a:r>
            <a:r>
              <a:rPr lang="ru-RU" sz="3200" dirty="0"/>
              <a:t>для контейнера заданы определенные значения ширины, то перемещение </a:t>
            </a:r>
            <a:r>
              <a:rPr lang="ru-RU" sz="3200" dirty="0" smtClean="0"/>
              <a:t>осуществляется </a:t>
            </a:r>
            <a:r>
              <a:rPr lang="ru-RU" sz="3200" dirty="0"/>
              <a:t>к указанному краю внутри этого контейнера, а не по отношению к окну браузера.</a:t>
            </a:r>
          </a:p>
        </p:txBody>
      </p:sp>
    </p:spTree>
    <p:extLst>
      <p:ext uri="{BB962C8B-B14F-4D97-AF65-F5344CB8AC3E}">
        <p14:creationId xmlns:p14="http://schemas.microsoft.com/office/powerpoint/2010/main" val="131651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0"/>
            <a:ext cx="5635690" cy="4035425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.</a:t>
            </a:r>
            <a:r>
              <a:rPr lang="ru-RU" sz="2800" b="1" dirty="0" err="1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container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{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width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60%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dirty="0" smtClean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height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200px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background-color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#BBB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margin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0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auto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dirty="0" smtClean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/*центрирование*/</a:t>
            </a:r>
          </a:p>
          <a:p>
            <a:pPr>
              <a:spcAft>
                <a:spcPts val="0"/>
              </a:spcAft>
            </a:pP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}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.</a:t>
            </a:r>
            <a:r>
              <a:rPr lang="ru-RU" sz="2800" b="1" dirty="0" err="1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floatRight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{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float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right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border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1px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solid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red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}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281127" y="214043"/>
            <a:ext cx="677402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&lt;div </a:t>
            </a:r>
            <a:r>
              <a:rPr lang="en-US" sz="2800" b="1" dirty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class =</a:t>
            </a: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"container</a:t>
            </a:r>
            <a:r>
              <a:rPr lang="en-US" sz="2800" b="1" dirty="0" smtClean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</a:t>
            </a:r>
            <a:r>
              <a:rPr lang="en-US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div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class</a:t>
            </a:r>
            <a:r>
              <a:rPr lang="ru-RU" sz="2800" b="1" dirty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=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floatRight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</a:t>
            </a: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p&gt;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Что появилось первым?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&lt;/p&gt;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&lt;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ul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	&lt;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li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Яйцо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&lt;/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li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	&lt;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li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Курица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&lt;/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li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	&lt;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li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r>
              <a:rPr lang="ru-RU" sz="2800" dirty="0"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Петух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&lt;/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li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&lt;/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ul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</a:t>
            </a: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&lt;/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div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 smtClean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&lt;/</a:t>
            </a:r>
            <a:r>
              <a:rPr lang="ru-RU" sz="2800" b="1" dirty="0" err="1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div</a:t>
            </a:r>
            <a:r>
              <a:rPr lang="ru-RU" sz="2800" b="1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&gt;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1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050" y="690465"/>
            <a:ext cx="8356135" cy="477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158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71331" y="670606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/>
              <a:t>С</a:t>
            </a:r>
            <a:r>
              <a:rPr lang="ru-RU" sz="3200" dirty="0" smtClean="0"/>
              <a:t>войство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clear</a:t>
            </a:r>
            <a:r>
              <a:rPr lang="ru-RU" sz="3200" dirty="0" smtClean="0"/>
              <a:t> </a:t>
            </a:r>
            <a:r>
              <a:rPr lang="ru-RU" sz="3200" dirty="0"/>
              <a:t>определяет, какие стороны плавающего блока не могут соседствовать с другими плавающими блоками</a:t>
            </a:r>
            <a:r>
              <a:rPr lang="ru-RU" sz="3200" dirty="0" smtClean="0"/>
              <a:t>.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234195"/>
              </p:ext>
            </p:extLst>
          </p:nvPr>
        </p:nvGraphicFramePr>
        <p:xfrm>
          <a:off x="935472" y="2439058"/>
          <a:ext cx="9354040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49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7912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Значения свойства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Где</a:t>
                      </a:r>
                      <a:r>
                        <a:rPr lang="ru-RU" sz="2800" baseline="0" dirty="0" smtClean="0"/>
                        <a:t> должен располагаться блок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left</a:t>
                      </a:r>
                      <a:endParaRPr lang="ru-R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 разрешены с левой стороны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err="1" smtClean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right</a:t>
                      </a:r>
                      <a:endParaRPr lang="ru-R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 разрешены с правой стороны</a:t>
                      </a:r>
                      <a:endParaRPr lang="ru-RU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err="1" smtClean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both</a:t>
                      </a:r>
                      <a:endParaRPr lang="ru-R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 разрешены с обоих сторон элемента </a:t>
                      </a:r>
                      <a:endParaRPr lang="ru-RU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err="1" smtClean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none</a:t>
                      </a:r>
                      <a:endParaRPr lang="ru-R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ограничений нет (это значение по умолчанию)</a:t>
                      </a:r>
                      <a:endParaRPr lang="ru-RU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60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9290" y="73448"/>
            <a:ext cx="11793894" cy="42559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err="1">
                <a:solidFill>
                  <a:srgbClr val="000000"/>
                </a:solidFill>
                <a:latin typeface="Arial"/>
              </a:rPr>
              <a:t>img</a:t>
            </a:r>
            <a:r>
              <a:rPr lang="ru-RU" sz="26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6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600" b="1" dirty="0" err="1">
                <a:solidFill>
                  <a:srgbClr val="B22222"/>
                </a:solidFill>
                <a:latin typeface="Arial"/>
              </a:rPr>
              <a:t>width</a:t>
            </a:r>
            <a:r>
              <a:rPr lang="ru-RU" sz="2600" b="1" dirty="0">
                <a:solidFill>
                  <a:srgbClr val="B22222"/>
                </a:solidFill>
                <a:latin typeface="Arial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/>
              </a:rPr>
              <a:t> : </a:t>
            </a:r>
            <a:r>
              <a:rPr lang="ru-RU" sz="2600" b="1" dirty="0">
                <a:solidFill>
                  <a:srgbClr val="4B0082"/>
                </a:solidFill>
                <a:latin typeface="Arial"/>
              </a:rPr>
              <a:t>100px</a:t>
            </a:r>
            <a:r>
              <a:rPr lang="ru-RU" sz="2600" dirty="0" smtClean="0">
                <a:solidFill>
                  <a:srgbClr val="000000"/>
                </a:solidFill>
                <a:latin typeface="Arial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err="1" smtClean="0">
                <a:solidFill>
                  <a:srgbClr val="B22222"/>
                </a:solidFill>
                <a:latin typeface="Arial"/>
              </a:rPr>
              <a:t>height</a:t>
            </a:r>
            <a:r>
              <a:rPr lang="ru-RU" sz="2600" b="1" dirty="0" smtClean="0">
                <a:solidFill>
                  <a:srgbClr val="B22222"/>
                </a:solidFill>
                <a:latin typeface="Arial"/>
              </a:rPr>
              <a:t> </a:t>
            </a:r>
            <a:r>
              <a:rPr lang="ru-RU" sz="26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600" b="1" dirty="0">
                <a:solidFill>
                  <a:srgbClr val="4B0082"/>
                </a:solidFill>
                <a:latin typeface="Arial"/>
              </a:rPr>
              <a:t>100px</a:t>
            </a:r>
            <a:r>
              <a:rPr lang="ru-RU" sz="2600" dirty="0">
                <a:solidFill>
                  <a:srgbClr val="000000"/>
                </a:solidFill>
                <a:latin typeface="Arial"/>
              </a:rPr>
              <a:t>; </a:t>
            </a:r>
            <a:endParaRPr lang="ru-RU" sz="2600" dirty="0" smtClean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err="1" smtClean="0">
                <a:solidFill>
                  <a:srgbClr val="B22222"/>
                </a:solidFill>
                <a:latin typeface="Arial"/>
              </a:rPr>
              <a:t>float</a:t>
            </a:r>
            <a:r>
              <a:rPr lang="ru-RU" sz="26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600" b="1" dirty="0" err="1">
                <a:solidFill>
                  <a:srgbClr val="4B0082"/>
                </a:solidFill>
                <a:latin typeface="Arial"/>
              </a:rPr>
              <a:t>left</a:t>
            </a:r>
            <a:r>
              <a:rPr lang="ru-RU" sz="26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6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600" b="1" dirty="0" err="1">
                <a:solidFill>
                  <a:srgbClr val="000000"/>
                </a:solidFill>
                <a:latin typeface="Arial"/>
              </a:rPr>
              <a:t>primer</a:t>
            </a:r>
            <a:r>
              <a:rPr lang="ru-RU" sz="26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6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600" b="1" dirty="0" err="1">
                <a:solidFill>
                  <a:srgbClr val="B22222"/>
                </a:solidFill>
                <a:latin typeface="Arial"/>
              </a:rPr>
              <a:t>clear</a:t>
            </a:r>
            <a:r>
              <a:rPr lang="ru-RU" sz="2600" b="1" dirty="0">
                <a:solidFill>
                  <a:srgbClr val="B22222"/>
                </a:solidFill>
                <a:latin typeface="Arial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/>
              </a:rPr>
              <a:t> : </a:t>
            </a:r>
            <a:r>
              <a:rPr lang="ru-RU" sz="2600" b="1" dirty="0" err="1">
                <a:solidFill>
                  <a:srgbClr val="4B0082"/>
                </a:solidFill>
                <a:latin typeface="Arial"/>
              </a:rPr>
              <a:t>left</a:t>
            </a:r>
            <a:r>
              <a:rPr lang="ru-RU" sz="26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6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 smtClean="0">
                <a:solidFill>
                  <a:srgbClr val="4169E1"/>
                </a:solidFill>
                <a:latin typeface="Arial"/>
              </a:rPr>
              <a:t>…</a:t>
            </a:r>
            <a:r>
              <a:rPr lang="en-US" sz="2600" b="1" dirty="0">
                <a:solidFill>
                  <a:srgbClr val="4169E1"/>
                </a:solidFill>
                <a:latin typeface="Arial"/>
              </a:rPr>
              <a:t> </a:t>
            </a:r>
            <a:r>
              <a:rPr lang="ru-RU" sz="2600" b="1" dirty="0">
                <a:solidFill>
                  <a:srgbClr val="4169E1"/>
                </a:solidFill>
                <a:latin typeface="Arial"/>
              </a:rPr>
              <a:t>	</a:t>
            </a:r>
            <a:endParaRPr lang="en-US" sz="2600" b="1" dirty="0" smtClean="0">
              <a:solidFill>
                <a:srgbClr val="4169E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smtClean="0">
                <a:solidFill>
                  <a:srgbClr val="4169E1"/>
                </a:solidFill>
                <a:latin typeface="Arial"/>
              </a:rPr>
              <a:t>&lt;</a:t>
            </a:r>
            <a:r>
              <a:rPr lang="ru-RU" sz="2600" b="1" dirty="0" err="1">
                <a:solidFill>
                  <a:srgbClr val="4169E1"/>
                </a:solidFill>
                <a:latin typeface="Arial"/>
              </a:rPr>
              <a:t>img</a:t>
            </a:r>
            <a:r>
              <a:rPr lang="ru-RU" sz="26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600" b="1" dirty="0" err="1">
                <a:solidFill>
                  <a:srgbClr val="B22222"/>
                </a:solidFill>
                <a:latin typeface="Arial"/>
              </a:rPr>
              <a:t>src</a:t>
            </a:r>
            <a:r>
              <a:rPr lang="ru-RU" sz="2600" b="1" dirty="0">
                <a:solidFill>
                  <a:srgbClr val="B22222"/>
                </a:solidFill>
                <a:latin typeface="Arial"/>
              </a:rPr>
              <a:t> = </a:t>
            </a:r>
            <a:r>
              <a:rPr lang="ru-RU" sz="2600" b="1" dirty="0">
                <a:solidFill>
                  <a:srgbClr val="4B0082"/>
                </a:solidFill>
                <a:latin typeface="Arial"/>
              </a:rPr>
              <a:t>"nich.jpg"</a:t>
            </a:r>
            <a:r>
              <a:rPr lang="ru-RU" sz="26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600" b="1" dirty="0" err="1">
                <a:solidFill>
                  <a:srgbClr val="B22222"/>
                </a:solidFill>
                <a:latin typeface="Arial"/>
              </a:rPr>
              <a:t>alt</a:t>
            </a:r>
            <a:r>
              <a:rPr lang="ru-RU" sz="2600" b="1" dirty="0">
                <a:solidFill>
                  <a:srgbClr val="B22222"/>
                </a:solidFill>
                <a:latin typeface="Arial"/>
              </a:rPr>
              <a:t> = </a:t>
            </a:r>
            <a:r>
              <a:rPr lang="ru-RU" sz="2600" b="1" dirty="0">
                <a:solidFill>
                  <a:srgbClr val="4B0082"/>
                </a:solidFill>
                <a:latin typeface="Arial"/>
              </a:rPr>
              <a:t>"</a:t>
            </a:r>
            <a:r>
              <a:rPr lang="ru-RU" sz="2600" b="1" dirty="0" err="1">
                <a:solidFill>
                  <a:srgbClr val="4B0082"/>
                </a:solidFill>
                <a:latin typeface="Arial"/>
              </a:rPr>
              <a:t>nich</a:t>
            </a:r>
            <a:r>
              <a:rPr lang="ru-RU" sz="2600" b="1" dirty="0">
                <a:solidFill>
                  <a:srgbClr val="4B0082"/>
                </a:solidFill>
                <a:latin typeface="Arial"/>
              </a:rPr>
              <a:t>"</a:t>
            </a:r>
            <a:r>
              <a:rPr lang="ru-RU" sz="2600" b="1" dirty="0">
                <a:solidFill>
                  <a:srgbClr val="4169E1"/>
                </a:solidFill>
                <a:latin typeface="Arial"/>
              </a:rPr>
              <a:t>&gt;	</a:t>
            </a:r>
            <a:endParaRPr lang="en-US" sz="2600" b="1" dirty="0" smtClean="0">
              <a:solidFill>
                <a:srgbClr val="4169E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>
                <a:solidFill>
                  <a:srgbClr val="4169E1"/>
                </a:solidFill>
                <a:latin typeface="Arial"/>
              </a:rPr>
              <a:t>	</a:t>
            </a:r>
            <a:endParaRPr lang="ru-RU" sz="2600" b="1" dirty="0" smtClean="0">
              <a:solidFill>
                <a:srgbClr val="4169E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smtClean="0">
                <a:solidFill>
                  <a:srgbClr val="4169E1"/>
                </a:solidFill>
                <a:latin typeface="Arial"/>
              </a:rPr>
              <a:t>&lt;</a:t>
            </a:r>
            <a:r>
              <a:rPr lang="ru-RU" sz="2600" b="1" dirty="0">
                <a:solidFill>
                  <a:srgbClr val="4169E1"/>
                </a:solidFill>
                <a:latin typeface="Arial"/>
              </a:rPr>
              <a:t>p&gt;</a:t>
            </a:r>
            <a:r>
              <a:rPr lang="ru-RU" sz="2600" b="1" dirty="0">
                <a:solidFill>
                  <a:srgbClr val="000000"/>
                </a:solidFill>
                <a:latin typeface="Arial"/>
              </a:rPr>
              <a:t>Съешь же ещё этих мягких </a:t>
            </a:r>
            <a:endParaRPr lang="en-US" sz="2600" b="1" dirty="0" smtClean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smtClean="0">
                <a:solidFill>
                  <a:srgbClr val="000000"/>
                </a:solidFill>
                <a:latin typeface="Arial"/>
              </a:rPr>
              <a:t>французских </a:t>
            </a:r>
            <a:r>
              <a:rPr lang="ru-RU" sz="2600" b="1" dirty="0">
                <a:solidFill>
                  <a:srgbClr val="000000"/>
                </a:solidFill>
                <a:latin typeface="Arial"/>
              </a:rPr>
              <a:t>булок да выпей чаю</a:t>
            </a:r>
            <a:r>
              <a:rPr lang="ru-RU" sz="2600" b="1" dirty="0" smtClean="0">
                <a:solidFill>
                  <a:srgbClr val="000000"/>
                </a:solidFill>
                <a:latin typeface="Arial"/>
              </a:rPr>
              <a:t>.</a:t>
            </a:r>
            <a:endParaRPr lang="en-US" sz="2600" b="1" dirty="0" smtClean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smtClean="0">
                <a:solidFill>
                  <a:srgbClr val="4169E1"/>
                </a:solidFill>
                <a:latin typeface="Arial"/>
              </a:rPr>
              <a:t>&lt;/</a:t>
            </a:r>
            <a:r>
              <a:rPr lang="ru-RU" sz="2600" b="1" dirty="0">
                <a:solidFill>
                  <a:srgbClr val="4169E1"/>
                </a:solidFill>
                <a:latin typeface="Arial"/>
              </a:rPr>
              <a:t>p&gt;	</a:t>
            </a:r>
            <a:endParaRPr lang="en-US" sz="2600" b="1" dirty="0" smtClean="0">
              <a:solidFill>
                <a:srgbClr val="4169E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>
                <a:solidFill>
                  <a:srgbClr val="4169E1"/>
                </a:solidFill>
                <a:latin typeface="Arial"/>
              </a:rPr>
              <a:t>	</a:t>
            </a:r>
            <a:endParaRPr lang="ru-RU" sz="2600" b="1" dirty="0" smtClean="0">
              <a:solidFill>
                <a:srgbClr val="4169E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smtClean="0">
                <a:solidFill>
                  <a:srgbClr val="4169E1"/>
                </a:solidFill>
                <a:latin typeface="Arial"/>
              </a:rPr>
              <a:t>&lt;</a:t>
            </a:r>
            <a:r>
              <a:rPr lang="ru-RU" sz="2600" b="1" dirty="0">
                <a:solidFill>
                  <a:srgbClr val="4169E1"/>
                </a:solidFill>
                <a:latin typeface="Arial"/>
              </a:rPr>
              <a:t>p</a:t>
            </a:r>
            <a:r>
              <a:rPr lang="ru-RU" sz="26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600" b="1" dirty="0" err="1">
                <a:solidFill>
                  <a:srgbClr val="B22222"/>
                </a:solidFill>
                <a:latin typeface="Arial"/>
              </a:rPr>
              <a:t>class</a:t>
            </a:r>
            <a:r>
              <a:rPr lang="ru-RU" sz="2600" b="1" dirty="0">
                <a:solidFill>
                  <a:srgbClr val="B22222"/>
                </a:solidFill>
                <a:latin typeface="Arial"/>
              </a:rPr>
              <a:t> = </a:t>
            </a:r>
            <a:r>
              <a:rPr lang="ru-RU" sz="2600" b="1" dirty="0">
                <a:solidFill>
                  <a:srgbClr val="4B0082"/>
                </a:solidFill>
                <a:latin typeface="Arial"/>
              </a:rPr>
              <a:t>"</a:t>
            </a:r>
            <a:r>
              <a:rPr lang="ru-RU" sz="2600" b="1" dirty="0" err="1">
                <a:solidFill>
                  <a:srgbClr val="4B0082"/>
                </a:solidFill>
                <a:latin typeface="Arial"/>
              </a:rPr>
              <a:t>primer</a:t>
            </a:r>
            <a:r>
              <a:rPr lang="ru-RU" sz="2600" b="1" dirty="0">
                <a:solidFill>
                  <a:srgbClr val="4B0082"/>
                </a:solidFill>
                <a:latin typeface="Arial"/>
              </a:rPr>
              <a:t>"</a:t>
            </a:r>
            <a:r>
              <a:rPr lang="ru-RU" sz="2600" b="1" dirty="0">
                <a:solidFill>
                  <a:srgbClr val="4169E1"/>
                </a:solidFill>
                <a:latin typeface="Arial"/>
              </a:rPr>
              <a:t>&gt;</a:t>
            </a:r>
            <a:r>
              <a:rPr lang="ru-RU" sz="2600" b="1" dirty="0">
                <a:solidFill>
                  <a:srgbClr val="000000"/>
                </a:solidFill>
                <a:latin typeface="Arial"/>
              </a:rPr>
              <a:t>Съешь же ещё </a:t>
            </a:r>
            <a:endParaRPr lang="en-US" sz="2600" b="1" dirty="0" smtClean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smtClean="0">
                <a:solidFill>
                  <a:srgbClr val="000000"/>
                </a:solidFill>
                <a:latin typeface="Arial"/>
              </a:rPr>
              <a:t>этих </a:t>
            </a:r>
            <a:r>
              <a:rPr lang="ru-RU" sz="2600" b="1" dirty="0">
                <a:solidFill>
                  <a:srgbClr val="000000"/>
                </a:solidFill>
                <a:latin typeface="Arial"/>
              </a:rPr>
              <a:t>мягких французских булок </a:t>
            </a:r>
            <a:endParaRPr lang="en-US" sz="2600" b="1" dirty="0" smtClean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smtClean="0">
                <a:solidFill>
                  <a:srgbClr val="000000"/>
                </a:solidFill>
                <a:latin typeface="Arial"/>
              </a:rPr>
              <a:t>да </a:t>
            </a:r>
            <a:r>
              <a:rPr lang="ru-RU" sz="2600" b="1" dirty="0">
                <a:solidFill>
                  <a:srgbClr val="000000"/>
                </a:solidFill>
                <a:latin typeface="Arial"/>
              </a:rPr>
              <a:t>выпей чаю</a:t>
            </a:r>
            <a:r>
              <a:rPr lang="ru-RU" sz="2600" b="1" dirty="0" smtClean="0">
                <a:solidFill>
                  <a:srgbClr val="000000"/>
                </a:solidFill>
                <a:latin typeface="Arial"/>
              </a:rPr>
              <a:t>.</a:t>
            </a:r>
            <a:endParaRPr lang="en-US" sz="2600" b="1" dirty="0" smtClean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600" b="1" dirty="0" smtClean="0">
                <a:solidFill>
                  <a:srgbClr val="4169E1"/>
                </a:solidFill>
                <a:latin typeface="Arial"/>
              </a:rPr>
              <a:t>&lt;</a:t>
            </a:r>
            <a:r>
              <a:rPr lang="en-US" sz="2600" b="1" dirty="0" smtClean="0">
                <a:solidFill>
                  <a:srgbClr val="4169E1"/>
                </a:solidFill>
                <a:latin typeface="Arial"/>
              </a:rPr>
              <a:t>p</a:t>
            </a:r>
            <a:r>
              <a:rPr lang="ru-RU" sz="2600" b="1" dirty="0" smtClean="0">
                <a:solidFill>
                  <a:srgbClr val="4169E1"/>
                </a:solidFill>
                <a:latin typeface="Arial"/>
              </a:rPr>
              <a:t>&gt;</a:t>
            </a:r>
            <a:r>
              <a:rPr lang="ru-RU" sz="2600" b="1" dirty="0" smtClean="0"/>
              <a:t> </a:t>
            </a:r>
            <a:endParaRPr lang="ru-RU" sz="2600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145" y="3265714"/>
            <a:ext cx="6261856" cy="359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314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4849</TotalTime>
  <Words>6546</Words>
  <Application>Microsoft Office PowerPoint</Application>
  <PresentationFormat>Широкоэкранный</PresentationFormat>
  <Paragraphs>1235</Paragraphs>
  <Slides>163</Slides>
  <Notes>76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163</vt:i4>
      </vt:variant>
    </vt:vector>
  </HeadingPairs>
  <TitlesOfParts>
    <vt:vector size="176" baseType="lpstr">
      <vt:lpstr>Arial Unicode MS</vt:lpstr>
      <vt:lpstr>Arial</vt:lpstr>
      <vt:lpstr>Calibri</vt:lpstr>
      <vt:lpstr>Calibri Light</vt:lpstr>
      <vt:lpstr>Consolas</vt:lpstr>
      <vt:lpstr>Courier New</vt:lpstr>
      <vt:lpstr>EucrosiaUPC</vt:lpstr>
      <vt:lpstr>Georgia</vt:lpstr>
      <vt:lpstr>Helvetica</vt:lpstr>
      <vt:lpstr>Symbol</vt:lpstr>
      <vt:lpstr>Times New Roman</vt:lpstr>
      <vt:lpstr>Wingdings</vt:lpstr>
      <vt:lpstr>Retrospect</vt:lpstr>
      <vt:lpstr>СОВРЕМЕННЫЕ ТЕХНОЛОГИИ РАЗРАБОТКИ WEB-ПРИЛОЖЕНИЙ</vt:lpstr>
      <vt:lpstr>Работа с блоками и текстом в CSS</vt:lpstr>
      <vt:lpstr>Документ для примеров</vt:lpstr>
      <vt:lpstr>Документ для примеров</vt:lpstr>
      <vt:lpstr>CSS-блоки</vt:lpstr>
      <vt:lpstr>CSS-блоки</vt:lpstr>
      <vt:lpstr>Структура блока</vt:lpstr>
      <vt:lpstr>Структура блока</vt:lpstr>
      <vt:lpstr>Презентация PowerPoint</vt:lpstr>
      <vt:lpstr>Презентация PowerPoint</vt:lpstr>
      <vt:lpstr>Презентация PowerPoint</vt:lpstr>
      <vt:lpstr>Презентация PowerPoint</vt:lpstr>
      <vt:lpstr>Структура блока</vt:lpstr>
      <vt:lpstr>Презентация PowerPoint</vt:lpstr>
      <vt:lpstr>Презентация PowerPoint</vt:lpstr>
      <vt:lpstr>Презентация PowerPoint</vt:lpstr>
      <vt:lpstr>Структура блока</vt:lpstr>
      <vt:lpstr>Настройка границы блока</vt:lpstr>
      <vt:lpstr>Настройка границы блока</vt:lpstr>
      <vt:lpstr>Настройка границы блока – пример</vt:lpstr>
      <vt:lpstr>Презентация PowerPoint</vt:lpstr>
      <vt:lpstr>Настройка границы блока</vt:lpstr>
      <vt:lpstr>самый быстрый способ получить три границы </vt:lpstr>
      <vt:lpstr>Презентация PowerPoint</vt:lpstr>
      <vt:lpstr>Закругление углов</vt:lpstr>
      <vt:lpstr>Закругление углов</vt:lpstr>
      <vt:lpstr>Закругление углов</vt:lpstr>
      <vt:lpstr>Презентация PowerPoint</vt:lpstr>
      <vt:lpstr>Презентация PowerPoint</vt:lpstr>
      <vt:lpstr>Презентация PowerPoint</vt:lpstr>
      <vt:lpstr>Презентация PowerPoint</vt:lpstr>
      <vt:lpstr>Изображения для границы</vt:lpstr>
      <vt:lpstr>border-image </vt:lpstr>
      <vt:lpstr>border-image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Свойство outline</vt:lpstr>
      <vt:lpstr>Свойство outline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Фон блока</vt:lpstr>
      <vt:lpstr>Фон блока</vt:lpstr>
      <vt:lpstr>Фон блока – пример 1</vt:lpstr>
      <vt:lpstr>Фон блока – пример 1</vt:lpstr>
      <vt:lpstr>background-attachment</vt:lpstr>
      <vt:lpstr>Презентация PowerPoint</vt:lpstr>
      <vt:lpstr>Презентация PowerPoint</vt:lpstr>
      <vt:lpstr>background-repeat</vt:lpstr>
      <vt:lpstr>background-repeat</vt:lpstr>
      <vt:lpstr>Презентация PowerPoint</vt:lpstr>
      <vt:lpstr>background-size </vt:lpstr>
      <vt:lpstr>background-size </vt:lpstr>
      <vt:lpstr>background-position</vt:lpstr>
      <vt:lpstr>Презентация PowerPoint</vt:lpstr>
      <vt:lpstr>Презентация PowerPoint</vt:lpstr>
      <vt:lpstr>background-clip</vt:lpstr>
      <vt:lpstr>Презентация PowerPoint</vt:lpstr>
      <vt:lpstr>Презентация PowerPoint</vt:lpstr>
      <vt:lpstr>background-origin </vt:lpstr>
      <vt:lpstr>Презентация PowerPoint</vt:lpstr>
      <vt:lpstr>Градиенты</vt:lpstr>
      <vt:lpstr>Линейный градиент</vt:lpstr>
      <vt:lpstr>Линейный градиент</vt:lpstr>
      <vt:lpstr>Линейный градиент</vt:lpstr>
      <vt:lpstr>Презентация PowerPoint</vt:lpstr>
      <vt:lpstr>Линейный градиент</vt:lpstr>
      <vt:lpstr>Линейный градиент</vt:lpstr>
      <vt:lpstr>Линейный градиент</vt:lpstr>
      <vt:lpstr>Линейный градиент</vt:lpstr>
      <vt:lpstr>Линейный градиент</vt:lpstr>
      <vt:lpstr>Линейный градиент</vt:lpstr>
      <vt:lpstr>Презентация PowerPoint</vt:lpstr>
      <vt:lpstr>Линейный градиент</vt:lpstr>
      <vt:lpstr>Линейный градиент</vt:lpstr>
      <vt:lpstr>Линейный градиент</vt:lpstr>
      <vt:lpstr>Презентация PowerPoint</vt:lpstr>
      <vt:lpstr>Презентация PowerPoint</vt:lpstr>
      <vt:lpstr>Радиальный градиент</vt:lpstr>
      <vt:lpstr>Радиальный градиент</vt:lpstr>
      <vt:lpstr>Радиальный градиент</vt:lpstr>
      <vt:lpstr>Радиальный градиент</vt:lpstr>
      <vt:lpstr>Радиальный градиент</vt:lpstr>
      <vt:lpstr>Радиальный градиент</vt:lpstr>
      <vt:lpstr>Радиальный градиент</vt:lpstr>
      <vt:lpstr>closest-side</vt:lpstr>
      <vt:lpstr>closest-corner</vt:lpstr>
      <vt:lpstr>farthest-side</vt:lpstr>
      <vt:lpstr>farthest-corner</vt:lpstr>
      <vt:lpstr>Радиальный градиент</vt:lpstr>
      <vt:lpstr>Радиальный градиент</vt:lpstr>
      <vt:lpstr>Презентация PowerPoint</vt:lpstr>
      <vt:lpstr>Презентация PowerPoint</vt:lpstr>
      <vt:lpstr>Презентация PowerPoint</vt:lpstr>
      <vt:lpstr>Презентация PowerPoint</vt:lpstr>
      <vt:lpstr>Вендорные префиксы</vt:lpstr>
      <vt:lpstr>Вендорные префиксы и градиенты</vt:lpstr>
      <vt:lpstr>http://www.colorzilla.com/gradient-editor/</vt:lpstr>
      <vt:lpstr>Тень блока</vt:lpstr>
      <vt:lpstr>Презентация PowerPoint</vt:lpstr>
      <vt:lpstr>Презентация PowerPoint</vt:lpstr>
      <vt:lpstr>Размер блока. Отступы и поля</vt:lpstr>
      <vt:lpstr>Отступы и поля – пример 1</vt:lpstr>
      <vt:lpstr>Отступы и поля – пример 2</vt:lpstr>
      <vt:lpstr>Ширина и высота</vt:lpstr>
      <vt:lpstr>Ширина и высота – пример</vt:lpstr>
      <vt:lpstr>Работа с шириной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Работа с высотой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Свойство box-sizing</vt:lpstr>
      <vt:lpstr>Презентация PowerPoint</vt:lpstr>
      <vt:lpstr>Видимость элемента</vt:lpstr>
      <vt:lpstr>Презентация PowerPoint</vt:lpstr>
      <vt:lpstr>Презентация PowerPoint</vt:lpstr>
      <vt:lpstr>Презентация PowerPoint</vt:lpstr>
      <vt:lpstr>Позиционирование блоков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Плавающие блоки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</dc:creator>
  <cp:lastModifiedBy>ANNA</cp:lastModifiedBy>
  <cp:revision>407</cp:revision>
  <cp:lastPrinted>2016-01-26T13:20:45Z</cp:lastPrinted>
  <dcterms:created xsi:type="dcterms:W3CDTF">2015-03-09T11:51:14Z</dcterms:created>
  <dcterms:modified xsi:type="dcterms:W3CDTF">2023-09-11T09:50:50Z</dcterms:modified>
</cp:coreProperties>
</file>