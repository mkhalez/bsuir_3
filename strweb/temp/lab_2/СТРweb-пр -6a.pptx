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34"/>
  </p:notesMasterIdLst>
  <p:handoutMasterIdLst>
    <p:handoutMasterId r:id="rId135"/>
  </p:handoutMasterIdLst>
  <p:sldIdLst>
    <p:sldId id="280" r:id="rId2"/>
    <p:sldId id="281" r:id="rId3"/>
    <p:sldId id="282" r:id="rId4"/>
    <p:sldId id="284" r:id="rId5"/>
    <p:sldId id="293" r:id="rId6"/>
    <p:sldId id="397" r:id="rId7"/>
    <p:sldId id="399" r:id="rId8"/>
    <p:sldId id="414" r:id="rId9"/>
    <p:sldId id="398" r:id="rId10"/>
    <p:sldId id="401" r:id="rId11"/>
    <p:sldId id="400" r:id="rId12"/>
    <p:sldId id="402" r:id="rId13"/>
    <p:sldId id="285" r:id="rId14"/>
    <p:sldId id="287" r:id="rId15"/>
    <p:sldId id="288" r:id="rId16"/>
    <p:sldId id="403" r:id="rId17"/>
    <p:sldId id="289" r:id="rId18"/>
    <p:sldId id="404" r:id="rId19"/>
    <p:sldId id="290" r:id="rId20"/>
    <p:sldId id="405" r:id="rId21"/>
    <p:sldId id="298" r:id="rId22"/>
    <p:sldId id="406" r:id="rId23"/>
    <p:sldId id="407" r:id="rId24"/>
    <p:sldId id="295" r:id="rId25"/>
    <p:sldId id="408" r:id="rId26"/>
    <p:sldId id="512" r:id="rId27"/>
    <p:sldId id="409" r:id="rId28"/>
    <p:sldId id="514" r:id="rId29"/>
    <p:sldId id="511" r:id="rId30"/>
    <p:sldId id="515" r:id="rId31"/>
    <p:sldId id="516" r:id="rId32"/>
    <p:sldId id="517" r:id="rId33"/>
    <p:sldId id="518" r:id="rId34"/>
    <p:sldId id="519" r:id="rId35"/>
    <p:sldId id="520" r:id="rId36"/>
    <p:sldId id="521" r:id="rId37"/>
    <p:sldId id="522" r:id="rId38"/>
    <p:sldId id="523" r:id="rId39"/>
    <p:sldId id="524" r:id="rId40"/>
    <p:sldId id="299" r:id="rId41"/>
    <p:sldId id="410" r:id="rId42"/>
    <p:sldId id="411" r:id="rId43"/>
    <p:sldId id="300" r:id="rId44"/>
    <p:sldId id="301" r:id="rId45"/>
    <p:sldId id="302" r:id="rId46"/>
    <p:sldId id="412" r:id="rId47"/>
    <p:sldId id="567" r:id="rId48"/>
    <p:sldId id="415" r:id="rId49"/>
    <p:sldId id="303" r:id="rId50"/>
    <p:sldId id="416" r:id="rId51"/>
    <p:sldId id="417" r:id="rId52"/>
    <p:sldId id="304" r:id="rId53"/>
    <p:sldId id="418" r:id="rId54"/>
    <p:sldId id="305" r:id="rId55"/>
    <p:sldId id="419" r:id="rId56"/>
    <p:sldId id="420" r:id="rId57"/>
    <p:sldId id="307" r:id="rId58"/>
    <p:sldId id="308" r:id="rId59"/>
    <p:sldId id="422" r:id="rId60"/>
    <p:sldId id="423" r:id="rId61"/>
    <p:sldId id="421" r:id="rId62"/>
    <p:sldId id="424" r:id="rId63"/>
    <p:sldId id="425" r:id="rId64"/>
    <p:sldId id="427" r:id="rId65"/>
    <p:sldId id="426" r:id="rId66"/>
    <p:sldId id="428" r:id="rId67"/>
    <p:sldId id="429" r:id="rId68"/>
    <p:sldId id="310" r:id="rId69"/>
    <p:sldId id="431" r:id="rId70"/>
    <p:sldId id="430" r:id="rId71"/>
    <p:sldId id="433" r:id="rId72"/>
    <p:sldId id="435" r:id="rId73"/>
    <p:sldId id="434" r:id="rId74"/>
    <p:sldId id="432" r:id="rId75"/>
    <p:sldId id="436" r:id="rId76"/>
    <p:sldId id="437" r:id="rId77"/>
    <p:sldId id="438" r:id="rId78"/>
    <p:sldId id="440" r:id="rId79"/>
    <p:sldId id="441" r:id="rId80"/>
    <p:sldId id="443" r:id="rId81"/>
    <p:sldId id="442" r:id="rId82"/>
    <p:sldId id="444" r:id="rId83"/>
    <p:sldId id="439" r:id="rId84"/>
    <p:sldId id="445" r:id="rId85"/>
    <p:sldId id="446" r:id="rId86"/>
    <p:sldId id="447" r:id="rId87"/>
    <p:sldId id="316" r:id="rId88"/>
    <p:sldId id="455" r:id="rId89"/>
    <p:sldId id="457" r:id="rId90"/>
    <p:sldId id="456" r:id="rId91"/>
    <p:sldId id="458" r:id="rId92"/>
    <p:sldId id="453" r:id="rId93"/>
    <p:sldId id="500" r:id="rId94"/>
    <p:sldId id="459" r:id="rId95"/>
    <p:sldId id="460" r:id="rId96"/>
    <p:sldId id="461" r:id="rId97"/>
    <p:sldId id="486" r:id="rId98"/>
    <p:sldId id="331" r:id="rId99"/>
    <p:sldId id="485" r:id="rId100"/>
    <p:sldId id="487" r:id="rId101"/>
    <p:sldId id="488" r:id="rId102"/>
    <p:sldId id="462" r:id="rId103"/>
    <p:sldId id="465" r:id="rId104"/>
    <p:sldId id="463" r:id="rId105"/>
    <p:sldId id="466" r:id="rId106"/>
    <p:sldId id="467" r:id="rId107"/>
    <p:sldId id="468" r:id="rId108"/>
    <p:sldId id="471" r:id="rId109"/>
    <p:sldId id="469" r:id="rId110"/>
    <p:sldId id="470" r:id="rId111"/>
    <p:sldId id="472" r:id="rId112"/>
    <p:sldId id="473" r:id="rId113"/>
    <p:sldId id="474" r:id="rId114"/>
    <p:sldId id="475" r:id="rId115"/>
    <p:sldId id="476" r:id="rId116"/>
    <p:sldId id="477" r:id="rId117"/>
    <p:sldId id="478" r:id="rId118"/>
    <p:sldId id="479" r:id="rId119"/>
    <p:sldId id="480" r:id="rId120"/>
    <p:sldId id="481" r:id="rId121"/>
    <p:sldId id="336" r:id="rId122"/>
    <p:sldId id="337" r:id="rId123"/>
    <p:sldId id="338" r:id="rId124"/>
    <p:sldId id="489" r:id="rId125"/>
    <p:sldId id="491" r:id="rId126"/>
    <p:sldId id="501" r:id="rId127"/>
    <p:sldId id="492" r:id="rId128"/>
    <p:sldId id="490" r:id="rId129"/>
    <p:sldId id="339" r:id="rId130"/>
    <p:sldId id="340" r:id="rId131"/>
    <p:sldId id="343" r:id="rId132"/>
    <p:sldId id="344" r:id="rId133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C5C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5" autoAdjust="0"/>
    <p:restoredTop sz="83826" autoAdjust="0"/>
  </p:normalViewPr>
  <p:slideViewPr>
    <p:cSldViewPr snapToGrid="0">
      <p:cViewPr varScale="1">
        <p:scale>
          <a:sx n="77" d="100"/>
          <a:sy n="77" d="100"/>
        </p:scale>
        <p:origin x="120" y="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handoutMaster" Target="handoutMasters/handout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Экспериментальные значения для </a:t>
            </a:r>
            <a:r>
              <a:rPr lang="en-US" dirty="0" smtClean="0"/>
              <a:t>text-align:</a:t>
            </a:r>
          </a:p>
          <a:p>
            <a:r>
              <a:rPr lang="ru-RU" b="1" dirty="0" err="1" smtClean="0"/>
              <a:t>start</a:t>
            </a:r>
            <a:r>
              <a:rPr lang="en-US" dirty="0" smtClean="0"/>
              <a:t>	</a:t>
            </a:r>
            <a:r>
              <a:rPr lang="ru-RU" dirty="0" smtClean="0"/>
              <a:t> Подобно </a:t>
            </a:r>
            <a:r>
              <a:rPr lang="ru-RU" dirty="0" err="1" smtClean="0"/>
              <a:t>left</a:t>
            </a:r>
            <a:r>
              <a:rPr lang="ru-RU" dirty="0" smtClean="0"/>
              <a:t> если направление слева направо, и </a:t>
            </a:r>
            <a:r>
              <a:rPr lang="ru-RU" dirty="0" err="1" smtClean="0"/>
              <a:t>right</a:t>
            </a:r>
            <a:r>
              <a:rPr lang="ru-RU" dirty="0" smtClean="0"/>
              <a:t> если наоборот</a:t>
            </a:r>
            <a:endParaRPr lang="en-US" dirty="0" smtClean="0"/>
          </a:p>
          <a:p>
            <a:r>
              <a:rPr lang="ru-RU" b="1" dirty="0" err="1" smtClean="0"/>
              <a:t>end</a:t>
            </a:r>
            <a:r>
              <a:rPr lang="ru-RU" b="1" dirty="0" smtClean="0"/>
              <a:t> </a:t>
            </a:r>
            <a:r>
              <a:rPr lang="en-US" dirty="0" smtClean="0"/>
              <a:t>	</a:t>
            </a:r>
            <a:r>
              <a:rPr lang="ru-RU" dirty="0" smtClean="0"/>
              <a:t>Подобно </a:t>
            </a:r>
            <a:r>
              <a:rPr lang="ru-RU" dirty="0" err="1" smtClean="0"/>
              <a:t>right</a:t>
            </a:r>
            <a:r>
              <a:rPr lang="ru-RU" dirty="0" smtClean="0"/>
              <a:t> если направление слева направо, и </a:t>
            </a:r>
            <a:r>
              <a:rPr lang="ru-RU" dirty="0" err="1" smtClean="0"/>
              <a:t>left</a:t>
            </a:r>
            <a:r>
              <a:rPr lang="ru-RU" dirty="0" smtClean="0"/>
              <a:t> если наоборот.</a:t>
            </a:r>
            <a:endParaRPr lang="en-US" dirty="0" smtClean="0"/>
          </a:p>
          <a:p>
            <a:r>
              <a:rPr lang="ru-RU" b="1" i="1" u="sng" dirty="0" smtClean="0"/>
              <a:t>&lt;</a:t>
            </a:r>
            <a:r>
              <a:rPr lang="ru-RU" b="1" i="1" u="sng" dirty="0" err="1" smtClean="0"/>
              <a:t>string</a:t>
            </a:r>
            <a:r>
              <a:rPr lang="ru-RU" b="1" i="1" u="sng" dirty="0" smtClean="0"/>
              <a:t>&gt;</a:t>
            </a:r>
            <a:r>
              <a:rPr lang="ru-RU" dirty="0" smtClean="0"/>
              <a:t> </a:t>
            </a:r>
            <a:r>
              <a:rPr lang="en-US" dirty="0" smtClean="0"/>
              <a:t>	</a:t>
            </a:r>
            <a:r>
              <a:rPr lang="ru-RU" dirty="0" smtClean="0"/>
              <a:t>Первое появление </a:t>
            </a:r>
            <a:r>
              <a:rPr lang="ru-RU" dirty="0" err="1" smtClean="0"/>
              <a:t>односимвольной</a:t>
            </a:r>
            <a:r>
              <a:rPr lang="ru-RU" dirty="0" smtClean="0"/>
              <a:t> строки - это элемент используемый для выравнивания. Ключевое слово, следует или предшествует, и определяет, как это выравнивается. Это позволяет выровнять численные значения с десятичной точкой, к примеру.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35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0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3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2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89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7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43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07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34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34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2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text-decoration-color</a:t>
            </a:r>
            <a:r>
              <a:rPr lang="ru-RU" sz="1400" dirty="0" smtClean="0"/>
              <a:t>, 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text-decoration-line</a:t>
            </a:r>
            <a:r>
              <a:rPr lang="ru-RU" sz="1400" dirty="0" smtClean="0"/>
              <a:t>, 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text-decoration-style</a:t>
            </a:r>
            <a:r>
              <a:rPr lang="ru-RU" sz="1400" dirty="0" smtClean="0"/>
              <a:t>.</a:t>
            </a:r>
          </a:p>
          <a:p>
            <a:r>
              <a:rPr lang="ru-RU" dirty="0" smtClean="0"/>
              <a:t>Это всё </a:t>
            </a:r>
            <a:r>
              <a:rPr lang="en-US" dirty="0" smtClean="0"/>
              <a:t>Firefox </a:t>
            </a:r>
            <a:r>
              <a:rPr lang="ru-RU" dirty="0" smtClean="0"/>
              <a:t>поддерживает с 38 версии, </a:t>
            </a:r>
            <a:r>
              <a:rPr lang="en-US" dirty="0" err="1" smtClean="0"/>
              <a:t>Safary</a:t>
            </a:r>
            <a:r>
              <a:rPr lang="en-US" dirty="0" smtClean="0"/>
              <a:t> – </a:t>
            </a:r>
            <a:r>
              <a:rPr lang="ru-RU" dirty="0" smtClean="0"/>
              <a:t>частично.</a:t>
            </a:r>
          </a:p>
          <a:p>
            <a:r>
              <a:rPr lang="ru-RU" dirty="0" smtClean="0"/>
              <a:t>(ищем </a:t>
            </a:r>
            <a:r>
              <a:rPr lang="en-US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 </a:t>
            </a:r>
            <a:r>
              <a:rPr lang="ru-RU" sz="12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на</a:t>
            </a:r>
            <a:r>
              <a:rPr lang="ru-RU" sz="1200" baseline="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200" baseline="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caniuse</a:t>
            </a:r>
            <a:r>
              <a:rPr lang="en-US" sz="1200" baseline="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94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86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67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 альтернативные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глифы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разработанные в том же блоке, что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глифы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умолчанию, и предназначенные для размещения на той же базовой линии, что 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глифы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умолчанию, без изменения размера или изменения положения базовой линии. Они разработаны таким образом, чтобы соответствовать окружающему тексту и быть более читаемыми, не влияя на высоту строки.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988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7036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783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794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“</a:t>
            </a:r>
            <a:r>
              <a:rPr lang="ru-RU" sz="1200" dirty="0" smtClean="0"/>
              <a:t>список названий, разделённых запятой</a:t>
            </a:r>
            <a:r>
              <a:rPr lang="en-US" sz="1200" dirty="0" smtClean="0"/>
              <a:t>” – </a:t>
            </a:r>
            <a:r>
              <a:rPr lang="ru-RU" sz="1200" dirty="0" smtClean="0"/>
              <a:t>это</a:t>
            </a:r>
            <a:r>
              <a:rPr lang="ru-RU" sz="1200" baseline="0" dirty="0" smtClean="0"/>
              <a:t> называют </a:t>
            </a:r>
            <a:r>
              <a:rPr lang="en-US" b="1" dirty="0" smtClean="0">
                <a:effectLst/>
              </a:rPr>
              <a:t>font stack</a:t>
            </a:r>
          </a:p>
          <a:p>
            <a:endParaRPr lang="en-US" b="1" dirty="0" smtClean="0">
              <a:effectLst/>
            </a:endParaRPr>
          </a:p>
          <a:p>
            <a:r>
              <a:rPr lang="ru-RU" b="1" dirty="0" smtClean="0">
                <a:effectLst/>
              </a:rPr>
              <a:t>Как</a:t>
            </a:r>
            <a:r>
              <a:rPr lang="ru-RU" b="1" baseline="0" dirty="0" smtClean="0">
                <a:effectLst/>
              </a:rPr>
              <a:t> браузеры знают про шрифт по умолчанию для </a:t>
            </a:r>
            <a:r>
              <a:rPr lang="ru-RU" b="1" baseline="0" smtClean="0">
                <a:effectLst/>
              </a:rPr>
              <a:t>типа шрифта:</a:t>
            </a:r>
            <a:endParaRPr lang="en-US" b="1" dirty="0" smtClean="0">
              <a:effectLst/>
            </a:endParaRPr>
          </a:p>
          <a:p>
            <a:r>
              <a:rPr lang="en-US" dirty="0" smtClean="0"/>
              <a:t>http://www.granneman.com/webdev/coding/css/fonts-and-formatting/web-browser-font-defaults/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96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54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38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744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26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91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821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72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801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133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29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http://www.w3.org/TR/CSS21/sample.html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825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327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686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19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094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87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456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603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184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84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874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45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tmp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://basicweb.ru/css/primer/38.php" TargetMode="Externa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basicweb.ru/css/primer/70.php" TargetMode="Externa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htmlweb.ru/html/symbols.php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://basicweb.ru/css/css_pr_counter-reset.php" TargetMode="Externa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://basicweb.ru/css/css_sel_after.php" TargetMode="External"/><Relationship Id="rId2" Type="http://schemas.openxmlformats.org/officeDocument/2006/relationships/hyperlink" Target="http://basicweb.ru/css/css_sel_before.php" TargetMode="Externa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://basicweb.ru/css/css_pr_quotes.php" TargetMode="Externa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://basicweb.ru/css/css_pr_empty-cells.php" TargetMode="External"/><Relationship Id="rId2" Type="http://schemas.openxmlformats.org/officeDocument/2006/relationships/hyperlink" Target="http://basicweb.ru/css/css_pr_border-spacing.php" TargetMode="Externa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css-transforms-1/#transformable-element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gif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gif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image" Target="../media/image59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gif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stciv.com/tools/transforms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СОВРЕМЕННЫЕ ТЕХНОЛОГИИ РАЗРАБОТКИ </a:t>
            </a:r>
            <a:r>
              <a:rPr lang="en-US" b="1" dirty="0"/>
              <a:t>WEB</a:t>
            </a:r>
            <a:r>
              <a:rPr lang="ru-RU" b="1" dirty="0"/>
              <a:t>-ПРИЛОЖЕНИЙ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en-US" dirty="0" smtClean="0"/>
              <a:t>6a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Текст, таблицы, анимация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34053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FF0000"/>
                </a:solidFill>
              </a:rPr>
              <a:t>Форматирование текста в CSS</a:t>
            </a:r>
          </a:p>
          <a:p>
            <a:pPr marL="0" indent="0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Настройка списков</a:t>
            </a:r>
          </a:p>
          <a:p>
            <a:pPr marL="0" indent="0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Настройка таблиц</a:t>
            </a:r>
          </a:p>
          <a:p>
            <a:pPr marL="0" indent="0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Трансформация</a:t>
            </a:r>
            <a:endParaRPr lang="ru-RU" sz="32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60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Форматирование текста в CSS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058401" cy="4036321"/>
          </a:xfrm>
        </p:spPr>
        <p:txBody>
          <a:bodyPr>
            <a:noAutofit/>
          </a:bodyPr>
          <a:lstStyle/>
          <a:p>
            <a:pPr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Как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правило, </a:t>
            </a:r>
            <a:r>
              <a:rPr lang="en-US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CSS-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свойства, связанные с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работой с текстом, являются </a:t>
            </a:r>
            <a:r>
              <a:rPr lang="ru-RU" sz="32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наследуемыми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163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058400" cy="836579"/>
          </a:xfrm>
        </p:spPr>
        <p:txBody>
          <a:bodyPr/>
          <a:lstStyle/>
          <a:p>
            <a:r>
              <a:rPr lang="ru-RU" dirty="0" smtClean="0"/>
              <a:t>Выравнивание текста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70773"/>
            <a:ext cx="12003932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внутри блока  свойство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text-align</a:t>
            </a:r>
            <a:r>
              <a:rPr lang="ru-RU" sz="3200" dirty="0" smtClean="0"/>
              <a:t> (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right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center</a:t>
            </a:r>
            <a:r>
              <a:rPr lang="ru-RU" sz="3200" dirty="0" smtClean="0"/>
              <a:t>,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justify</a:t>
            </a:r>
            <a:r>
              <a:rPr lang="ru-RU" sz="3200" dirty="0" smtClean="0"/>
              <a:t>).</a:t>
            </a:r>
          </a:p>
          <a:p>
            <a:endParaRPr lang="ru-RU" sz="800" dirty="0" smtClean="0">
              <a:solidFill>
                <a:srgbClr val="3182BD"/>
              </a:solidFill>
            </a:endParaRPr>
          </a:p>
          <a:p>
            <a:r>
              <a:rPr lang="en-US" sz="3200" dirty="0" smtClean="0">
                <a:solidFill>
                  <a:srgbClr val="3182BD"/>
                </a:solidFill>
              </a:rPr>
              <a:t>div</a:t>
            </a:r>
            <a:r>
              <a:rPr lang="en-US" sz="3200" dirty="0" smtClean="0"/>
              <a:t> </a:t>
            </a:r>
            <a:r>
              <a:rPr lang="en-US" sz="3200" dirty="0"/>
              <a:t>{ </a:t>
            </a:r>
            <a:r>
              <a:rPr lang="en-US" sz="3200" dirty="0">
                <a:solidFill>
                  <a:srgbClr val="E6550D"/>
                </a:solidFill>
              </a:rPr>
              <a:t>border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1px</a:t>
            </a:r>
            <a:r>
              <a:rPr lang="en-US" sz="3200" dirty="0"/>
              <a:t> solid black; </a:t>
            </a:r>
            <a:endParaRPr lang="ru-RU" sz="3200" dirty="0" smtClean="0">
              <a:solidFill>
                <a:srgbClr val="999988"/>
              </a:solidFill>
            </a:endParaRPr>
          </a:p>
          <a:p>
            <a:r>
              <a:rPr lang="en-US" sz="3200" dirty="0" smtClean="0">
                <a:solidFill>
                  <a:srgbClr val="E6550D"/>
                </a:solidFill>
              </a:rPr>
              <a:t>padding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5px</a:t>
            </a:r>
            <a:r>
              <a:rPr lang="en-US" sz="3200" dirty="0"/>
              <a:t>; </a:t>
            </a:r>
            <a:endParaRPr lang="ru-RU" sz="3200" dirty="0" smtClean="0">
              <a:solidFill>
                <a:srgbClr val="999988"/>
              </a:solidFill>
            </a:endParaRPr>
          </a:p>
          <a:p>
            <a:r>
              <a:rPr lang="en-US" sz="3200" dirty="0" smtClean="0">
                <a:solidFill>
                  <a:srgbClr val="E6550D"/>
                </a:solidFill>
              </a:rPr>
              <a:t>margin-bottom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5px</a:t>
            </a:r>
            <a:r>
              <a:rPr lang="en-US" sz="3200" dirty="0"/>
              <a:t>; </a:t>
            </a:r>
            <a:r>
              <a:rPr lang="ru-RU" sz="3200" dirty="0" smtClean="0"/>
              <a:t>} </a:t>
            </a:r>
          </a:p>
          <a:p>
            <a:r>
              <a:rPr lang="ru-RU" sz="3200" dirty="0" smtClean="0">
                <a:solidFill>
                  <a:srgbClr val="990000"/>
                </a:solidFill>
              </a:rPr>
              <a:t>#</a:t>
            </a:r>
            <a:r>
              <a:rPr lang="en-US" sz="3200" dirty="0">
                <a:solidFill>
                  <a:srgbClr val="990000"/>
                </a:solidFill>
              </a:rPr>
              <a:t>left</a:t>
            </a:r>
            <a:r>
              <a:rPr lang="en-US" sz="3200" dirty="0"/>
              <a:t> { </a:t>
            </a:r>
            <a:r>
              <a:rPr lang="en-US" sz="3200" dirty="0">
                <a:solidFill>
                  <a:srgbClr val="E6550D"/>
                </a:solidFill>
              </a:rPr>
              <a:t>text-align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left</a:t>
            </a:r>
            <a:r>
              <a:rPr lang="en-US" sz="3200" dirty="0"/>
              <a:t>; } </a:t>
            </a:r>
            <a:endParaRPr lang="ru-RU" sz="3200" dirty="0" smtClean="0"/>
          </a:p>
          <a:p>
            <a:r>
              <a:rPr lang="en-US" sz="3200" dirty="0" smtClean="0">
                <a:solidFill>
                  <a:srgbClr val="990000"/>
                </a:solidFill>
              </a:rPr>
              <a:t>#</a:t>
            </a:r>
            <a:r>
              <a:rPr lang="en-US" sz="3200" dirty="0">
                <a:solidFill>
                  <a:srgbClr val="990000"/>
                </a:solidFill>
              </a:rPr>
              <a:t>right</a:t>
            </a:r>
            <a:r>
              <a:rPr lang="en-US" sz="3200" dirty="0"/>
              <a:t> { </a:t>
            </a:r>
            <a:r>
              <a:rPr lang="en-US" sz="3200" dirty="0">
                <a:solidFill>
                  <a:srgbClr val="E6550D"/>
                </a:solidFill>
              </a:rPr>
              <a:t>text-align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right</a:t>
            </a:r>
            <a:r>
              <a:rPr lang="en-US" sz="3200" dirty="0"/>
              <a:t>; } </a:t>
            </a:r>
            <a:endParaRPr lang="ru-RU" sz="3200" dirty="0" smtClean="0"/>
          </a:p>
          <a:p>
            <a:r>
              <a:rPr lang="en-US" sz="3200" dirty="0" smtClean="0">
                <a:solidFill>
                  <a:srgbClr val="990000"/>
                </a:solidFill>
              </a:rPr>
              <a:t>#</a:t>
            </a:r>
            <a:r>
              <a:rPr lang="en-US" sz="3200" dirty="0">
                <a:solidFill>
                  <a:srgbClr val="990000"/>
                </a:solidFill>
              </a:rPr>
              <a:t>center</a:t>
            </a:r>
            <a:r>
              <a:rPr lang="en-US" sz="3200" dirty="0"/>
              <a:t> { </a:t>
            </a:r>
            <a:r>
              <a:rPr lang="en-US" sz="3200" dirty="0">
                <a:solidFill>
                  <a:srgbClr val="E6550D"/>
                </a:solidFill>
              </a:rPr>
              <a:t>text-align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center</a:t>
            </a:r>
            <a:r>
              <a:rPr lang="en-US" sz="3200" dirty="0"/>
              <a:t>; } </a:t>
            </a:r>
            <a:endParaRPr lang="ru-RU" sz="3200" dirty="0" smtClean="0"/>
          </a:p>
          <a:p>
            <a:r>
              <a:rPr lang="en-US" sz="3200" dirty="0" smtClean="0"/>
              <a:t>.</a:t>
            </a:r>
            <a:r>
              <a:rPr lang="en-US" sz="3200" dirty="0"/>
              <a:t>content { </a:t>
            </a:r>
            <a:r>
              <a:rPr lang="en-US" sz="3200" dirty="0">
                <a:solidFill>
                  <a:srgbClr val="E6550D"/>
                </a:solidFill>
              </a:rPr>
              <a:t>width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75%</a:t>
            </a:r>
            <a:r>
              <a:rPr lang="en-US" sz="3200" dirty="0"/>
              <a:t>; </a:t>
            </a:r>
            <a:r>
              <a:rPr lang="en-US" sz="3200" dirty="0" smtClean="0">
                <a:solidFill>
                  <a:srgbClr val="E6550D"/>
                </a:solidFill>
              </a:rPr>
              <a:t>background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31A354"/>
                </a:solidFill>
              </a:rPr>
              <a:t>#fc0</a:t>
            </a:r>
            <a:r>
              <a:rPr lang="en-US" sz="3200" dirty="0" smtClean="0"/>
              <a:t>;</a:t>
            </a:r>
            <a:r>
              <a:rPr lang="ru-RU" sz="3200" dirty="0" smtClean="0"/>
              <a:t>}</a:t>
            </a:r>
          </a:p>
          <a:p>
            <a:endParaRPr lang="en-US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3"/>
          <a:srcRect l="14433" t="31505" r="13405" b="46695"/>
          <a:stretch/>
        </p:blipFill>
        <p:spPr bwMode="auto">
          <a:xfrm>
            <a:off x="5000018" y="1542953"/>
            <a:ext cx="7172528" cy="37878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015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80289" y="0"/>
            <a:ext cx="4753583" cy="725048"/>
          </a:xfrm>
        </p:spPr>
        <p:txBody>
          <a:bodyPr/>
          <a:lstStyle/>
          <a:p>
            <a:r>
              <a:rPr lang="ru-RU" dirty="0" smtClean="0"/>
              <a:t>Красная строка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56765"/>
            <a:ext cx="12192000" cy="6101235"/>
          </a:xfrm>
        </p:spPr>
        <p:txBody>
          <a:bodyPr>
            <a:noAutofit/>
          </a:bodyPr>
          <a:lstStyle/>
          <a:p>
            <a:r>
              <a:rPr lang="ru-RU" sz="3200" dirty="0" smtClean="0">
                <a:cs typeface="Consolas" panose="020B0609020204030204" pitchFamily="49" charset="0"/>
              </a:rPr>
              <a:t>Размер красной строки задаётся свойством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cs typeface="Consolas" panose="020B0609020204030204" pitchFamily="49" charset="0"/>
              </a:rPr>
              <a:t>text-indent</a:t>
            </a:r>
            <a:r>
              <a:rPr lang="ru-RU" sz="3200" dirty="0" smtClean="0">
                <a:cs typeface="Consolas" panose="020B0609020204030204" pitchFamily="49" charset="0"/>
              </a:rPr>
              <a:t>.</a:t>
            </a:r>
          </a:p>
          <a:p>
            <a:r>
              <a:rPr lang="ru-RU" sz="3200" dirty="0" smtClean="0">
                <a:cs typeface="Consolas" panose="020B0609020204030204" pitchFamily="49" charset="0"/>
              </a:rPr>
              <a:t>Значением является размер или проценты (от общей ширины блока).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ru-RU" sz="3200" b="1" dirty="0" smtClean="0">
              <a:solidFill>
                <a:srgbClr val="000000"/>
              </a:solidFill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</a:t>
            </a:r>
            <a:r>
              <a:rPr lang="ru-RU" sz="3200" b="1" dirty="0" err="1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test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text-indent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0px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/*(п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о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умолчанию)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*/ 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.test2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text-indent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40px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.test3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text-indent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-20px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.test4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text-indent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50</a:t>
            </a:r>
            <a:r>
              <a:rPr lang="ru-RU" sz="3200" b="1" dirty="0" smtClean="0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%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ea typeface="Calibri"/>
              <a:cs typeface="Consolas" panose="020B0609020204030204" pitchFamily="49" charset="0"/>
            </a:endParaRPr>
          </a:p>
          <a:p>
            <a:endParaRPr lang="ru-RU" sz="3200" dirty="0" smtClean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33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03238"/>
            <a:ext cx="9971849" cy="570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15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80289" y="0"/>
            <a:ext cx="9617413" cy="725048"/>
          </a:xfrm>
        </p:spPr>
        <p:txBody>
          <a:bodyPr>
            <a:normAutofit/>
          </a:bodyPr>
          <a:lstStyle/>
          <a:p>
            <a:r>
              <a:rPr lang="ru-RU" b="1" dirty="0"/>
              <a:t>Установка междустрочного интервала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56765"/>
            <a:ext cx="12192000" cy="6101235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3200" b="1" dirty="0">
                <a:solidFill>
                  <a:srgbClr val="B22222"/>
                </a:solidFill>
                <a:latin typeface="Arial"/>
                <a:ea typeface="Times New Roman"/>
              </a:rPr>
              <a:t>line-height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latin typeface="Arial"/>
                <a:ea typeface="Times New Roman"/>
              </a:rPr>
              <a:t>(интерлиньяж, высота 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</a:rPr>
              <a:t>строки</a:t>
            </a:r>
            <a:r>
              <a:rPr lang="ru-RU" sz="3200" dirty="0" smtClean="0">
                <a:solidFill>
                  <a:srgbClr val="000000"/>
                </a:solidFill>
                <a:latin typeface="Arial"/>
                <a:ea typeface="Times New Roman"/>
              </a:rPr>
              <a:t>)</a:t>
            </a:r>
            <a:r>
              <a:rPr lang="ru-RU" sz="3200" dirty="0"/>
              <a:t> </a:t>
            </a:r>
            <a:r>
              <a:rPr lang="ru-RU" sz="3200" dirty="0" smtClean="0"/>
              <a:t>‒ расстояние </a:t>
            </a:r>
            <a:r>
              <a:rPr lang="ru-RU" sz="3200" dirty="0"/>
              <a:t>между базовыми линиями соседних </a:t>
            </a:r>
            <a:r>
              <a:rPr lang="ru-RU" sz="3200" dirty="0" smtClean="0"/>
              <a:t>строк</a:t>
            </a:r>
            <a:endParaRPr lang="ru-RU" sz="3200" dirty="0" smtClean="0">
              <a:solidFill>
                <a:srgbClr val="000000"/>
              </a:solidFill>
              <a:latin typeface="Arial"/>
              <a:ea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 smtClean="0"/>
              <a:t>зависит </a:t>
            </a:r>
            <a:r>
              <a:rPr lang="ru-RU" sz="3200" dirty="0"/>
              <a:t>от размера </a:t>
            </a:r>
            <a:r>
              <a:rPr lang="ru-RU" sz="3200" dirty="0" smtClean="0"/>
              <a:t>шрифта, </a:t>
            </a:r>
            <a:r>
              <a:rPr lang="ru-RU" sz="3200" b="1" dirty="0"/>
              <a:t>по умолчанию составляет 120 </a:t>
            </a:r>
            <a:r>
              <a:rPr lang="ru-RU" sz="3200" b="1" dirty="0" smtClean="0"/>
              <a:t>%</a:t>
            </a:r>
            <a:r>
              <a:rPr lang="en-US" sz="3200" b="1" dirty="0" smtClean="0"/>
              <a:t> </a:t>
            </a:r>
            <a:r>
              <a:rPr lang="ru-RU" sz="3200" b="1" dirty="0" smtClean="0"/>
              <a:t>‒ 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/>
              <a:t>line-height</a:t>
            </a:r>
            <a:r>
              <a:rPr lang="ru-RU" sz="3200" dirty="0"/>
              <a:t>: </a:t>
            </a:r>
            <a:r>
              <a:rPr lang="ru-RU" sz="3200" b="1" dirty="0" err="1"/>
              <a:t>normal</a:t>
            </a:r>
            <a:r>
              <a:rPr lang="ru-RU" sz="3200" dirty="0"/>
              <a:t>; 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/>
              <a:t>p</a:t>
            </a:r>
            <a:r>
              <a:rPr lang="en-US" sz="3200" dirty="0"/>
              <a:t> </a:t>
            </a:r>
            <a:r>
              <a:rPr lang="en-US" sz="3200" b="1" dirty="0"/>
              <a:t>{font-size</a:t>
            </a:r>
            <a:r>
              <a:rPr lang="en-US" sz="3200" dirty="0"/>
              <a:t> : </a:t>
            </a:r>
            <a:r>
              <a:rPr lang="en-US" sz="3200" b="1" dirty="0"/>
              <a:t>2</a:t>
            </a:r>
            <a:r>
              <a:rPr lang="ru-RU" sz="3200" b="1" dirty="0"/>
              <a:t>0</a:t>
            </a:r>
            <a:r>
              <a:rPr lang="en-US" sz="3200" b="1" dirty="0" err="1"/>
              <a:t>px</a:t>
            </a:r>
            <a:r>
              <a:rPr lang="en-US" sz="3200" dirty="0"/>
              <a:t>;</a:t>
            </a:r>
            <a:r>
              <a:rPr lang="ru-RU" sz="3200" dirty="0"/>
              <a:t> </a:t>
            </a:r>
            <a:r>
              <a:rPr lang="en-US" sz="3200" b="1" dirty="0"/>
              <a:t>line-height</a:t>
            </a:r>
            <a:r>
              <a:rPr lang="en-US" sz="3200" dirty="0"/>
              <a:t> : </a:t>
            </a:r>
            <a:r>
              <a:rPr lang="en-US" sz="3200" b="1" dirty="0"/>
              <a:t>150%</a:t>
            </a:r>
            <a:r>
              <a:rPr lang="en-US" sz="3200" dirty="0"/>
              <a:t>;</a:t>
            </a:r>
            <a:r>
              <a:rPr lang="ru-RU" sz="3200" dirty="0"/>
              <a:t> </a:t>
            </a:r>
            <a:r>
              <a:rPr lang="ru-RU" sz="3200" b="1" dirty="0"/>
              <a:t>}</a:t>
            </a:r>
            <a:r>
              <a:rPr lang="en-US" sz="3200" b="1" dirty="0"/>
              <a:t>            </a:t>
            </a:r>
            <a:endParaRPr lang="ru-RU" sz="3200" dirty="0"/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dirty="0" smtClean="0"/>
              <a:t>междустрочный интервал=</a:t>
            </a:r>
            <a:r>
              <a:rPr lang="ru-RU" sz="3200" b="1" dirty="0" smtClean="0"/>
              <a:t>line-height ‒ font-size (</a:t>
            </a:r>
            <a:r>
              <a:rPr lang="en-US" sz="3200" b="1" dirty="0" err="1" smtClean="0"/>
              <a:t>px</a:t>
            </a:r>
            <a:r>
              <a:rPr lang="ru-RU" sz="3200" b="1" dirty="0" smtClean="0"/>
              <a:t>)</a:t>
            </a:r>
            <a:r>
              <a:rPr lang="en-US" sz="3200" b="1" dirty="0" smtClean="0"/>
              <a:t> = 30-20=10px</a:t>
            </a:r>
            <a:endParaRPr lang="ru-RU" sz="3200" b="1" dirty="0" smtClean="0"/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Если числовое значение</a:t>
            </a:r>
          </a:p>
          <a:p>
            <a:r>
              <a:rPr lang="en-US" sz="3200" b="1" dirty="0"/>
              <a:t>p</a:t>
            </a:r>
            <a:r>
              <a:rPr lang="en-US" sz="3200" dirty="0"/>
              <a:t> </a:t>
            </a:r>
            <a:r>
              <a:rPr lang="en-US" sz="3200" b="1" dirty="0" smtClean="0"/>
              <a:t>{font-size</a:t>
            </a:r>
            <a:r>
              <a:rPr lang="en-US" sz="3200" dirty="0" smtClean="0"/>
              <a:t> </a:t>
            </a:r>
            <a:r>
              <a:rPr lang="en-US" sz="3200" dirty="0"/>
              <a:t>: </a:t>
            </a:r>
            <a:r>
              <a:rPr lang="en-US" sz="3200" b="1" dirty="0"/>
              <a:t>2em</a:t>
            </a:r>
            <a:r>
              <a:rPr lang="en-US" sz="3200" dirty="0" smtClean="0"/>
              <a:t>;</a:t>
            </a:r>
            <a:r>
              <a:rPr lang="ru-RU" sz="3200" dirty="0" smtClean="0"/>
              <a:t> </a:t>
            </a:r>
            <a:r>
              <a:rPr lang="en-US" sz="3200" b="1" dirty="0" smtClean="0"/>
              <a:t>line-height</a:t>
            </a:r>
            <a:r>
              <a:rPr lang="en-US" sz="3200" dirty="0" smtClean="0"/>
              <a:t> </a:t>
            </a:r>
            <a:r>
              <a:rPr lang="en-US" sz="3200" dirty="0"/>
              <a:t>: </a:t>
            </a:r>
            <a:r>
              <a:rPr lang="en-US" sz="3200" b="1" dirty="0"/>
              <a:t>1.5</a:t>
            </a:r>
            <a:r>
              <a:rPr lang="en-US" sz="3200" dirty="0" smtClean="0"/>
              <a:t>;</a:t>
            </a:r>
            <a:r>
              <a:rPr lang="ru-RU" sz="3200" dirty="0" smtClean="0"/>
              <a:t> </a:t>
            </a:r>
            <a:r>
              <a:rPr lang="ru-RU" sz="3200" b="1" dirty="0" smtClean="0"/>
              <a:t>}</a:t>
            </a:r>
            <a:endParaRPr lang="ru-RU" sz="3200" dirty="0"/>
          </a:p>
          <a:p>
            <a:r>
              <a:rPr lang="ru-RU" sz="3200" dirty="0"/>
              <a:t>междустрочный интервал=</a:t>
            </a:r>
            <a:r>
              <a:rPr lang="ru-RU" sz="3200" b="1" dirty="0"/>
              <a:t>line-height </a:t>
            </a:r>
            <a:r>
              <a:rPr lang="ru-RU" sz="3200" b="1" dirty="0" smtClean="0"/>
              <a:t>* </a:t>
            </a:r>
            <a:r>
              <a:rPr lang="ru-RU" sz="3200" b="1" dirty="0"/>
              <a:t>font-size </a:t>
            </a:r>
            <a:r>
              <a:rPr lang="ru-RU" sz="3200" b="1" dirty="0" smtClean="0"/>
              <a:t>(</a:t>
            </a:r>
            <a:r>
              <a:rPr lang="en-US" sz="3200" b="1" dirty="0" err="1" smtClean="0"/>
              <a:t>em</a:t>
            </a:r>
            <a:r>
              <a:rPr lang="ru-RU" sz="3200" b="1" dirty="0" smtClean="0"/>
              <a:t>)</a:t>
            </a:r>
            <a:r>
              <a:rPr lang="en-US" sz="3200" b="1" dirty="0" smtClean="0"/>
              <a:t>  </a:t>
            </a:r>
            <a:r>
              <a:rPr lang="ru-RU" sz="3200" b="1" dirty="0" smtClean="0"/>
              <a:t>= </a:t>
            </a:r>
            <a:r>
              <a:rPr lang="en-US" sz="3200" b="1" dirty="0" smtClean="0"/>
              <a:t>3 </a:t>
            </a:r>
            <a:r>
              <a:rPr lang="en-US" sz="3200" b="1" dirty="0" err="1" smtClean="0"/>
              <a:t>em</a:t>
            </a:r>
            <a:endParaRPr lang="ru-RU" sz="3200" b="1" dirty="0"/>
          </a:p>
          <a:p>
            <a:endParaRPr lang="ru-RU" sz="3200" dirty="0" smtClean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7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3"/>
          <a:srcRect l="2887" t="41632" r="4586" b="6188"/>
          <a:stretch/>
        </p:blipFill>
        <p:spPr bwMode="auto">
          <a:xfrm>
            <a:off x="1887165" y="0"/>
            <a:ext cx="8210145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967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8016" y="321014"/>
            <a:ext cx="3873881" cy="984885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cs typeface="Arial" pitchFamily="34" charset="0"/>
              </a:rPr>
              <a:t>h1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 {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cs typeface="Arial" pitchFamily="34" charset="0"/>
              </a:rPr>
              <a:t>line-height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cs typeface="Arial" pitchFamily="34" charset="0"/>
              </a:rPr>
              <a:t>70%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; }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cs typeface="Arial" pitchFamily="34" charset="0"/>
              </a:rPr>
              <a:t>p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 {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cs typeface="Arial" pitchFamily="34" charset="0"/>
              </a:rPr>
              <a:t>line-height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cs typeface="Arial" pitchFamily="34" charset="0"/>
              </a:rPr>
              <a:t>1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.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cs typeface="Arial" pitchFamily="34" charset="0"/>
              </a:rPr>
              <a:t>5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Arial" pitchFamily="34" charset="0"/>
              </a:rPr>
              <a:t>; 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683" y="1750979"/>
            <a:ext cx="8448118" cy="4105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2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10058400" cy="797668"/>
          </a:xfrm>
        </p:spPr>
        <p:txBody>
          <a:bodyPr/>
          <a:lstStyle/>
          <a:p>
            <a:r>
              <a:rPr lang="ru-RU" b="1" dirty="0"/>
              <a:t>Интервал между словами и символами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5294" y="797669"/>
            <a:ext cx="11666706" cy="5084020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Для настройки расстояний в тексте служат свойства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letter-spacing</a:t>
            </a:r>
            <a:r>
              <a:rPr lang="ru-RU" sz="3200" dirty="0" smtClean="0"/>
              <a:t>,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word-spacing</a:t>
            </a:r>
            <a:r>
              <a:rPr lang="ru-RU" sz="3200" dirty="0" smtClean="0"/>
              <a:t>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5640" y="1822503"/>
            <a:ext cx="4177426" cy="430887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em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{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letter-spacing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2px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6730" y="2446517"/>
            <a:ext cx="9942978" cy="1723549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p&gt;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Кульминация, после осторожного анализа,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существенно перечеркивает экваториальный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большой круг небесной сферы, как это случилось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в 1994 году с кометой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&lt;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em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&gt;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Шумейкеpов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-Леви 9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&lt;/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em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&gt;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.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&lt;/p&gt;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32" r="4090" b="22078"/>
          <a:stretch/>
        </p:blipFill>
        <p:spPr bwMode="auto">
          <a:xfrm>
            <a:off x="513420" y="4708187"/>
            <a:ext cx="10493105" cy="1770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357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8677072" cy="405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test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letter-spacing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-1px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.test2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letter-spacing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: </a:t>
            </a:r>
            <a:r>
              <a:rPr lang="ru-RU" sz="2800" b="1" dirty="0" err="1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normal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по умолчанию*/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.test3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letter-spacing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2px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.test4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letter-spacing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1em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;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</p:txBody>
      </p:sp>
      <p:pic>
        <p:nvPicPr>
          <p:cNvPr id="4" name="Рисунок 3" descr="Рис.63 Пример использования свойства letter-spacing (интервал между символами в тексте).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" t="19709" r="38101" b="46291"/>
          <a:stretch/>
        </p:blipFill>
        <p:spPr bwMode="auto">
          <a:xfrm>
            <a:off x="3715966" y="3696512"/>
            <a:ext cx="8476034" cy="30642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4504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6185" y="444444"/>
            <a:ext cx="3779881" cy="1969770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.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tel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word-spacing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10px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2em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}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32"/>
          <a:stretch/>
        </p:blipFill>
        <p:spPr bwMode="auto">
          <a:xfrm>
            <a:off x="4032926" y="721601"/>
            <a:ext cx="7012332" cy="1750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93179" y="3140122"/>
            <a:ext cx="1151075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rgbClr val="E6550D"/>
                </a:solidFill>
                <a:latin typeface="Helvetica Neue"/>
              </a:rPr>
              <a:t>text-align</a:t>
            </a:r>
            <a:r>
              <a:rPr lang="en-US" sz="3200" dirty="0">
                <a:solidFill>
                  <a:srgbClr val="0A0A0A"/>
                </a:solidFill>
                <a:latin typeface="Helvetica Neue"/>
              </a:rPr>
              <a:t>: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</a:t>
            </a:r>
            <a:r>
              <a:rPr lang="ru-RU" sz="3200" dirty="0" err="1" smtClean="0">
                <a:solidFill>
                  <a:srgbClr val="31A354"/>
                </a:solidFill>
                <a:latin typeface="Helvetica Neue"/>
              </a:rPr>
              <a:t>justify</a:t>
            </a:r>
            <a:r>
              <a:rPr lang="en-US" sz="3200" dirty="0" smtClean="0">
                <a:solidFill>
                  <a:srgbClr val="31A354"/>
                </a:solidFill>
                <a:latin typeface="Helvetica Neue"/>
              </a:rPr>
              <a:t>;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</a:t>
            </a:r>
            <a:r>
              <a:rPr lang="en-US" sz="3200" dirty="0" smtClean="0">
                <a:solidFill>
                  <a:srgbClr val="0A0A0A"/>
                </a:solidFill>
                <a:latin typeface="Helvetica Neue"/>
              </a:rPr>
              <a:t> </a:t>
            </a:r>
          </a:p>
          <a:p>
            <a:r>
              <a:rPr lang="ru-RU" sz="32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интервал между словами будет установлен принудительно, но не меньше значения, указанного через </a:t>
            </a: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word-spacing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5789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0190" y="77822"/>
            <a:ext cx="6128426" cy="700392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Сохранение пробелов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698399"/>
            <a:ext cx="12192000" cy="1519507"/>
          </a:xfrm>
        </p:spPr>
        <p:txBody>
          <a:bodyPr>
            <a:noAutofit/>
          </a:bodyPr>
          <a:lstStyle/>
          <a:p>
            <a:r>
              <a:rPr lang="ru-RU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white-space</a:t>
            </a:r>
            <a:r>
              <a:rPr lang="ru-RU" sz="3200" dirty="0" smtClean="0"/>
              <a:t> </a:t>
            </a:r>
            <a:r>
              <a:rPr lang="ru-RU" sz="3200" dirty="0"/>
              <a:t>устанавливает, как отображать пробелы между </a:t>
            </a:r>
            <a:r>
              <a:rPr lang="ru-RU" sz="3200" dirty="0" smtClean="0"/>
              <a:t>словами и переводы строк:</a:t>
            </a:r>
          </a:p>
          <a:p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705005"/>
            <a:ext cx="12192000" cy="4552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normal</a:t>
            </a:r>
            <a:r>
              <a:rPr lang="ru-RU" sz="2800" dirty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автоматический </a:t>
            </a:r>
            <a:r>
              <a:rPr lang="ru-RU" sz="28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перенос</a:t>
            </a:r>
            <a:r>
              <a:rPr lang="en-US" sz="28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, </a:t>
            </a:r>
            <a:r>
              <a:rPr lang="ru-RU" sz="2800" dirty="0" smtClean="0">
                <a:latin typeface="Helvetica"/>
                <a:ea typeface="Times New Roman"/>
                <a:cs typeface="Times New Roman"/>
              </a:rPr>
              <a:t>про</a:t>
            </a:r>
            <a:r>
              <a:rPr lang="ru-RU" sz="28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белы 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не учитываются</a:t>
            </a:r>
            <a:r>
              <a:rPr lang="ru-RU" sz="28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.</a:t>
            </a:r>
            <a:endParaRPr lang="ru-RU" sz="28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nowrap</a:t>
            </a:r>
            <a:r>
              <a:rPr lang="ru-RU" sz="2800" dirty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2800" dirty="0">
                <a:latin typeface="Helvetica"/>
                <a:ea typeface="Times New Roman"/>
                <a:cs typeface="Times New Roman"/>
              </a:rPr>
              <a:t>про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белы не учитываются, переносы строк в коде игнорируются, текст одной строкой; </a:t>
            </a:r>
            <a:r>
              <a:rPr lang="ru-RU" sz="2800" dirty="0">
                <a:solidFill>
                  <a:srgbClr val="000080"/>
                </a:solidFill>
                <a:latin typeface="Helvetica"/>
                <a:ea typeface="Times New Roman"/>
                <a:cs typeface="Times New Roman"/>
              </a:rPr>
              <a:t>&lt;</a:t>
            </a:r>
            <a:r>
              <a:rPr lang="ru-RU" sz="2800" dirty="0" err="1">
                <a:solidFill>
                  <a:srgbClr val="000080"/>
                </a:solidFill>
                <a:latin typeface="Helvetica"/>
                <a:ea typeface="Times New Roman"/>
                <a:cs typeface="Times New Roman"/>
              </a:rPr>
              <a:t>br</a:t>
            </a:r>
            <a:r>
              <a:rPr lang="ru-RU" sz="2800" dirty="0">
                <a:solidFill>
                  <a:srgbClr val="000080"/>
                </a:solidFill>
                <a:latin typeface="Helvetica"/>
                <a:ea typeface="Times New Roman"/>
                <a:cs typeface="Times New Roman"/>
              </a:rPr>
              <a:t>&gt;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 переносит текст на новую строку.</a:t>
            </a:r>
            <a:endParaRPr lang="ru-RU" sz="28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pre</a:t>
            </a:r>
            <a:r>
              <a:rPr lang="ru-RU" sz="2800" dirty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текст с учётом всех пробелов и переносов в коде HTML. Если строка  не помещается в окне браузера, то   горизонтальная полоса прокрутки.</a:t>
            </a:r>
            <a:endParaRPr lang="ru-RU" sz="28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pre-line</a:t>
            </a:r>
            <a:r>
              <a:rPr lang="ru-RU" sz="2800" dirty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  пробелы не учитываются,   автоматический перенос.</a:t>
            </a:r>
            <a:endParaRPr lang="ru-RU" sz="28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2800" dirty="0" err="1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pre-wrap</a:t>
            </a:r>
            <a:r>
              <a:rPr lang="ru-RU" sz="2800" dirty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 сохраняются пробелы и переносы, однако если строка по ширине не помещается в заданную область, автоматический перенос.</a:t>
            </a:r>
            <a:endParaRPr lang="ru-RU" sz="28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908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058400" cy="841071"/>
          </a:xfrm>
        </p:spPr>
        <p:txBody>
          <a:bodyPr>
            <a:normAutofit/>
          </a:bodyPr>
          <a:lstStyle/>
          <a:p>
            <a:r>
              <a:rPr lang="ru-RU" dirty="0" smtClean="0"/>
              <a:t>Перенос и разрыв слов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31133"/>
            <a:ext cx="7645940" cy="4850556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По умолчанию длинные слова выходят за пределы блоков, если только внутри слова не используется элемент 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wbr</a:t>
            </a:r>
            <a:r>
              <a:rPr lang="ru-RU" sz="3200" dirty="0" smtClean="0"/>
              <a:t>.</a:t>
            </a:r>
          </a:p>
          <a:p>
            <a:r>
              <a:rPr lang="en-US" sz="28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countlesstypesofapples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thousands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wbr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wbr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choices</a:t>
            </a:r>
            <a:endParaRPr lang="ru-RU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25659"/>
            <a:ext cx="4236720" cy="53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1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-1" y="175099"/>
            <a:ext cx="7470843" cy="5706590"/>
          </a:xfrm>
        </p:spPr>
        <p:txBody>
          <a:bodyPr>
            <a:noAutofit/>
          </a:bodyPr>
          <a:lstStyle/>
          <a:p>
            <a:pPr lvl="0">
              <a:buClr>
                <a:srgbClr val="1CADE4"/>
              </a:buClr>
            </a:pPr>
            <a:r>
              <a:rPr lang="ru-RU" sz="3200" dirty="0" smtClean="0"/>
              <a:t>Если у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word-wrap</a:t>
            </a:r>
            <a:r>
              <a:rPr lang="en-US" sz="3200" dirty="0" smtClean="0"/>
              <a:t> </a:t>
            </a:r>
            <a:r>
              <a:rPr lang="ru-RU" sz="3200" dirty="0" smtClean="0"/>
              <a:t>установить значение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break-word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то слово </a:t>
            </a:r>
            <a:r>
              <a:rPr lang="ru-RU" sz="3200" dirty="0">
                <a:solidFill>
                  <a:prstClr val="black">
                    <a:lumMod val="75000"/>
                    <a:lumOff val="25000"/>
                  </a:prstClr>
                </a:solidFill>
              </a:rPr>
              <a:t>разрывается, чтобы уместиться в 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блок </a:t>
            </a:r>
            <a:endParaRPr lang="en-US" sz="3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lvl="0"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(по умолчанию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normal</a:t>
            </a: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)</a:t>
            </a:r>
            <a:r>
              <a:rPr lang="en-US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  <a:endParaRPr lang="ru-RU" sz="32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1000" dirty="0" smtClean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txt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120px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word-wrap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break-word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73" y="0"/>
            <a:ext cx="3950927" cy="535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2927" y="267511"/>
            <a:ext cx="4850687" cy="2954655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.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col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background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#f0f0f0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width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230px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padding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10px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1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.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5em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word-wrap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break-word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2"/>
          <a:stretch/>
        </p:blipFill>
        <p:spPr bwMode="auto">
          <a:xfrm>
            <a:off x="5393589" y="267512"/>
            <a:ext cx="6423085" cy="607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863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854757" cy="880691"/>
          </a:xfrm>
        </p:spPr>
        <p:txBody>
          <a:bodyPr/>
          <a:lstStyle/>
          <a:p>
            <a:r>
              <a:rPr lang="ru-RU" dirty="0"/>
              <a:t>Перенос и разрыв слов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70043"/>
            <a:ext cx="7003915" cy="4811645"/>
          </a:xfrm>
        </p:spPr>
        <p:txBody>
          <a:bodyPr>
            <a:noAutofit/>
          </a:bodyPr>
          <a:lstStyle/>
          <a:p>
            <a:r>
              <a:rPr lang="ru-RU" sz="2800" dirty="0" err="1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word-break</a:t>
            </a:r>
            <a:r>
              <a:rPr lang="ru-RU" sz="3200" dirty="0" smtClean="0"/>
              <a:t> выполняет перенос «строже» </a:t>
            </a:r>
            <a:endParaRPr lang="en-US" sz="3200" dirty="0" smtClean="0"/>
          </a:p>
          <a:p>
            <a:r>
              <a:rPr lang="ru-RU" sz="3200" dirty="0" smtClean="0"/>
              <a:t>(возможные значения: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normal</a:t>
            </a:r>
            <a:r>
              <a:rPr lang="ru-RU" sz="3200" dirty="0"/>
              <a:t>,</a:t>
            </a:r>
            <a:r>
              <a:rPr lang="en-US" sz="3200" dirty="0"/>
              <a:t> </a:t>
            </a:r>
            <a:endParaRPr lang="en-US" sz="3200" dirty="0" smtClean="0"/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break-all</a:t>
            </a:r>
            <a:r>
              <a:rPr lang="en-US" sz="3200" dirty="0" smtClean="0"/>
              <a:t> </a:t>
            </a:r>
            <a:r>
              <a:rPr lang="ru-RU" sz="3200" dirty="0" smtClean="0"/>
              <a:t>‒ </a:t>
            </a:r>
            <a:r>
              <a:rPr lang="ru-RU" sz="3200" dirty="0" err="1" smtClean="0"/>
              <a:t>автоперенос</a:t>
            </a:r>
            <a:r>
              <a:rPr lang="ru-RU" sz="3200" dirty="0" smtClean="0"/>
              <a:t>, нет </a:t>
            </a:r>
            <a:r>
              <a:rPr lang="ru-RU" sz="3200" dirty="0"/>
              <a:t>на китайском, корейском или японском языке.</a:t>
            </a:r>
            <a:r>
              <a:rPr lang="ru-RU" sz="3200" dirty="0" smtClean="0"/>
              <a:t> </a:t>
            </a:r>
            <a:r>
              <a:rPr lang="en-US" sz="3200" dirty="0" smtClean="0"/>
              <a:t> </a:t>
            </a:r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keep-all</a:t>
            </a:r>
            <a:r>
              <a:rPr lang="ru-RU" sz="3200" dirty="0" smtClean="0"/>
              <a:t>)</a:t>
            </a:r>
            <a:r>
              <a:rPr lang="en-US" sz="3200" dirty="0" smtClean="0"/>
              <a:t> </a:t>
            </a:r>
            <a:r>
              <a:rPr lang="ru-RU" sz="3200" dirty="0" smtClean="0"/>
              <a:t>нет </a:t>
            </a:r>
            <a:r>
              <a:rPr lang="ru-RU" sz="3200" dirty="0" err="1" smtClean="0"/>
              <a:t>автопереноса</a:t>
            </a:r>
            <a:r>
              <a:rPr lang="ru-RU" sz="3200" dirty="0" smtClean="0"/>
              <a:t> </a:t>
            </a:r>
            <a:r>
              <a:rPr lang="ru-RU" sz="3200" dirty="0"/>
              <a:t>на китайском, корейском или японском </a:t>
            </a:r>
            <a:r>
              <a:rPr lang="ru-RU" sz="3200" dirty="0" smtClean="0"/>
              <a:t>языке, для остальных как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normal</a:t>
            </a:r>
            <a:r>
              <a:rPr lang="ru-RU" sz="3200" dirty="0" smtClean="0"/>
              <a:t>. </a:t>
            </a:r>
            <a:r>
              <a:rPr lang="en-US" sz="3200" dirty="0" smtClean="0"/>
              <a:t> </a:t>
            </a:r>
            <a:endParaRPr lang="ru-RU" sz="2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710" y="208920"/>
            <a:ext cx="4236720" cy="573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5293" y="1070043"/>
            <a:ext cx="7003915" cy="4811645"/>
          </a:xfrm>
        </p:spPr>
        <p:txBody>
          <a:bodyPr>
            <a:noAutofit/>
          </a:bodyPr>
          <a:lstStyle/>
          <a:p>
            <a:endParaRPr lang="en-US" sz="3200" dirty="0" smtClean="0"/>
          </a:p>
          <a:p>
            <a:endParaRPr lang="en-US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txt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120px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1px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word-break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break-all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6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186775"/>
            <a:ext cx="3687016" cy="499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79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7360596" cy="783414"/>
          </a:xfrm>
        </p:spPr>
        <p:txBody>
          <a:bodyPr/>
          <a:lstStyle/>
          <a:p>
            <a:r>
              <a:rPr lang="ru-RU" dirty="0" smtClean="0"/>
              <a:t>«Обрезка» текста в блоке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9654" y="1031133"/>
            <a:ext cx="11556457" cy="4967288"/>
          </a:xfrm>
        </p:spPr>
        <p:txBody>
          <a:bodyPr>
            <a:noAutofit/>
          </a:bodyPr>
          <a:lstStyle/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3200" dirty="0" err="1">
                <a:solidFill>
                  <a:srgbClr val="E6550D"/>
                </a:solidFill>
                <a:latin typeface="Helvetica"/>
                <a:ea typeface="Calibri"/>
                <a:cs typeface="Times New Roman"/>
              </a:rPr>
              <a:t>text-overflow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  определяет параметры видимости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текста,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целиком не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поместившегося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в заданную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область:</a:t>
            </a:r>
          </a:p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текст обрезается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по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размеру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Times New Roman"/>
                <a:cs typeface="Times New Roman"/>
              </a:rPr>
              <a:t>области (</a:t>
            </a:r>
            <a:r>
              <a:rPr lang="ru-RU" sz="3200" dirty="0" err="1" smtClean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clip</a:t>
            </a:r>
            <a:r>
              <a:rPr lang="ru-RU" sz="3200" dirty="0" smtClean="0">
                <a:solidFill>
                  <a:schemeClr val="tx1"/>
                </a:solidFill>
                <a:latin typeface="Helvetica"/>
                <a:ea typeface="Times New Roman"/>
                <a:cs typeface="Times New Roman"/>
              </a:rPr>
              <a:t>)</a:t>
            </a:r>
            <a:r>
              <a:rPr lang="ru-RU" sz="3200" dirty="0" smtClean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; </a:t>
            </a:r>
          </a:p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текст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обрезается и к концу строки добавляется 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многоточие </a:t>
            </a:r>
            <a:endParaRPr lang="en-US" sz="3200" dirty="0" smtClean="0">
              <a:solidFill>
                <a:srgbClr val="0A0A0A"/>
              </a:solidFill>
              <a:latin typeface="Helvetica"/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(</a:t>
            </a:r>
            <a:r>
              <a:rPr lang="ru-RU" sz="3200" dirty="0" err="1" smtClean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ellipsis</a:t>
            </a:r>
            <a:r>
              <a:rPr lang="ru-RU" sz="3200" dirty="0" smtClean="0">
                <a:solidFill>
                  <a:schemeClr val="tx1"/>
                </a:solidFill>
                <a:latin typeface="Helvetica"/>
                <a:ea typeface="Times New Roman"/>
                <a:cs typeface="Times New Roman"/>
              </a:rPr>
              <a:t>)</a:t>
            </a:r>
            <a:r>
              <a:rPr lang="ru-RU" sz="3200" dirty="0" smtClean="0">
                <a:solidFill>
                  <a:srgbClr val="31A354"/>
                </a:solidFill>
                <a:latin typeface="Helvetica"/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 </a:t>
            </a:r>
            <a:endParaRPr lang="ru-RU" sz="3200" dirty="0" smtClean="0">
              <a:solidFill>
                <a:srgbClr val="E6550D"/>
              </a:solidFill>
              <a:latin typeface="Helvetica"/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Условие: для блока </a:t>
            </a:r>
            <a:r>
              <a:rPr lang="ru-RU" sz="3200" dirty="0" err="1" smtClean="0">
                <a:solidFill>
                  <a:srgbClr val="E6550D"/>
                </a:solidFill>
                <a:latin typeface="Helvetica"/>
                <a:ea typeface="Calibri"/>
                <a:cs typeface="Times New Roman"/>
              </a:rPr>
              <a:t>overflow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 установлено как </a:t>
            </a:r>
            <a:r>
              <a:rPr lang="ru-RU" sz="3200" dirty="0" err="1">
                <a:solidFill>
                  <a:srgbClr val="31A354"/>
                </a:solidFill>
                <a:latin typeface="Helvetica"/>
                <a:ea typeface="Calibri"/>
                <a:cs typeface="Times New Roman"/>
              </a:rPr>
              <a:t>auto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, </a:t>
            </a:r>
            <a:r>
              <a:rPr lang="ru-RU" sz="3200" dirty="0" err="1">
                <a:solidFill>
                  <a:srgbClr val="31A354"/>
                </a:solidFill>
                <a:latin typeface="Helvetica"/>
                <a:ea typeface="Calibri"/>
                <a:cs typeface="Times New Roman"/>
              </a:rPr>
              <a:t>scroll</a:t>
            </a:r>
            <a:r>
              <a:rPr lang="ru-RU" sz="3200" dirty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 или </a:t>
            </a:r>
            <a:r>
              <a:rPr lang="ru-RU" sz="3200" dirty="0" err="1">
                <a:solidFill>
                  <a:srgbClr val="31A354"/>
                </a:solidFill>
                <a:latin typeface="Helvetica"/>
                <a:ea typeface="Calibri"/>
                <a:cs typeface="Times New Roman"/>
              </a:rPr>
              <a:t>hidden</a:t>
            </a:r>
            <a:r>
              <a:rPr lang="ru-RU" sz="3200" dirty="0" smtClean="0">
                <a:solidFill>
                  <a:srgbClr val="0A0A0A"/>
                </a:solidFill>
                <a:latin typeface="Helvetica"/>
                <a:ea typeface="Calibri"/>
                <a:cs typeface="Times New Roman"/>
              </a:rPr>
              <a:t>.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648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2375" y="203726"/>
            <a:ext cx="11645111" cy="2462213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p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.clip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white-space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nowrap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Fira"/>
                <a:cs typeface="Courier New" pitchFamily="49" charset="0"/>
              </a:rPr>
              <a:t>/* Запрещаем перенос строк */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overflow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hidden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Fira"/>
                <a:cs typeface="Courier New" pitchFamily="49" charset="0"/>
              </a:rPr>
              <a:t>/* Обрезаем, что не помещается в область*/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background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#fc0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padding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5px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Fira"/>
                <a:cs typeface="Courier New" pitchFamily="49" charset="0"/>
              </a:rPr>
              <a:t>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333333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text-overflow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ellipsis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Fira"/>
                <a:cs typeface="Courier New" pitchFamily="49" charset="0"/>
              </a:rPr>
              <a:t>/* Добавляем многоточие */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16"/>
          <a:stretch/>
        </p:blipFill>
        <p:spPr bwMode="auto">
          <a:xfrm>
            <a:off x="490435" y="3326859"/>
            <a:ext cx="10451189" cy="2062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48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6692630" cy="744504"/>
          </a:xfrm>
        </p:spPr>
        <p:txBody>
          <a:bodyPr>
            <a:normAutofit/>
          </a:bodyPr>
          <a:lstStyle/>
          <a:p>
            <a:r>
              <a:rPr lang="ru-RU" dirty="0" smtClean="0"/>
              <a:t>Декорирование текста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" y="719848"/>
            <a:ext cx="12192000" cy="4967288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</a:t>
            </a:r>
            <a:r>
              <a:rPr lang="en-US" sz="3200" dirty="0" smtClean="0"/>
              <a:t> </a:t>
            </a:r>
            <a:r>
              <a:rPr lang="ru-RU" sz="3200" dirty="0" smtClean="0"/>
              <a:t>‒ эффекты (можно несколько </a:t>
            </a:r>
            <a:r>
              <a:rPr lang="ru-RU" sz="3200" dirty="0"/>
              <a:t>значений в одном объявлении</a:t>
            </a:r>
            <a:r>
              <a:rPr lang="ru-RU" sz="3200" dirty="0" smtClean="0"/>
              <a:t>)</a:t>
            </a:r>
            <a:r>
              <a:rPr lang="en-US" sz="3200" dirty="0" smtClean="0"/>
              <a:t>:</a:t>
            </a:r>
            <a:r>
              <a:rPr lang="ru-RU" sz="3200" dirty="0" smtClean="0"/>
              <a:t> </a:t>
            </a:r>
          </a:p>
          <a:p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nderline</a:t>
            </a:r>
            <a:r>
              <a:rPr lang="ru-RU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3200" dirty="0" smtClean="0"/>
              <a:t>подчёркивания, </a:t>
            </a:r>
            <a:endParaRPr lang="en-US" sz="3200" dirty="0" smtClean="0"/>
          </a:p>
          <a:p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line-through </a:t>
            </a:r>
            <a:r>
              <a:rPr lang="ru-RU" sz="3200" dirty="0" smtClean="0"/>
              <a:t>перечёркивания</a:t>
            </a:r>
            <a:r>
              <a:rPr lang="en-US" sz="3200" dirty="0" smtClean="0"/>
              <a:t>,</a:t>
            </a:r>
          </a:p>
          <a:p>
            <a:r>
              <a:rPr lang="ru-RU" sz="3200" dirty="0" smtClean="0"/>
              <a:t> </a:t>
            </a:r>
            <a:r>
              <a:rPr lang="en-US" sz="3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overline</a:t>
            </a:r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3200" dirty="0" smtClean="0"/>
              <a:t>линии </a:t>
            </a:r>
            <a:r>
              <a:rPr lang="ru-RU" sz="3200" dirty="0"/>
              <a:t>над </a:t>
            </a:r>
            <a:r>
              <a:rPr lang="ru-RU" sz="3200" dirty="0" smtClean="0"/>
              <a:t>текстом</a:t>
            </a:r>
            <a:r>
              <a:rPr lang="en-US" sz="3200" dirty="0" smtClean="0"/>
              <a:t>,</a:t>
            </a:r>
          </a:p>
          <a:p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none </a:t>
            </a:r>
            <a:r>
              <a:rPr lang="ru-RU" sz="3200" dirty="0">
                <a:highlight>
                  <a:srgbClr val="FFFFFF"/>
                </a:highlight>
              </a:rPr>
              <a:t>о</a:t>
            </a:r>
            <a:r>
              <a:rPr lang="ru-RU" sz="3200" dirty="0" smtClean="0"/>
              <a:t>тменяет </a:t>
            </a:r>
            <a:r>
              <a:rPr lang="ru-RU" sz="3200" dirty="0"/>
              <a:t>все эффекты, в том числе и подчёркивание у ссылок</a:t>
            </a:r>
            <a:endParaRPr lang="en-US" sz="32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blink</a:t>
            </a:r>
            <a:r>
              <a:rPr lang="ru-RU" sz="3600" dirty="0"/>
              <a:t> </a:t>
            </a:r>
            <a:r>
              <a:rPr lang="ru-RU" sz="3200" dirty="0" smtClean="0"/>
              <a:t> мигающий текст (не поддерживается и не </a:t>
            </a:r>
            <a:r>
              <a:rPr lang="ru-RU" sz="3200" dirty="0" err="1" smtClean="0"/>
              <a:t>рекоменд</a:t>
            </a:r>
            <a:r>
              <a:rPr lang="ru-RU" sz="3200" dirty="0" smtClean="0"/>
              <a:t>.).</a:t>
            </a:r>
          </a:p>
          <a:p>
            <a:r>
              <a:rPr lang="ru-RU" sz="3200" dirty="0" smtClean="0"/>
              <a:t>Плохо поддерживаются свойства </a:t>
            </a:r>
            <a:r>
              <a:rPr lang="ru-RU" sz="3200" dirty="0"/>
              <a:t>для настройки </a:t>
            </a:r>
            <a:r>
              <a:rPr lang="ru-RU" sz="3200" dirty="0" smtClean="0"/>
              <a:t>линии: </a:t>
            </a:r>
          </a:p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text-decoration-color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text-decoration-line</a:t>
            </a:r>
            <a:r>
              <a:rPr lang="ru-RU" sz="3200" dirty="0" smtClean="0"/>
              <a:t>, </a:t>
            </a:r>
          </a:p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text-decoration-style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265380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42417" y="1138138"/>
            <a:ext cx="4849084" cy="2954655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a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text-decoration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none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latin typeface="Fira"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Fira"/>
                <a:cs typeface="Courier New" pitchFamily="49" charset="0"/>
              </a:rPr>
              <a:t>a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:hover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Fira"/>
                <a:cs typeface="Courier New" pitchFamily="49" charset="0"/>
              </a:rPr>
              <a:t>text-decoration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Fira"/>
                <a:cs typeface="Courier New" pitchFamily="49" charset="0"/>
              </a:rPr>
              <a:t>underline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Fira"/>
                <a:cs typeface="Courier New" pitchFamily="49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227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6187" y="38072"/>
            <a:ext cx="12055813" cy="60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000000"/>
                </a:solidFill>
                <a:ea typeface="Times New Roman"/>
                <a:cs typeface="Times New Roman"/>
              </a:rPr>
              <a:t>.test</a:t>
            </a:r>
            <a:r>
              <a:rPr lang="en-US" sz="28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B22222"/>
                </a:solidFill>
                <a:ea typeface="Times New Roman"/>
                <a:cs typeface="Times New Roman"/>
              </a:rPr>
              <a:t>text-decoration</a:t>
            </a:r>
            <a:r>
              <a:rPr lang="en-US" sz="28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en-US" sz="2800" b="1" dirty="0">
                <a:solidFill>
                  <a:srgbClr val="4B0082"/>
                </a:solidFill>
                <a:ea typeface="Times New Roman"/>
                <a:cs typeface="Times New Roman"/>
              </a:rPr>
              <a:t>underline</a:t>
            </a:r>
            <a:r>
              <a:rPr lang="en-US" sz="28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red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ea typeface="Times New Roman"/>
                <a:cs typeface="Times New Roman"/>
              </a:rPr>
              <a:t>.test2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ea typeface="Times New Roman"/>
                <a:cs typeface="Times New Roman"/>
              </a:rPr>
              <a:t>text-decoration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overline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green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ea typeface="Times New Roman"/>
                <a:cs typeface="Times New Roman"/>
              </a:rPr>
              <a:t>.test3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ea typeface="Times New Roman"/>
                <a:cs typeface="Times New Roman"/>
              </a:rPr>
              <a:t>text-decoration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line-through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blue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ea typeface="Times New Roman"/>
                <a:cs typeface="Times New Roman"/>
              </a:rPr>
              <a:t>.test4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ea typeface="Times New Roman"/>
                <a:cs typeface="Times New Roman"/>
              </a:rPr>
              <a:t>text-decoration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underline</a:t>
            </a:r>
            <a:r>
              <a:rPr lang="ru-RU" sz="2800" b="1" dirty="0">
                <a:solidFill>
                  <a:srgbClr val="4B0082"/>
                </a:solidFill>
                <a:ea typeface="Times New Roman"/>
                <a:cs typeface="Times New Roman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overline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28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ea typeface="Times New Roman"/>
                <a:cs typeface="Times New Roman"/>
              </a:rPr>
              <a:t>orange</a:t>
            </a:r>
            <a:r>
              <a:rPr lang="ru-RU" sz="28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en-US" sz="28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</p:txBody>
      </p:sp>
      <p:pic>
        <p:nvPicPr>
          <p:cNvPr id="4" name="Рисунок 3" descr="Рис.65 Пример использования свойства text-decoration (декорирование текста в CSS).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" t="22198" r="66501" b="37717"/>
          <a:stretch/>
        </p:blipFill>
        <p:spPr bwMode="auto">
          <a:xfrm>
            <a:off x="5817140" y="914394"/>
            <a:ext cx="6225703" cy="5214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891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Изменение регистра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text-transform</a:t>
            </a:r>
            <a:r>
              <a:rPr lang="ru-RU" sz="3200" dirty="0" smtClean="0"/>
              <a:t> ‒ преобразование текста в заглавные или прописные символы: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301111"/>
              </p:ext>
            </p:extLst>
          </p:nvPr>
        </p:nvGraphicFramePr>
        <p:xfrm>
          <a:off x="1097280" y="2870013"/>
          <a:ext cx="10058400" cy="2865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82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3015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capitalize</a:t>
                      </a:r>
                      <a:endParaRPr lang="en-US" sz="26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Первый символ каждого слова в предложении будет заглавным, остальные вид не меняют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lowercase</a:t>
                      </a:r>
                      <a:endParaRPr lang="en-US" sz="26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Все строчные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6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uppercase</a:t>
                      </a:r>
                      <a:endParaRPr lang="en-US" sz="26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 smtClean="0"/>
                        <a:t>Все прописные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ru-RU" sz="26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none</a:t>
                      </a:r>
                      <a:endParaRPr lang="ru-RU" sz="2600" dirty="0" smtClean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 smtClean="0"/>
                        <a:t>Не меняет регистр (по умолчанию)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578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4009" y="333214"/>
            <a:ext cx="5287153" cy="1969770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cs typeface="Courier New" pitchFamily="49" charset="0"/>
              </a:rPr>
              <a:t>h1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cs typeface="Courier New" pitchFamily="49" charset="0"/>
              </a:rPr>
              <a:t>text-transform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cs typeface="Courier New" pitchFamily="49" charset="0"/>
              </a:rPr>
              <a:t>uppercase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;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}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cs typeface="Courier New" pitchFamily="49" charset="0"/>
              </a:rPr>
              <a:t>p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cs typeface="Courier New" pitchFamily="49" charset="0"/>
              </a:rPr>
              <a:t>text-transform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cs typeface="Courier New" pitchFamily="49" charset="0"/>
              </a:rPr>
              <a:t>capitalize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; 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rgbClr val="999988"/>
              </a:solidFill>
              <a:effectLst/>
              <a:cs typeface="Courier New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cs typeface="Courier New" pitchFamily="49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2" t="27471" r="5428" b="10305"/>
          <a:stretch/>
        </p:blipFill>
        <p:spPr bwMode="auto">
          <a:xfrm>
            <a:off x="1910941" y="2645923"/>
            <a:ext cx="9217502" cy="3190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65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Кернинг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54293"/>
            <a:ext cx="10058400" cy="4036321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font-kerning</a:t>
            </a: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3200" dirty="0" smtClean="0"/>
              <a:t>‒ </a:t>
            </a:r>
            <a:r>
              <a:rPr lang="ru-RU" sz="3200" dirty="0"/>
              <a:t> </a:t>
            </a:r>
            <a:r>
              <a:rPr lang="ru-RU" sz="3200" dirty="0" smtClean="0"/>
              <a:t>избирательное изменение интервала </a:t>
            </a:r>
            <a:r>
              <a:rPr lang="ru-RU" sz="3200" dirty="0"/>
              <a:t>между символами в зависимости от их формы </a:t>
            </a:r>
            <a:r>
              <a:rPr lang="ru-RU" sz="3200" dirty="0" smtClean="0"/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993874"/>
              </p:ext>
            </p:extLst>
          </p:nvPr>
        </p:nvGraphicFramePr>
        <p:xfrm>
          <a:off x="485099" y="2712134"/>
          <a:ext cx="11282761" cy="3078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950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876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normal</a:t>
                      </a:r>
                      <a:endParaRPr lang="en-US" sz="26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кернинг применяется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auto</a:t>
                      </a:r>
                      <a:endParaRPr lang="en-US" sz="26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кернинг применяется по усмотрению пользовательского агента на основе ряда факторов: размера текста, скриптов или других факторов, влияющих на скорость обработки текста. Значение по умолчанию.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ru-RU" sz="2600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none</a:t>
                      </a:r>
                      <a:endParaRPr lang="ru-RU" sz="2600" kern="1200" dirty="0" smtClean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кернинг не применяется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0" y="5990427"/>
            <a:ext cx="123061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303030"/>
                </a:solidFill>
                <a:latin typeface="Trebuchet MS" panose="020B0603020202020204" pitchFamily="34" charset="0"/>
              </a:rPr>
              <a:t>Для шрифтов, которые не содержат данных кернинга, это свойство не будет иметь видимого эффекта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50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 descr="Применение свойства font-vari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39989" y="408684"/>
            <a:ext cx="4534896" cy="215443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font-kerning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auto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font-kerning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normal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font-kerning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none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font-kerning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inherit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font-kerning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initial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580296" y="5905891"/>
            <a:ext cx="5537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cap="all" dirty="0">
                <a:latin typeface="Trebuchet MS" panose="020B0603020202020204" pitchFamily="34" charset="0"/>
              </a:rPr>
              <a:t>СОСЕДНИЕ БУКВЫ БЕЗ КЕРНИНГА И С КЕРНИНГОМ</a:t>
            </a:r>
            <a:endParaRPr lang="ru-RU" dirty="0"/>
          </a:p>
        </p:txBody>
      </p:sp>
      <p:pic>
        <p:nvPicPr>
          <p:cNvPr id="8" name="Рисунок 7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53" y="2996873"/>
            <a:ext cx="8498439" cy="211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9734" y="0"/>
            <a:ext cx="6571806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4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Капитель в CSS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9733" y="1205904"/>
            <a:ext cx="1042396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rgbClr val="B22222"/>
                </a:solidFill>
                <a:ea typeface="Times New Roman"/>
              </a:rPr>
              <a:t>font-variant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строчные </a:t>
            </a:r>
            <a:r>
              <a:rPr lang="ru-RU" sz="3200" dirty="0">
                <a:solidFill>
                  <a:srgbClr val="000000"/>
                </a:solidFill>
                <a:ea typeface="Times New Roman"/>
              </a:rPr>
              <a:t>знаки выглядят как уменьшенные заглавные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буквы (</a:t>
            </a:r>
            <a:r>
              <a:rPr lang="en-US" sz="3200" dirty="0" smtClean="0"/>
              <a:t>normal</a:t>
            </a:r>
            <a:r>
              <a:rPr lang="ru-RU" sz="3200" dirty="0" smtClean="0"/>
              <a:t>, </a:t>
            </a:r>
            <a:r>
              <a:rPr lang="en-US" sz="3200" dirty="0" smtClean="0"/>
              <a:t>small-caps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</a:rPr>
              <a:t>)</a:t>
            </a:r>
            <a:endParaRPr lang="ru-RU" sz="3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9733" y="2578388"/>
            <a:ext cx="4929235" cy="1292662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h1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font-variant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small-caps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AutoShape 3" descr="Применение свойства font-vari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7" t="32152" r="5064" b="18921"/>
          <a:stretch/>
        </p:blipFill>
        <p:spPr bwMode="auto">
          <a:xfrm>
            <a:off x="2502633" y="4007796"/>
            <a:ext cx="9365113" cy="229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125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9734" y="0"/>
            <a:ext cx="11708012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ru-RU" sz="48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Расширенные возможности </a:t>
            </a:r>
            <a:r>
              <a:rPr lang="ru-RU" sz="4800" b="1" dirty="0" err="1">
                <a:solidFill>
                  <a:srgbClr val="B22222"/>
                </a:solidFill>
                <a:ea typeface="Times New Roman"/>
              </a:rPr>
              <a:t>font-variant</a:t>
            </a:r>
            <a:r>
              <a:rPr lang="ru-RU" sz="48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endParaRPr lang="ru-RU" sz="4800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1742" y="1748345"/>
            <a:ext cx="1146399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B22222"/>
                </a:solidFill>
                <a:ea typeface="Times New Roman"/>
              </a:rPr>
              <a:t>font-variant-ligatures</a:t>
            </a:r>
            <a:r>
              <a:rPr lang="ru-RU" sz="3200" b="1" dirty="0" smtClean="0">
                <a:solidFill>
                  <a:srgbClr val="B22222"/>
                </a:solidFill>
                <a:ea typeface="Times New Roman"/>
              </a:rPr>
              <a:t> </a:t>
            </a:r>
            <a:r>
              <a:rPr lang="ru-RU" sz="3200" dirty="0"/>
              <a:t>способы объединения </a:t>
            </a:r>
            <a:r>
              <a:rPr lang="ru-RU" sz="3200" dirty="0" err="1"/>
              <a:t>глифов</a:t>
            </a:r>
            <a:r>
              <a:rPr lang="ru-RU" sz="3200" dirty="0"/>
              <a:t> в один знак-</a:t>
            </a:r>
            <a:r>
              <a:rPr lang="ru-RU" sz="3200" dirty="0" err="1"/>
              <a:t>глиф</a:t>
            </a:r>
            <a:r>
              <a:rPr lang="ru-RU" sz="3200" dirty="0"/>
              <a:t> для создания более гармоничных </a:t>
            </a:r>
            <a:r>
              <a:rPr lang="ru-RU" sz="3200" dirty="0" smtClean="0"/>
              <a:t>форм, определяет</a:t>
            </a:r>
            <a:r>
              <a:rPr lang="ru-RU" sz="3200" dirty="0"/>
              <a:t>, какие лигатуры и контекстные формы используются в текстовом содержимом </a:t>
            </a:r>
            <a:r>
              <a:rPr lang="ru-RU" sz="3200" dirty="0" smtClean="0"/>
              <a:t>элементов</a:t>
            </a:r>
            <a:endParaRPr lang="en-US" sz="3200" b="1" dirty="0">
              <a:solidFill>
                <a:srgbClr val="B22222"/>
              </a:solidFill>
              <a:ea typeface="Times New Roman"/>
            </a:endParaRPr>
          </a:p>
        </p:txBody>
      </p:sp>
      <p:sp>
        <p:nvSpPr>
          <p:cNvPr id="5" name="AutoShape 3" descr="Применение свойства font-vari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711099"/>
              </p:ext>
            </p:extLst>
          </p:nvPr>
        </p:nvGraphicFramePr>
        <p:xfrm>
          <a:off x="92991" y="92988"/>
          <a:ext cx="12021519" cy="5737190"/>
        </p:xfrm>
        <a:graphic>
          <a:graphicData uri="http://schemas.openxmlformats.org/drawingml/2006/table">
            <a:tbl>
              <a:tblPr/>
              <a:tblGrid>
                <a:gridCol w="1658320"/>
                <a:gridCol w="10363199"/>
              </a:tblGrid>
              <a:tr h="765492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normal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Указывает, что общие функции по умолчанию включены.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>
                          <a:effectLst/>
                        </a:rPr>
                        <a:t>Значение по умолчанию.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5492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Указывает, что все типы лигатур и контекстных форм, охватываемых этим свойством, явно отключены. В ситуациях, когда лигатуры не считаются необходимыми, это может повысить скорость рендеринга текста.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567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common-ligatures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общих лигатур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567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no-common-ligatures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Отключить отображение общих лигатур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418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discretionary-ligatures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дискреционных лигатур </a:t>
                      </a:r>
                      <a:endParaRPr lang="en-US" sz="2400" dirty="0" smtClean="0">
                        <a:effectLst/>
                      </a:endParaRPr>
                    </a:p>
                    <a:p>
                      <a:pPr fontAlgn="t"/>
                      <a:r>
                        <a:rPr lang="ru-RU" sz="2400" dirty="0" smtClean="0">
                          <a:effectLst/>
                        </a:rPr>
                        <a:t>Какие </a:t>
                      </a:r>
                      <a:r>
                        <a:rPr lang="ru-RU" sz="2400" dirty="0">
                          <a:effectLst/>
                        </a:rPr>
                        <a:t>лигатуры являются дискреционными или необязательными, определяется конструктором типов, поэтому авторам нужно будет обратиться к документации данного шрифта, чтобы понять, какие лигатуры считаются дискреционными.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56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743583"/>
              </p:ext>
            </p:extLst>
          </p:nvPr>
        </p:nvGraphicFramePr>
        <p:xfrm>
          <a:off x="123985" y="451415"/>
          <a:ext cx="11949192" cy="5005670"/>
        </p:xfrm>
        <a:graphic>
          <a:graphicData uri="http://schemas.openxmlformats.org/drawingml/2006/table">
            <a:tbl>
              <a:tblPr/>
              <a:tblGrid>
                <a:gridCol w="1925633"/>
                <a:gridCol w="10023559"/>
              </a:tblGrid>
              <a:tr h="489567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no-discretionary-ligatures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Отключает отображение дискреционных лигатур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603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historical-ligatures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исторических лигатур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567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no-historical-ligatures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Отключает отображение исторических лигатур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3455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contextual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контекстных альтернатив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r>
                        <a:rPr lang="ru-RU" sz="2400" dirty="0" smtClean="0">
                          <a:effectLst/>
                        </a:rPr>
                        <a:t>Хотя </a:t>
                      </a:r>
                      <a:r>
                        <a:rPr lang="ru-RU" sz="2400" dirty="0">
                          <a:effectLst/>
                        </a:rPr>
                        <a:t>эта функция не является строго лигатурой, как и лигатуры, она обычно используется для согласования форм </a:t>
                      </a:r>
                      <a:r>
                        <a:rPr lang="ru-RU" sz="2400" dirty="0" err="1">
                          <a:effectLst/>
                        </a:rPr>
                        <a:t>глифов</a:t>
                      </a:r>
                      <a:r>
                        <a:rPr lang="ru-RU" sz="2400" dirty="0">
                          <a:effectLst/>
                        </a:rPr>
                        <a:t> с окружающим контекстом.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 smtClean="0">
                        <a:effectLst/>
                      </a:endParaRPr>
                    </a:p>
                    <a:p>
                      <a:pPr fontAlgn="t"/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1603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no-contextual</a:t>
                      </a: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Отключает отображение контекстных альтернатив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 smtClean="0">
                        <a:effectLst/>
                      </a:endParaRPr>
                    </a:p>
                    <a:p>
                      <a:pPr fontAlgn="t"/>
                      <a:endParaRPr lang="ru-RU" sz="2400" dirty="0">
                        <a:effectLst/>
                      </a:endParaRPr>
                    </a:p>
                  </a:txBody>
                  <a:tcPr marL="47024" marR="47024" marT="25079" marB="25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94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786" y="140875"/>
            <a:ext cx="7377194" cy="585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1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9233" y="353497"/>
            <a:ext cx="114639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B22222"/>
                </a:solidFill>
                <a:ea typeface="Times New Roman"/>
              </a:rPr>
              <a:t>font-variant-position</a:t>
            </a:r>
            <a:r>
              <a:rPr lang="ru-RU" sz="3200" b="1" dirty="0" smtClean="0">
                <a:solidFill>
                  <a:srgbClr val="B22222"/>
                </a:solidFill>
                <a:ea typeface="Times New Roman"/>
              </a:rPr>
              <a:t> – </a:t>
            </a:r>
            <a:r>
              <a:rPr lang="ru-RU" sz="3200" dirty="0" smtClean="0"/>
              <a:t>Подстрочные </a:t>
            </a:r>
            <a:r>
              <a:rPr lang="ru-RU" sz="3200" dirty="0"/>
              <a:t>и надстрочные формы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83" y="1073835"/>
            <a:ext cx="9545070" cy="3637649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83" y="4847047"/>
            <a:ext cx="3801005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7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968701"/>
              </p:ext>
            </p:extLst>
          </p:nvPr>
        </p:nvGraphicFramePr>
        <p:xfrm>
          <a:off x="595285" y="198734"/>
          <a:ext cx="10424010" cy="3688080"/>
        </p:xfrm>
        <a:graphic>
          <a:graphicData uri="http://schemas.openxmlformats.org/drawingml/2006/table">
            <a:tbl>
              <a:tblPr/>
              <a:tblGrid>
                <a:gridCol w="2073040"/>
                <a:gridCol w="8350970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normal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Означает отсутствие включенных функций. Значение по умолчанию.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sub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Включает отображение вариантов нижнего индекса (функция OpenType: subs).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super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Включает отображение надстрочных вариантов (функция OpenType: sups).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initial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inherit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036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9233" y="353497"/>
            <a:ext cx="114639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B22222"/>
                </a:solidFill>
                <a:ea typeface="Times New Roman"/>
              </a:rPr>
              <a:t>font-variant-numeric</a:t>
            </a:r>
            <a:r>
              <a:rPr lang="ru-RU" sz="3200" b="1" dirty="0" smtClean="0">
                <a:solidFill>
                  <a:srgbClr val="B22222"/>
                </a:solidFill>
                <a:ea typeface="Times New Roman"/>
              </a:rPr>
              <a:t>  – </a:t>
            </a:r>
            <a:r>
              <a:rPr lang="ru-RU" sz="3200" dirty="0"/>
              <a:t>Форматирование </a:t>
            </a:r>
            <a:r>
              <a:rPr lang="ru-RU" sz="3200" dirty="0" smtClean="0"/>
              <a:t>цифр </a:t>
            </a:r>
            <a:r>
              <a:rPr lang="ru-RU" sz="3200" dirty="0"/>
              <a:t>для чисел, дробей и порядковых </a:t>
            </a:r>
            <a:r>
              <a:rPr lang="ru-RU" sz="3200" dirty="0" smtClean="0"/>
              <a:t>маркеров</a:t>
            </a: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284883"/>
              </p:ext>
            </p:extLst>
          </p:nvPr>
        </p:nvGraphicFramePr>
        <p:xfrm>
          <a:off x="149629" y="1846263"/>
          <a:ext cx="11673600" cy="3227180"/>
        </p:xfrm>
        <a:graphic>
          <a:graphicData uri="http://schemas.openxmlformats.org/drawingml/2006/table">
            <a:tbl>
              <a:tblPr/>
              <a:tblGrid>
                <a:gridCol w="2321551"/>
                <a:gridCol w="9352049"/>
              </a:tblGrid>
              <a:tr h="277014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normal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Функции преобразования не применяются. Значение по умолчанию.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014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lining-nums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Выравнивает все цифры по базовой линии текста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411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oldstyle-nums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Отображает некоторые знаки (3, 4, 7, 9) таким образом, чтобы они уходили нижним краем под базовую линию текста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7014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proportional-nums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пропорциональных чисел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808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tabular-nums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табличных чисел — одинаковой ширины, которые легко выравниваются, как в таблицах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56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774095"/>
              </p:ext>
            </p:extLst>
          </p:nvPr>
        </p:nvGraphicFramePr>
        <p:xfrm>
          <a:off x="266817" y="386613"/>
          <a:ext cx="11095037" cy="5458228"/>
        </p:xfrm>
        <a:graphic>
          <a:graphicData uri="http://schemas.openxmlformats.org/drawingml/2006/table">
            <a:tbl>
              <a:tblPr/>
              <a:tblGrid>
                <a:gridCol w="2206490"/>
                <a:gridCol w="8888547"/>
              </a:tblGrid>
              <a:tr h="705511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diagonal-fractions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символы дробей, в которых числитель и знаменатель уменьшены и разделены косой чертой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1436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stacked-fractions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символы дробей, где числитель и знаменатель уменьшены, поставлены друг над другом и разделены горизонтальной чертой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736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ordinal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отображение буквенных форм, используемых с порядковыми номерами — специальные </a:t>
                      </a:r>
                      <a:r>
                        <a:rPr lang="ru-RU" sz="2400" dirty="0" err="1">
                          <a:effectLst/>
                        </a:rPr>
                        <a:t>глифы</a:t>
                      </a:r>
                      <a:r>
                        <a:rPr lang="ru-RU" sz="2400" dirty="0">
                          <a:effectLst/>
                        </a:rPr>
                        <a:t> для порядковых числительных, например, 1st, 2nd, 3rd, 4th в английском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5511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slashed-zero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Включает отображений нулей перечеркнутыми косой линией </a:t>
                      </a:r>
                      <a:r>
                        <a:rPr lang="en-US" sz="2400" dirty="0" smtClean="0">
                          <a:effectLst/>
                        </a:rPr>
                        <a:t> </a:t>
                      </a:r>
                      <a:endParaRPr lang="ru-RU" sz="2400" dirty="0">
                        <a:effectLst/>
                      </a:endParaRP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586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initial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Устанавливает значение свойства в значение по умолчанию.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0137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inherit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Наследует значение свойства от родительского элемента.</a:t>
                      </a:r>
                    </a:p>
                  </a:txBody>
                  <a:tcPr marL="56457" marR="56457" marT="30110" marB="3011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37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410" y="1080655"/>
            <a:ext cx="9665693" cy="448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2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9233" y="353497"/>
            <a:ext cx="114639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B22222"/>
                </a:solidFill>
                <a:ea typeface="Times New Roman"/>
              </a:rPr>
              <a:t>font-variant</a:t>
            </a:r>
            <a:r>
              <a:rPr lang="en-US" sz="3200" b="1" dirty="0">
                <a:solidFill>
                  <a:srgbClr val="B22222"/>
                </a:solidFill>
                <a:ea typeface="Times New Roman"/>
              </a:rPr>
              <a:t>-east-</a:t>
            </a:r>
            <a:r>
              <a:rPr lang="en-US" sz="3200" b="1" dirty="0" err="1">
                <a:solidFill>
                  <a:srgbClr val="B22222"/>
                </a:solidFill>
                <a:ea typeface="Times New Roman"/>
              </a:rPr>
              <a:t>asian</a:t>
            </a:r>
            <a:r>
              <a:rPr lang="ru-RU" sz="3200" b="1" dirty="0" smtClean="0">
                <a:solidFill>
                  <a:srgbClr val="B22222"/>
                </a:solidFill>
                <a:ea typeface="Times New Roman"/>
              </a:rPr>
              <a:t>  – </a:t>
            </a:r>
            <a:r>
              <a:rPr lang="ru-RU" sz="3200" dirty="0"/>
              <a:t>позволяет контролировать замену и размер </a:t>
            </a:r>
            <a:r>
              <a:rPr lang="ru-RU" sz="3200" dirty="0" err="1"/>
              <a:t>глифов</a:t>
            </a:r>
            <a:r>
              <a:rPr lang="ru-RU" sz="3200" dirty="0"/>
              <a:t> в восточноазиатском тексте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881216"/>
              </p:ext>
            </p:extLst>
          </p:nvPr>
        </p:nvGraphicFramePr>
        <p:xfrm>
          <a:off x="770086" y="1796475"/>
          <a:ext cx="10642289" cy="3930995"/>
        </p:xfrm>
        <a:graphic>
          <a:graphicData uri="http://schemas.openxmlformats.org/drawingml/2006/table">
            <a:tbl>
              <a:tblPr/>
              <a:tblGrid>
                <a:gridCol w="2116449"/>
                <a:gridCol w="8525840"/>
              </a:tblGrid>
              <a:tr h="381461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normal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Функции преобразования не применяются. Значение по умолчанию.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jis78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форм JIS78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jis83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форм JIS83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jis90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форм JIS90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jis04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форм JIS2004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simplified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упрощенных форм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traditional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традиционных форм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07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full-width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символов одинаковой ширины, квадратной формы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5918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proportional-width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рендеринг символов разной ширины 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ruby</a:t>
                      </a: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Включает отображение </a:t>
                      </a:r>
                      <a:r>
                        <a:rPr lang="ru-RU" sz="1800" dirty="0" err="1">
                          <a:effectLst/>
                        </a:rPr>
                        <a:t>глифов</a:t>
                      </a:r>
                      <a:r>
                        <a:rPr lang="ru-RU" sz="1800" dirty="0">
                          <a:effectLst/>
                        </a:rPr>
                        <a:t> вариантов </a:t>
                      </a:r>
                      <a:r>
                        <a:rPr lang="ru-RU" sz="1800" dirty="0" err="1">
                          <a:effectLst/>
                        </a:rPr>
                        <a:t>ruby</a:t>
                      </a:r>
                      <a:r>
                        <a:rPr lang="ru-RU" sz="1800" dirty="0">
                          <a:effectLst/>
                        </a:rPr>
                        <a:t> </a:t>
                      </a:r>
                      <a:r>
                        <a:rPr lang="en-US" sz="1800" dirty="0" smtClean="0">
                          <a:effectLst/>
                        </a:rPr>
                        <a:t> </a:t>
                      </a:r>
                      <a:endParaRPr lang="ru-RU" sz="1800" dirty="0">
                        <a:effectLst/>
                      </a:endParaRPr>
                    </a:p>
                  </a:txBody>
                  <a:tcPr marL="78898" marR="78898" marT="42079" marB="42079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31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78101" y="5522021"/>
            <a:ext cx="3647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cap="all" dirty="0">
                <a:latin typeface="Trebuchet MS" panose="020B0603020202020204" pitchFamily="34" charset="0"/>
              </a:rPr>
              <a:t>FONT-VARIANT-EAST-ASIAN: JIS78</a:t>
            </a:r>
            <a:endParaRPr lang="ru-RU" dirty="0"/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612" y="2543696"/>
            <a:ext cx="812510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7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4481209" cy="1055789"/>
          </a:xfrm>
        </p:spPr>
        <p:txBody>
          <a:bodyPr/>
          <a:lstStyle/>
          <a:p>
            <a:r>
              <a:rPr lang="ru-RU" dirty="0" smtClean="0"/>
              <a:t>Тень для текста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64204" y="1108953"/>
            <a:ext cx="11627796" cy="4772735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text-shadow</a:t>
            </a:r>
            <a:r>
              <a:rPr lang="ru-RU" sz="3200" dirty="0" smtClean="0"/>
              <a:t>  параметры задаются через пробел:</a:t>
            </a:r>
          </a:p>
          <a:p>
            <a:r>
              <a:rPr lang="ru-RU" sz="3200" b="1" dirty="0"/>
              <a:t>h-</a:t>
            </a:r>
            <a:r>
              <a:rPr lang="ru-RU" sz="3200" b="1" dirty="0" err="1"/>
              <a:t>shadow</a:t>
            </a:r>
            <a:r>
              <a:rPr lang="ru-RU" sz="3200" dirty="0"/>
              <a:t> (горизонтальная тень</a:t>
            </a:r>
            <a:r>
              <a:rPr lang="ru-RU" sz="3200" dirty="0" smtClean="0"/>
              <a:t>), </a:t>
            </a:r>
          </a:p>
          <a:p>
            <a:r>
              <a:rPr lang="ru-RU" sz="3200" b="1" dirty="0" smtClean="0"/>
              <a:t>v-</a:t>
            </a:r>
            <a:r>
              <a:rPr lang="ru-RU" sz="3200" b="1" dirty="0" err="1" smtClean="0"/>
              <a:t>shadow</a:t>
            </a:r>
            <a:r>
              <a:rPr lang="ru-RU" sz="3200" dirty="0" smtClean="0"/>
              <a:t> </a:t>
            </a:r>
            <a:r>
              <a:rPr lang="ru-RU" sz="3200" dirty="0"/>
              <a:t>(вертикальная тень</a:t>
            </a:r>
            <a:r>
              <a:rPr lang="ru-RU" sz="3200" dirty="0" smtClean="0"/>
              <a:t>), </a:t>
            </a:r>
          </a:p>
          <a:p>
            <a:r>
              <a:rPr lang="ru-RU" sz="3200" b="1" dirty="0" err="1" smtClean="0"/>
              <a:t>blur-radius</a:t>
            </a:r>
            <a:r>
              <a:rPr lang="ru-RU" sz="3200" dirty="0" smtClean="0"/>
              <a:t> </a:t>
            </a:r>
            <a:r>
              <a:rPr lang="ru-RU" sz="3200" dirty="0"/>
              <a:t>(радиус </a:t>
            </a:r>
            <a:r>
              <a:rPr lang="ru-RU" sz="3200" dirty="0" smtClean="0"/>
              <a:t>размытия ‒  по умолчанию 0), </a:t>
            </a:r>
          </a:p>
          <a:p>
            <a:r>
              <a:rPr lang="ru-RU" sz="3200" b="1" dirty="0" err="1" smtClean="0"/>
              <a:t>color</a:t>
            </a:r>
            <a:r>
              <a:rPr lang="ru-RU" sz="3200" dirty="0" smtClean="0"/>
              <a:t> </a:t>
            </a:r>
            <a:r>
              <a:rPr lang="ru-RU" sz="3200" dirty="0"/>
              <a:t>(</a:t>
            </a:r>
            <a:r>
              <a:rPr lang="ru-RU" sz="3200" dirty="0" smtClean="0"/>
              <a:t>цвет), </a:t>
            </a:r>
          </a:p>
          <a:p>
            <a:r>
              <a:rPr lang="en-US" sz="3200" b="1" dirty="0"/>
              <a:t>none</a:t>
            </a:r>
            <a:r>
              <a:rPr lang="en-US" sz="3200" dirty="0" smtClean="0"/>
              <a:t> </a:t>
            </a:r>
            <a:r>
              <a:rPr lang="en-US" sz="3200" dirty="0"/>
              <a:t>(</a:t>
            </a:r>
            <a:r>
              <a:rPr lang="ru-RU" sz="3200" dirty="0"/>
              <a:t>отмена </a:t>
            </a:r>
            <a:r>
              <a:rPr lang="ru-RU" sz="3200" dirty="0" smtClean="0"/>
              <a:t>тени ‒ по умолчанию).</a:t>
            </a:r>
            <a:endParaRPr lang="ru-RU" sz="3200" dirty="0"/>
          </a:p>
          <a:p>
            <a:r>
              <a:rPr lang="ru-RU" sz="3200" dirty="0" smtClean="0"/>
              <a:t>Может </a:t>
            </a:r>
            <a:r>
              <a:rPr lang="ru-RU" sz="3200" dirty="0"/>
              <a:t>работать совместно с </a:t>
            </a:r>
            <a:r>
              <a:rPr lang="ru-RU" sz="3200" dirty="0" err="1"/>
              <a:t>псевдоэлементами</a:t>
            </a:r>
            <a:r>
              <a:rPr lang="ru-RU" sz="3200" dirty="0"/>
              <a:t> </a:t>
            </a:r>
            <a:r>
              <a:rPr lang="ru-RU" sz="3200" dirty="0" smtClean="0"/>
              <a:t>:</a:t>
            </a:r>
          </a:p>
          <a:p>
            <a:r>
              <a:rPr lang="ru-RU" sz="3200" dirty="0" err="1" smtClean="0"/>
              <a:t>first-letter</a:t>
            </a:r>
            <a:r>
              <a:rPr lang="ru-RU" sz="3200" dirty="0"/>
              <a:t> и :</a:t>
            </a:r>
            <a:r>
              <a:rPr lang="ru-RU" sz="3200" dirty="0" err="1" smtClean="0"/>
              <a:t>first-line</a:t>
            </a:r>
            <a:r>
              <a:rPr lang="ru-RU" sz="3200" dirty="0" smtClean="0"/>
              <a:t>. </a:t>
            </a:r>
            <a:r>
              <a:rPr lang="en-US" sz="3200" dirty="0" smtClean="0"/>
              <a:t>   </a:t>
            </a:r>
            <a:r>
              <a:rPr lang="ru-RU" sz="3200" dirty="0" smtClean="0"/>
              <a:t>Разрешается список теней через запятую </a:t>
            </a:r>
          </a:p>
        </p:txBody>
      </p:sp>
    </p:spTree>
    <p:extLst>
      <p:ext uri="{BB962C8B-B14F-4D97-AF65-F5344CB8AC3E}">
        <p14:creationId xmlns:p14="http://schemas.microsoft.com/office/powerpoint/2010/main" val="263280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2374" y="449946"/>
            <a:ext cx="10397077" cy="1969770"/>
          </a:xfrm>
          <a:prstGeom prst="rect">
            <a:avLst/>
          </a:prstGeom>
          <a:solidFill>
            <a:srgbClr val="F8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shadowtext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text-shadow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black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							0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1em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red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white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цвет текста */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2em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9999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Размер надписи */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3" name="AutoShape 3" descr="Вид тен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" t="28655" r="5510" b="8304"/>
          <a:stretch/>
        </p:blipFill>
        <p:spPr bwMode="auto">
          <a:xfrm>
            <a:off x="1837484" y="3035030"/>
            <a:ext cx="9894074" cy="301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404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92982" y="57649"/>
            <a:ext cx="8662949" cy="3924151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text-shadow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0 0 4px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white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0 -5px 4px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violet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2px -10px 6px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indigo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-2px -15px 11px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blue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2px -25px 18px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green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-2px -40px 25px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yellow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2px -60px 33px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orange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0px -85px 40px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red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 используем 8 теней в одном объявлении */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Рисунок 2" descr="Рис. 68а Пример создания множественной текстовой тени.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2" t="18215" r="25015" b="50000"/>
          <a:stretch/>
        </p:blipFill>
        <p:spPr bwMode="auto">
          <a:xfrm>
            <a:off x="5369666" y="4046715"/>
            <a:ext cx="6750996" cy="228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6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14005"/>
            <a:ext cx="7957226" cy="60272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txt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margin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medium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solid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lightgrey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text-transform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uppercase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underline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overline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text-decoration-color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text-shadow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7px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blue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574" y="856020"/>
            <a:ext cx="4604426" cy="451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56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Шрифт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параметры шрифта: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101617"/>
              </p:ext>
            </p:extLst>
          </p:nvPr>
        </p:nvGraphicFramePr>
        <p:xfrm>
          <a:off x="591436" y="2509554"/>
          <a:ext cx="11094722" cy="3444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943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6252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font-family</a:t>
                      </a:r>
                      <a:endParaRPr lang="en-US" sz="2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шрифта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font-size</a:t>
                      </a:r>
                      <a:endParaRPr lang="en-US" sz="2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размер шрифта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font-style</a:t>
                      </a:r>
                      <a:endParaRPr lang="en-US" sz="2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Начертание шрифта – обычное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normal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курсивное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italic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или наклонное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oblique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font-variant</a:t>
                      </a:r>
                      <a:endParaRPr lang="en-US" sz="2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способ представления строчных букв</a:t>
                      </a:r>
                      <a:r>
                        <a:rPr lang="en-US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без</a:t>
                      </a:r>
                      <a:r>
                        <a:rPr lang="ru-RU" sz="2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модификаций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normal</a:t>
                      </a:r>
                      <a:r>
                        <a:rPr lang="ru-RU" sz="2800" dirty="0" smtClean="0"/>
                        <a:t>) или капителью (</a:t>
                      </a:r>
                      <a:r>
                        <a:rPr lang="en-US" sz="28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small-caps</a:t>
                      </a:r>
                      <a:r>
                        <a:rPr lang="ru-RU" sz="2800" dirty="0" smtClean="0"/>
                        <a:t>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font-weight</a:t>
                      </a:r>
                      <a:endParaRPr lang="en-US" sz="28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насыщенность шрифта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8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4917440" cy="833119"/>
          </a:xfrm>
        </p:spPr>
        <p:txBody>
          <a:bodyPr>
            <a:normAutofit/>
          </a:bodyPr>
          <a:lstStyle/>
          <a:p>
            <a:r>
              <a:rPr lang="en-US" dirty="0"/>
              <a:t>font-family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3526" y="844530"/>
            <a:ext cx="11660119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список </a:t>
            </a:r>
            <a:r>
              <a:rPr lang="ru-RU" sz="3200" dirty="0"/>
              <a:t>названий, разделённых </a:t>
            </a:r>
            <a:r>
              <a:rPr lang="ru-RU" sz="3200" dirty="0" smtClean="0"/>
              <a:t>запятой (</a:t>
            </a:r>
            <a:r>
              <a:rPr lang="ru-RU" sz="3200" dirty="0" err="1" smtClean="0"/>
              <a:t>семество</a:t>
            </a:r>
            <a:r>
              <a:rPr lang="ru-RU" sz="3200" dirty="0" smtClean="0"/>
              <a:t> шрифта)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font-family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Georgia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Times New Roman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serif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Bef>
                <a:spcPts val="2400"/>
              </a:spcBef>
            </a:pPr>
            <a:r>
              <a:rPr lang="ru-RU" sz="3200" dirty="0" smtClean="0"/>
              <a:t>Если шрифта </a:t>
            </a:r>
            <a:r>
              <a:rPr lang="ru-RU" sz="3200" dirty="0"/>
              <a:t>на </a:t>
            </a:r>
            <a:r>
              <a:rPr lang="ru-RU" sz="3200" dirty="0" smtClean="0"/>
              <a:t>компьютере нет</a:t>
            </a:r>
            <a:r>
              <a:rPr lang="ru-RU" sz="3200" dirty="0"/>
              <a:t>, </a:t>
            </a:r>
            <a:r>
              <a:rPr lang="ru-RU" sz="3200" dirty="0" smtClean="0"/>
              <a:t>браузер проверяет следующее </a:t>
            </a:r>
            <a:r>
              <a:rPr lang="ru-RU" sz="3200" dirty="0"/>
              <a:t>имя из </a:t>
            </a:r>
            <a:r>
              <a:rPr lang="ru-RU" sz="3200" dirty="0" smtClean="0"/>
              <a:t>списка. Иначе шрифт </a:t>
            </a:r>
            <a:r>
              <a:rPr lang="ru-RU" sz="3200" dirty="0"/>
              <a:t>"</a:t>
            </a:r>
            <a:r>
              <a:rPr lang="ru-RU" sz="3200" dirty="0" smtClean="0"/>
              <a:t>встроенный" </a:t>
            </a:r>
            <a:r>
              <a:rPr lang="ru-RU" sz="3200" dirty="0"/>
              <a:t>в браузер</a:t>
            </a:r>
            <a:r>
              <a:rPr lang="ru-RU" sz="3200" dirty="0" smtClean="0"/>
              <a:t>  </a:t>
            </a:r>
          </a:p>
          <a:p>
            <a:pPr>
              <a:spcBef>
                <a:spcPts val="2400"/>
              </a:spcBef>
            </a:pP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serif</a:t>
            </a:r>
            <a:r>
              <a:rPr lang="ru-RU" sz="3200" dirty="0"/>
              <a:t>, 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sans-serif</a:t>
            </a:r>
            <a:r>
              <a:rPr lang="ru-RU" sz="3200" dirty="0"/>
              <a:t>, 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cursive</a:t>
            </a:r>
            <a:r>
              <a:rPr lang="ru-RU" sz="3200" dirty="0"/>
              <a:t>, 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fantasy</a:t>
            </a:r>
            <a:r>
              <a:rPr lang="ru-RU" sz="3200" dirty="0" smtClean="0"/>
              <a:t>,</a:t>
            </a:r>
            <a:r>
              <a:rPr lang="ru-RU" sz="3200" dirty="0"/>
              <a:t> 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monospace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‒ </a:t>
            </a:r>
            <a:r>
              <a:rPr lang="ru-RU" sz="3200" dirty="0" smtClean="0"/>
              <a:t>ключевое слово </a:t>
            </a:r>
            <a:r>
              <a:rPr lang="ru-RU" sz="3200" dirty="0"/>
              <a:t>для </a:t>
            </a:r>
            <a:r>
              <a:rPr lang="ru-RU" sz="3200" dirty="0" smtClean="0"/>
              <a:t>семейства шрифта (обычно в конце списка) ‒  выбирается шрифт хотя бы того семейства, а не встроенный.</a:t>
            </a:r>
          </a:p>
          <a:p>
            <a:pPr>
              <a:spcBef>
                <a:spcPts val="2400"/>
              </a:spcBef>
            </a:pPr>
            <a:r>
              <a:rPr lang="ru-RU" sz="3200" b="1" u="sng" dirty="0" smtClean="0">
                <a:solidFill>
                  <a:schemeClr val="tx1"/>
                </a:solidFill>
              </a:rPr>
              <a:t>Служба шрифтов</a:t>
            </a:r>
            <a:r>
              <a:rPr lang="ru-RU" sz="3200" b="1" u="sng" dirty="0" smtClean="0"/>
              <a:t>    </a:t>
            </a:r>
            <a:r>
              <a:rPr lang="ru-RU" sz="3200" b="1" u="sng" dirty="0" smtClean="0">
                <a:solidFill>
                  <a:srgbClr val="FF0000"/>
                </a:solidFill>
              </a:rPr>
              <a:t>Google </a:t>
            </a:r>
            <a:r>
              <a:rPr lang="ru-RU" sz="3200" b="1" u="sng" dirty="0" err="1" smtClean="0">
                <a:solidFill>
                  <a:srgbClr val="FF0000"/>
                </a:solidFill>
              </a:rPr>
              <a:t>Fonts</a:t>
            </a:r>
            <a:endParaRPr lang="ru-RU" sz="3200" b="1" u="sng" dirty="0" smtClean="0">
              <a:solidFill>
                <a:srgbClr val="FF0000"/>
              </a:solidFill>
            </a:endParaRPr>
          </a:p>
          <a:p>
            <a:pPr>
              <a:spcBef>
                <a:spcPts val="2400"/>
              </a:spcBef>
            </a:pPr>
            <a:r>
              <a:rPr lang="ru-RU" sz="3200" b="1" u="sng" dirty="0" smtClean="0"/>
              <a:t>Коллекционный портал  </a:t>
            </a:r>
            <a:r>
              <a:rPr lang="ru-RU" sz="3200" b="1" u="sng" dirty="0" smtClean="0">
                <a:solidFill>
                  <a:srgbClr val="FF0000"/>
                </a:solidFill>
              </a:rPr>
              <a:t>Webfont.ru  </a:t>
            </a:r>
            <a:endParaRPr lang="ru-R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20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357801"/>
              </p:ext>
            </p:extLst>
          </p:nvPr>
        </p:nvGraphicFramePr>
        <p:xfrm>
          <a:off x="19455" y="73806"/>
          <a:ext cx="12120664" cy="6420612"/>
        </p:xfrm>
        <a:graphic>
          <a:graphicData uri="http://schemas.openxmlformats.org/drawingml/2006/table">
            <a:tbl>
              <a:tblPr firstRow="1" firstCol="1" bandRow="1"/>
              <a:tblGrid>
                <a:gridCol w="5836596"/>
                <a:gridCol w="6284068"/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sans-serif</a:t>
                      </a:r>
                      <a:r>
                        <a:rPr lang="ru-RU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(без засечек)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Семейство шрифта (</a:t>
                      </a:r>
                      <a:r>
                        <a:rPr lang="ru-RU" sz="2400" b="1" dirty="0">
                          <a:solidFill>
                            <a:srgbClr val="4B008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font-family</a:t>
                      </a:r>
                      <a:r>
                        <a:rPr lang="ru-RU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Пример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Arial, Helvetica,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"Arial Black", Gadget,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Arial Black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"Comic Sans MS", cursive,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Comic Sans MS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Impact, Charcoal,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Impact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"Lucida Sans Unicode", "Lucida Grande", sans-serif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Lucida Sans Unicode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Tahoma, Geneva,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ahoma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"Trebuchet MS", Helvetica, sans-serif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  <a:latin typeface="Trebuchet MS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Verdana</a:t>
                      </a:r>
                      <a:r>
                        <a:rPr lang="ru-RU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Geneva</a:t>
                      </a:r>
                      <a:r>
                        <a:rPr lang="ru-RU" sz="24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ru-RU" sz="24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sans-serif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Съешь же еще этих сочных мандаринов.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64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33" y="566531"/>
            <a:ext cx="10158001" cy="539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1880" y="0"/>
            <a:ext cx="12140119" cy="4520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.times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font-family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28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"Times New Roman", serif;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/*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определяем основной шрифт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"Times New Roman",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альтернативный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 serif (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с засечками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)*/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.courier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font-family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: </a:t>
            </a:r>
            <a:r>
              <a:rPr lang="en-US" sz="28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Courier, monospace;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/*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определяем основной шрифт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"Courier",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альтернативный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monospace (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семейство </a:t>
            </a:r>
            <a:r>
              <a:rPr lang="ru-RU" sz="2800" b="1" dirty="0" err="1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моноширинных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шрифтов</a:t>
            </a:r>
            <a:r>
              <a:rPr lang="en-US" sz="28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) */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8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2800" dirty="0">
              <a:ea typeface="Calibri"/>
              <a:cs typeface="Times New Roman"/>
            </a:endParaRPr>
          </a:p>
        </p:txBody>
      </p:sp>
      <p:pic>
        <p:nvPicPr>
          <p:cNvPr id="4" name="Рисунок 3" descr="Рис. 34 Пример использования свойства font-family.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" t="19617" r="37926" b="57794"/>
          <a:stretch/>
        </p:blipFill>
        <p:spPr bwMode="auto">
          <a:xfrm>
            <a:off x="2373550" y="3910519"/>
            <a:ext cx="9241276" cy="23346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9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62560" y="1"/>
            <a:ext cx="10058400" cy="914400"/>
          </a:xfrm>
        </p:spPr>
        <p:txBody>
          <a:bodyPr/>
          <a:lstStyle/>
          <a:p>
            <a:r>
              <a:rPr lang="en-US" dirty="0"/>
              <a:t>font-size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1" y="1094423"/>
            <a:ext cx="1123696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Размер </a:t>
            </a:r>
            <a:r>
              <a:rPr lang="ru-RU" sz="3200" dirty="0"/>
              <a:t>может быть установлен несколькими </a:t>
            </a:r>
            <a:r>
              <a:rPr lang="ru-RU" sz="3200" dirty="0" smtClean="0"/>
              <a:t>способами:</a:t>
            </a:r>
          </a:p>
          <a:p>
            <a:endParaRPr lang="ru-RU" sz="400" dirty="0" smtClean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xx-small</a:t>
            </a:r>
            <a:r>
              <a:rPr lang="ru-RU" sz="3200" dirty="0"/>
              <a:t>, 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x-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small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small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medium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</a:t>
            </a:r>
            <a:r>
              <a:rPr lang="ru-RU" sz="3200" dirty="0" smtClean="0"/>
              <a:t>, 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x-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</a:t>
            </a:r>
            <a:r>
              <a:rPr lang="ru-RU" sz="3200" dirty="0" smtClean="0"/>
              <a:t>,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xx-large</a:t>
            </a:r>
            <a:r>
              <a:rPr lang="ru-RU" sz="3200" dirty="0" smtClean="0"/>
              <a:t> ‒ абсолютные размеры шрифта (зависят от настроек браузера и ОС).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3200" dirty="0" smtClean="0"/>
              <a:t>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larger</a:t>
            </a:r>
            <a:r>
              <a:rPr lang="ru-RU" sz="3200" dirty="0"/>
              <a:t>, </a:t>
            </a: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smaller</a:t>
            </a:r>
            <a:r>
              <a:rPr lang="ru-RU" sz="3200" dirty="0" smtClean="0"/>
              <a:t> ‒ размеры шрифта относительно шрифта родительского элемента.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3200" dirty="0"/>
              <a:t> </a:t>
            </a:r>
            <a:r>
              <a:rPr lang="ru-RU" sz="3200" dirty="0" smtClean="0"/>
              <a:t>Можно использовать </a:t>
            </a:r>
            <a:r>
              <a:rPr lang="ru-RU" sz="3200" dirty="0" err="1"/>
              <a:t>em</a:t>
            </a:r>
            <a:r>
              <a:rPr lang="ru-RU" sz="3200" dirty="0"/>
              <a:t> (высота шрифта элемента), </a:t>
            </a:r>
            <a:r>
              <a:rPr lang="ru-RU" sz="3200" dirty="0" err="1"/>
              <a:t>ex</a:t>
            </a:r>
            <a:r>
              <a:rPr lang="ru-RU" sz="3200" dirty="0"/>
              <a:t> (высота символа х), пункты (</a:t>
            </a:r>
            <a:r>
              <a:rPr lang="ru-RU" sz="3200" dirty="0" err="1"/>
              <a:t>pt</a:t>
            </a:r>
            <a:r>
              <a:rPr lang="ru-RU" sz="3200" dirty="0"/>
              <a:t>), пикселы (</a:t>
            </a:r>
            <a:r>
              <a:rPr lang="ru-RU" sz="3200" dirty="0" err="1"/>
              <a:t>px</a:t>
            </a:r>
            <a:r>
              <a:rPr lang="ru-RU" sz="3200" dirty="0"/>
              <a:t>), проценты (%) и др. </a:t>
            </a:r>
            <a:endParaRPr lang="ru-RU" sz="32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ru-RU" sz="3200" dirty="0" smtClean="0"/>
              <a:t>За </a:t>
            </a:r>
            <a:r>
              <a:rPr lang="ru-RU" sz="3200" dirty="0"/>
              <a:t>100% берётся размер шрифта родительского элемента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90619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454030"/>
              </p:ext>
            </p:extLst>
          </p:nvPr>
        </p:nvGraphicFramePr>
        <p:xfrm>
          <a:off x="223520" y="58056"/>
          <a:ext cx="11826240" cy="6501617"/>
        </p:xfrm>
        <a:graphic>
          <a:graphicData uri="http://schemas.openxmlformats.org/drawingml/2006/table">
            <a:tbl>
              <a:tblPr firstRow="1" firstCol="1" bandRow="1"/>
              <a:tblGrid>
                <a:gridCol w="11709474"/>
                <a:gridCol w="116766"/>
              </a:tblGrid>
              <a:tr h="6474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m</a:t>
                      </a: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edium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среднего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размера.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по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умолчанию.</a:t>
                      </a: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  <a:lnT>
                      <a:noFill/>
                    </a:lnT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small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маленького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размера. Эквивалент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13px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x-</a:t>
                      </a: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small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очень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маленького размера.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10px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xx-small</a:t>
                      </a:r>
                      <a:r>
                        <a:rPr lang="en-US" sz="2400" b="0" baseline="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сверх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маленького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9px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smaller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меньшего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размера, чем у родительского элемента.</a:t>
                      </a: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large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большого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размера.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18px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x-</a:t>
                      </a: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large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очень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большого размера.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24px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xx-large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сверх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большого размера.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32px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larger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большего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размера, чем у родительского элемента.</a:t>
                      </a: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7358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err="1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length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фиксированного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размера (в единицах измерения CSS -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400" i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px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,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400" i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em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,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400" i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cm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и др.).</a:t>
                      </a: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5408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%</a:t>
                      </a:r>
                      <a:r>
                        <a:rPr lang="en-US" sz="2400" b="1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в </a:t>
                      </a:r>
                      <a:r>
                        <a:rPr lang="ru-RU" sz="24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процентах от размера шрифта родительского элемента.</a:t>
                      </a: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2400"/>
                    </a:p>
                  </a:txBody>
                  <a:tcPr marL="45683" marR="45683" marT="22841" marB="22841">
                    <a:lnL>
                      <a:noFill/>
                    </a:lnL>
                  </a:tcPr>
                </a:tc>
              </a:tr>
              <a:tr h="26245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u="sng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I</a:t>
                      </a:r>
                      <a:r>
                        <a:rPr lang="ru-RU" sz="2400" b="1" u="sng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nitial</a:t>
                      </a:r>
                      <a:r>
                        <a:rPr lang="en-US" sz="2400" b="1" u="sng" dirty="0" smtClean="0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значение по умолчанию</a:t>
                      </a: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3793" marR="23793" marT="23793" marB="23793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22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92480" y="89161"/>
            <a:ext cx="9202969" cy="250837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test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180%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ea typeface="Times New Roman" pitchFamily="18" charset="0"/>
                <a:cs typeface="Arial" pitchFamily="34" charset="0"/>
              </a:rPr>
              <a:t>/*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ea typeface="Times New Roman" pitchFamily="18" charset="0"/>
                <a:cs typeface="Arial" pitchFamily="34" charset="0"/>
              </a:rPr>
              <a:t>180% от размера шрифта 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ea typeface="Times New Roman" pitchFamily="18" charset="0"/>
                <a:cs typeface="Arial" pitchFamily="34" charset="0"/>
              </a:rPr>
              <a:t>родительского элемента */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.test2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1.5em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.test3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font-size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16px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Calibri" pitchFamily="34" charset="0"/>
                <a:cs typeface="Arial" pitchFamily="34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pic>
        <p:nvPicPr>
          <p:cNvPr id="3" name="Рисунок 2" descr="Пример использования свойства CSS font-size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2351318"/>
            <a:ext cx="7010400" cy="4135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739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32225" y="116115"/>
            <a:ext cx="3921760" cy="802005"/>
          </a:xfrm>
        </p:spPr>
        <p:txBody>
          <a:bodyPr/>
          <a:lstStyle/>
          <a:p>
            <a:r>
              <a:rPr lang="en-US" dirty="0"/>
              <a:t>font-weight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5140" y="981213"/>
            <a:ext cx="11582400" cy="5326697"/>
          </a:xfrm>
        </p:spPr>
        <p:txBody>
          <a:bodyPr>
            <a:noAutofit/>
          </a:bodyPr>
          <a:lstStyle/>
          <a:p>
            <a:r>
              <a:rPr lang="ru-RU" sz="3200" dirty="0">
                <a:solidFill>
                  <a:schemeClr val="dk1"/>
                </a:solidFill>
              </a:rPr>
              <a:t>Значение устанавливается от 100 до 900 с шагом 100. </a:t>
            </a:r>
            <a:endParaRPr lang="ru-RU" sz="3200" dirty="0" smtClean="0">
              <a:solidFill>
                <a:schemeClr val="dk1"/>
              </a:solidFill>
            </a:endParaRPr>
          </a:p>
          <a:p>
            <a:endParaRPr lang="ru-RU" sz="3200" dirty="0" smtClean="0">
              <a:solidFill>
                <a:schemeClr val="dk1"/>
              </a:solidFill>
            </a:endParaRPr>
          </a:p>
          <a:p>
            <a:r>
              <a:rPr lang="ru-RU" sz="3200" dirty="0" smtClean="0">
                <a:solidFill>
                  <a:schemeClr val="dk1"/>
                </a:solidFill>
              </a:rPr>
              <a:t>Можно использовать ключевые слова </a:t>
            </a:r>
            <a:endParaRPr lang="en-US" sz="3200" dirty="0" smtClean="0">
              <a:solidFill>
                <a:schemeClr val="dk1"/>
              </a:solidFill>
            </a:endParaRPr>
          </a:p>
          <a:p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bold</a:t>
            </a:r>
            <a:r>
              <a:rPr lang="ru-RU" sz="3200" dirty="0">
                <a:solidFill>
                  <a:schemeClr val="dk1"/>
                </a:solidFill>
              </a:rPr>
              <a:t> </a:t>
            </a:r>
            <a:r>
              <a:rPr lang="ru-RU" sz="3200" dirty="0" smtClean="0">
                <a:solidFill>
                  <a:schemeClr val="dk1"/>
                </a:solidFill>
              </a:rPr>
              <a:t>(полужирное начертание, 700),</a:t>
            </a:r>
            <a:r>
              <a:rPr lang="ru-RU" sz="3200" dirty="0">
                <a:solidFill>
                  <a:schemeClr val="dk1"/>
                </a:solidFill>
              </a:rPr>
              <a:t> </a:t>
            </a:r>
            <a:endParaRPr lang="en-US" sz="3200" dirty="0" smtClean="0">
              <a:solidFill>
                <a:schemeClr val="dk1"/>
              </a:solidFill>
            </a:endParaRPr>
          </a:p>
          <a:p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normal</a:t>
            </a:r>
            <a:r>
              <a:rPr lang="ru-RU" sz="3200" dirty="0">
                <a:solidFill>
                  <a:schemeClr val="dk1"/>
                </a:solidFill>
              </a:rPr>
              <a:t> </a:t>
            </a:r>
            <a:r>
              <a:rPr lang="ru-RU" sz="3200" dirty="0" smtClean="0">
                <a:solidFill>
                  <a:schemeClr val="dk1"/>
                </a:solidFill>
              </a:rPr>
              <a:t>(нормальное начертание, 400) по умолчанию. </a:t>
            </a:r>
          </a:p>
          <a:p>
            <a:endParaRPr lang="ru-RU" sz="900" dirty="0" smtClean="0">
              <a:solidFill>
                <a:schemeClr val="dk1"/>
              </a:solidFill>
            </a:endParaRPr>
          </a:p>
          <a:p>
            <a:r>
              <a:rPr lang="ru-RU" sz="3200" dirty="0" smtClean="0">
                <a:solidFill>
                  <a:schemeClr val="dk1"/>
                </a:solidFill>
              </a:rPr>
              <a:t>Значения</a:t>
            </a:r>
            <a:r>
              <a:rPr lang="ru-RU" sz="3200" dirty="0">
                <a:solidFill>
                  <a:schemeClr val="dk1"/>
                </a:solidFill>
              </a:rPr>
              <a:t> 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bolder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увеличивают до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след.возможного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sz="3200" dirty="0">
                <a:solidFill>
                  <a:schemeClr val="dk1"/>
                </a:solidFill>
              </a:rPr>
              <a:t> </a:t>
            </a:r>
            <a:r>
              <a:rPr lang="ru-RU" sz="3200" dirty="0" smtClean="0">
                <a:solidFill>
                  <a:schemeClr val="dk1"/>
                </a:solidFill>
              </a:rPr>
              <a:t>и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lighter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(уменьшают)</a:t>
            </a:r>
            <a:r>
              <a:rPr lang="ru-RU" sz="3200" dirty="0">
                <a:solidFill>
                  <a:schemeClr val="dk1"/>
                </a:solidFill>
              </a:rPr>
              <a:t> изменяют жирность относительно насыщенности родителя, соответственно, в большую и меньшую сторону.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3190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2374" y="263907"/>
            <a:ext cx="4673331" cy="152349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font-weight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100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.test2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font-weight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bold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.test3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font-weight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900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3" name="Рисунок 2" descr="Пример использования свойства CSS font-weight.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" t="21932" r="80796" b="43256"/>
          <a:stretch/>
        </p:blipFill>
        <p:spPr bwMode="auto">
          <a:xfrm>
            <a:off x="7335520" y="36385"/>
            <a:ext cx="4836160" cy="4612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283265"/>
            <a:ext cx="7498080" cy="201593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&lt;p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class =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"test"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&gt;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font-weight: 100;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&lt;/p&gt;	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&lt;p&gt;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font-weight: normal;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&lt;/p&gt;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&lt;p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class =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"test2"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&gt;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font-weight: bold;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&lt;/p&gt;	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&lt;p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class =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"test3"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&gt;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font-weight: 900;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ea typeface="Times New Roman" pitchFamily="18" charset="0"/>
                <a:cs typeface="Arial" pitchFamily="34" charset="0"/>
              </a:rPr>
              <a:t>&lt;/p&gt;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17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2519680" cy="903605"/>
          </a:xfrm>
        </p:spPr>
        <p:txBody>
          <a:bodyPr/>
          <a:lstStyle/>
          <a:p>
            <a:r>
              <a:rPr lang="ru-RU" dirty="0"/>
              <a:t>Шрифт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25120" y="772161"/>
            <a:ext cx="11866880" cy="5007928"/>
          </a:xfrm>
        </p:spPr>
        <p:txBody>
          <a:bodyPr>
            <a:noAutofit/>
          </a:bodyPr>
          <a:lstStyle/>
          <a:p>
            <a:r>
              <a:rPr lang="ru-RU" sz="3200" dirty="0" smtClean="0"/>
              <a:t>Универсальное свойство</a:t>
            </a:r>
            <a:r>
              <a:rPr lang="ru-RU" sz="3200" dirty="0"/>
              <a:t>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</a:t>
            </a:r>
            <a:r>
              <a:rPr lang="ru-RU" sz="3200" dirty="0" smtClean="0"/>
              <a:t> ‒ несколько </a:t>
            </a:r>
            <a:r>
              <a:rPr lang="ru-RU" sz="3200" dirty="0"/>
              <a:t>характеристик </a:t>
            </a:r>
            <a:r>
              <a:rPr lang="ru-RU" sz="3200" dirty="0" smtClean="0"/>
              <a:t>шрифта.</a:t>
            </a:r>
            <a:endParaRPr lang="en-US" sz="3200" dirty="0" smtClean="0"/>
          </a:p>
          <a:p>
            <a:pPr lvl="0"/>
            <a:r>
              <a:rPr lang="ru-RU" sz="3200" b="1" u="sng" dirty="0"/>
              <a:t>font-style</a:t>
            </a:r>
            <a:r>
              <a:rPr lang="ru-RU" sz="3200" dirty="0"/>
              <a:t> (стиль шрифта)</a:t>
            </a:r>
          </a:p>
          <a:p>
            <a:pPr lvl="0"/>
            <a:r>
              <a:rPr lang="ru-RU" sz="3200" b="1" u="sng" dirty="0"/>
              <a:t>font-variant</a:t>
            </a:r>
            <a:r>
              <a:rPr lang="ru-RU" sz="3200" dirty="0"/>
              <a:t> (капитель - малые заглавные)</a:t>
            </a:r>
          </a:p>
          <a:p>
            <a:pPr lvl="0"/>
            <a:r>
              <a:rPr lang="ru-RU" sz="3200" b="1" u="sng" dirty="0"/>
              <a:t>font-weight</a:t>
            </a:r>
            <a:r>
              <a:rPr lang="ru-RU" sz="3200" dirty="0"/>
              <a:t> (жирность шрифта)</a:t>
            </a:r>
          </a:p>
          <a:p>
            <a:pPr lvl="0"/>
            <a:r>
              <a:rPr lang="ru-RU" sz="3200" b="1" u="sng" dirty="0"/>
              <a:t>font-size</a:t>
            </a:r>
            <a:r>
              <a:rPr lang="ru-RU" sz="3200" dirty="0"/>
              <a:t> (размер шрифта) / </a:t>
            </a:r>
            <a:r>
              <a:rPr lang="ru-RU" sz="3200" b="1" u="sng" dirty="0"/>
              <a:t>line-height</a:t>
            </a:r>
            <a:r>
              <a:rPr lang="ru-RU" sz="3200" dirty="0"/>
              <a:t> </a:t>
            </a:r>
            <a:r>
              <a:rPr lang="ru-RU" sz="3200" dirty="0" smtClean="0"/>
              <a:t>(расстояние </a:t>
            </a:r>
            <a:r>
              <a:rPr lang="ru-RU" sz="3200" dirty="0"/>
              <a:t>между строками</a:t>
            </a:r>
            <a:r>
              <a:rPr lang="ru-RU" sz="3200" dirty="0" smtClean="0"/>
              <a:t>) </a:t>
            </a:r>
            <a:r>
              <a:rPr lang="ru-RU" sz="3200" dirty="0"/>
              <a:t>по умолчанию</a:t>
            </a:r>
            <a:r>
              <a:rPr lang="ru-RU" sz="3200" b="1" dirty="0"/>
              <a:t> </a:t>
            </a:r>
            <a:r>
              <a:rPr lang="ru-RU" sz="3200" b="1" dirty="0" err="1"/>
              <a:t>medium</a:t>
            </a:r>
            <a:r>
              <a:rPr lang="ru-RU" sz="3200" b="1" dirty="0"/>
              <a:t> / </a:t>
            </a:r>
            <a:r>
              <a:rPr lang="ru-RU" sz="3200" b="1" dirty="0" err="1"/>
              <a:t>normal</a:t>
            </a:r>
            <a:endParaRPr lang="ru-RU" sz="3200" dirty="0"/>
          </a:p>
          <a:p>
            <a:pPr lvl="0"/>
            <a:r>
              <a:rPr lang="ru-RU" sz="3200" b="1" u="sng" dirty="0"/>
              <a:t>font-family</a:t>
            </a:r>
            <a:r>
              <a:rPr lang="ru-RU" sz="3200" dirty="0"/>
              <a:t> (семейство шрифта элемента</a:t>
            </a:r>
            <a:r>
              <a:rPr lang="ru-RU" sz="3200" dirty="0" smtClean="0"/>
              <a:t>)</a:t>
            </a:r>
          </a:p>
          <a:p>
            <a:r>
              <a:rPr lang="ru-RU" sz="3200" dirty="0"/>
              <a:t> </a:t>
            </a:r>
            <a:r>
              <a:rPr lang="ru-RU" sz="3200" b="1" u="sng" dirty="0"/>
              <a:t>font-size</a:t>
            </a:r>
            <a:r>
              <a:rPr lang="ru-RU" sz="3200" dirty="0"/>
              <a:t> </a:t>
            </a:r>
            <a:r>
              <a:rPr lang="ru-RU" sz="3200" dirty="0" smtClean="0"/>
              <a:t>и</a:t>
            </a:r>
            <a:r>
              <a:rPr lang="ru-RU" sz="3200" dirty="0"/>
              <a:t> </a:t>
            </a:r>
            <a:r>
              <a:rPr lang="ru-RU" sz="3200" b="1" u="sng" dirty="0"/>
              <a:t>font-family</a:t>
            </a:r>
            <a:r>
              <a:rPr lang="ru-RU" sz="3200" dirty="0"/>
              <a:t> </a:t>
            </a:r>
            <a:r>
              <a:rPr lang="ru-RU" sz="3200" dirty="0" smtClean="0"/>
              <a:t>‒ обязательны. Если одно </a:t>
            </a:r>
            <a:r>
              <a:rPr lang="ru-RU" sz="3200" dirty="0"/>
              <a:t>из других значений отсутствуют, то будут установлены значения по </a:t>
            </a:r>
            <a:r>
              <a:rPr lang="ru-RU" sz="3200" dirty="0" smtClean="0"/>
              <a:t>умолчанию (</a:t>
            </a:r>
            <a:r>
              <a:rPr lang="ru-RU" sz="3200" b="1" dirty="0" err="1"/>
              <a:t>normal</a:t>
            </a:r>
            <a:r>
              <a:rPr lang="ru-RU" sz="3200" dirty="0" smtClean="0"/>
              <a:t>).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55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619126"/>
              </p:ext>
            </p:extLst>
          </p:nvPr>
        </p:nvGraphicFramePr>
        <p:xfrm>
          <a:off x="203200" y="426720"/>
          <a:ext cx="11805920" cy="4497324"/>
        </p:xfrm>
        <a:graphic>
          <a:graphicData uri="http://schemas.openxmlformats.org/drawingml/2006/table">
            <a:tbl>
              <a:tblPr firstRow="1" firstCol="1" bandRow="1"/>
              <a:tblGrid>
                <a:gridCol w="2270369"/>
                <a:gridCol w="9535551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caption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+mn-lt"/>
                          <a:ea typeface="Calibri"/>
                          <a:cs typeface="Times New Roman"/>
                        </a:rPr>
                        <a:t>Устанавливает шрифт, который используется для заголовков элементов управления (например - кнопки).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icon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для </a:t>
                      </a:r>
                      <a:r>
                        <a:rPr lang="ru-RU" sz="2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текста в иконках (значках).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menu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в </a:t>
                      </a:r>
                      <a:r>
                        <a:rPr lang="ru-RU" sz="2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раскрывающихся меню.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message-box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в </a:t>
                      </a:r>
                      <a:r>
                        <a:rPr lang="ru-RU" sz="2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диалоговых окнах.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small-caption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  <a:latin typeface="+mn-lt"/>
                          <a:ea typeface="Calibri"/>
                          <a:cs typeface="Times New Roman"/>
                        </a:rPr>
                        <a:t>Более мелкая версия шрифта, который устанавливается с помощью значения</a:t>
                      </a: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caption</a:t>
                      </a:r>
                      <a:r>
                        <a:rPr lang="ru-RU" sz="2800"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status-bar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  <a:latin typeface="+mn-lt"/>
                          <a:ea typeface="Calibri"/>
                          <a:cs typeface="Times New Roman"/>
                        </a:rPr>
                        <a:t>Устанавливает шрифт, который используется в статус баре.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56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88" r="3639"/>
          <a:stretch/>
        </p:blipFill>
        <p:spPr bwMode="auto">
          <a:xfrm>
            <a:off x="223520" y="210539"/>
            <a:ext cx="10769600" cy="588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965388" y="2496493"/>
            <a:ext cx="4923143" cy="3000821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.test2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caption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.test3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icon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.test4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menu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.test5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message-box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.test6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small-caption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ru-RU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Times New Roman" pitchFamily="18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.test7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ea typeface="Times New Roman" pitchFamily="18" charset="0"/>
                <a:cs typeface="Arial" pitchFamily="34" charset="0"/>
              </a:rPr>
              <a:t>font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ea typeface="Times New Roman" pitchFamily="18" charset="0"/>
                <a:cs typeface="Arial" pitchFamily="34" charset="0"/>
              </a:rPr>
              <a:t>status-bar</a:t>
            </a:r>
            <a:r>
              <a:rPr kumimoji="0" lang="en-US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Times New Roman" pitchFamily="18" charset="0"/>
                <a:cs typeface="Arial" pitchFamily="34" charset="0"/>
              </a:rPr>
              <a:t>;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Times New Roman" pitchFamily="18" charset="0"/>
                <a:cs typeface="Arial" pitchFamily="34" charset="0"/>
              </a:rPr>
              <a:t>}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83840" y="1317675"/>
            <a:ext cx="92862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3200" b="1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.test</a:t>
            </a:r>
            <a:r>
              <a:rPr lang="en-US" altLang="ru-RU" sz="32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 </a:t>
            </a:r>
            <a:r>
              <a:rPr lang="en-US" altLang="ru-RU" sz="3200" b="1" dirty="0">
                <a:solidFill>
                  <a:srgbClr val="FF0000"/>
                </a:solidFill>
                <a:ea typeface="Times New Roman" pitchFamily="18" charset="0"/>
                <a:cs typeface="Arial" pitchFamily="34" charset="0"/>
              </a:rPr>
              <a:t>{</a:t>
            </a:r>
            <a:r>
              <a:rPr lang="en-US" altLang="ru-RU" sz="3200" b="1" dirty="0">
                <a:solidFill>
                  <a:srgbClr val="B22222"/>
                </a:solidFill>
                <a:ea typeface="Times New Roman" pitchFamily="18" charset="0"/>
                <a:cs typeface="Arial" pitchFamily="34" charset="0"/>
              </a:rPr>
              <a:t>font</a:t>
            </a:r>
            <a:r>
              <a:rPr lang="en-US" altLang="ru-RU" sz="32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 : </a:t>
            </a:r>
            <a:r>
              <a:rPr lang="en-US" altLang="ru-RU" sz="3200" b="1" dirty="0">
                <a:solidFill>
                  <a:srgbClr val="4B0082"/>
                </a:solidFill>
                <a:ea typeface="Times New Roman" pitchFamily="18" charset="0"/>
                <a:cs typeface="Arial" pitchFamily="34" charset="0"/>
              </a:rPr>
              <a:t>italic small-caps bold 12px/30px courier;</a:t>
            </a:r>
            <a:endParaRPr lang="ru-RU" altLang="ru-RU" sz="3200" dirty="0">
              <a:solidFill>
                <a:srgbClr val="000000"/>
              </a:solidFill>
              <a:ea typeface="Times New Roman" pitchFamily="18" charset="0"/>
              <a:cs typeface="Arial" pitchFamily="34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3200" b="1" dirty="0">
                <a:solidFill>
                  <a:srgbClr val="B22222"/>
                </a:solidFill>
                <a:ea typeface="Times New Roman" pitchFamily="18" charset="0"/>
                <a:cs typeface="Arial" pitchFamily="34" charset="0"/>
              </a:rPr>
              <a:t>background-color</a:t>
            </a:r>
            <a:r>
              <a:rPr lang="en-US" altLang="ru-RU" sz="32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 : </a:t>
            </a:r>
            <a:r>
              <a:rPr lang="en-US" altLang="ru-RU" sz="3200" b="1" dirty="0">
                <a:solidFill>
                  <a:srgbClr val="4B0082"/>
                </a:solidFill>
                <a:ea typeface="Times New Roman" pitchFamily="18" charset="0"/>
                <a:cs typeface="Arial" pitchFamily="34" charset="0"/>
              </a:rPr>
              <a:t>orange</a:t>
            </a:r>
            <a:r>
              <a:rPr lang="en-US" altLang="ru-RU" sz="3200" dirty="0">
                <a:solidFill>
                  <a:srgbClr val="000000"/>
                </a:solidFill>
                <a:ea typeface="Times New Roman" pitchFamily="18" charset="0"/>
                <a:cs typeface="Arial" pitchFamily="34" charset="0"/>
              </a:rPr>
              <a:t>;</a:t>
            </a:r>
            <a:r>
              <a:rPr lang="en-US" altLang="ru-RU" sz="3200" b="1" dirty="0">
                <a:solidFill>
                  <a:srgbClr val="FF0000"/>
                </a:solidFill>
                <a:ea typeface="Times New Roman" pitchFamily="18" charset="0"/>
                <a:cs typeface="Arial" pitchFamily="34" charset="0"/>
              </a:rPr>
              <a:t>}</a:t>
            </a:r>
            <a:endParaRPr lang="ru-RU" altLang="ru-RU" sz="3200" b="1" dirty="0">
              <a:solidFill>
                <a:srgbClr val="FF0000"/>
              </a:solidFill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47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162560"/>
            <a:ext cx="10058400" cy="904875"/>
          </a:xfrm>
        </p:spPr>
        <p:txBody>
          <a:bodyPr/>
          <a:lstStyle/>
          <a:p>
            <a:r>
              <a:rPr lang="ru-RU" b="1" dirty="0"/>
              <a:t>Добавление веб-шрифта на страницу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03200" y="748983"/>
            <a:ext cx="11663680" cy="4035425"/>
          </a:xfrm>
        </p:spPr>
        <p:txBody>
          <a:bodyPr>
            <a:noAutofit/>
          </a:bodyPr>
          <a:lstStyle/>
          <a:p>
            <a:pPr lvl="0"/>
            <a:r>
              <a:rPr lang="ru-RU" sz="3200" dirty="0" smtClean="0"/>
              <a:t>‒  использовать </a:t>
            </a:r>
            <a:r>
              <a:rPr lang="ru-RU" sz="3200" dirty="0"/>
              <a:t>правило CSS </a:t>
            </a:r>
            <a:r>
              <a:rPr lang="ru-RU" sz="3200" b="1" u="sng" dirty="0"/>
              <a:t>@</a:t>
            </a:r>
            <a:r>
              <a:rPr lang="ru-RU" sz="3200" b="1" u="sng" dirty="0" smtClean="0"/>
              <a:t>font-face</a:t>
            </a:r>
            <a:r>
              <a:rPr lang="ru-RU" sz="3200" dirty="0"/>
              <a:t> </a:t>
            </a:r>
            <a:r>
              <a:rPr lang="ru-RU" sz="3200" dirty="0" smtClean="0"/>
              <a:t>‒ сообщает </a:t>
            </a:r>
            <a:r>
              <a:rPr lang="ru-RU" sz="3200" dirty="0"/>
              <a:t>браузеру пользователя, откуда необходимо загружать шрифт и какое имя шрифта при этом используется. </a:t>
            </a:r>
            <a:endParaRPr lang="ru-RU" sz="3200" dirty="0" smtClean="0"/>
          </a:p>
          <a:p>
            <a:pPr lvl="0"/>
            <a:r>
              <a:rPr lang="ru-RU" sz="3200" dirty="0" smtClean="0"/>
              <a:t> Правило</a:t>
            </a:r>
            <a:r>
              <a:rPr lang="ru-RU" sz="3200" dirty="0"/>
              <a:t> </a:t>
            </a:r>
            <a:r>
              <a:rPr lang="ru-RU" sz="3200" b="1" u="sng" dirty="0"/>
              <a:t>@font-face</a:t>
            </a:r>
            <a:r>
              <a:rPr lang="ru-RU" sz="3200" dirty="0"/>
              <a:t> </a:t>
            </a:r>
            <a:r>
              <a:rPr lang="ru-RU" sz="3200" dirty="0" smtClean="0"/>
              <a:t>необходимо разместить </a:t>
            </a:r>
            <a:r>
              <a:rPr lang="ru-RU" sz="3200" dirty="0"/>
              <a:t>в начале вашей таблицы </a:t>
            </a:r>
            <a:r>
              <a:rPr lang="ru-RU" sz="3200" dirty="0" smtClean="0"/>
              <a:t>стилей.</a:t>
            </a:r>
            <a:endParaRPr lang="ru-RU" sz="3200" dirty="0"/>
          </a:p>
          <a:p>
            <a:pPr lvl="0"/>
            <a:r>
              <a:rPr lang="ru-RU" sz="3200" dirty="0" smtClean="0"/>
              <a:t>‒ использовать </a:t>
            </a:r>
            <a:r>
              <a:rPr lang="ru-RU" sz="3200" dirty="0"/>
              <a:t>CSS свойство </a:t>
            </a:r>
            <a:r>
              <a:rPr lang="ru-RU" sz="3200" b="1" u="sng" dirty="0"/>
              <a:t>font-family</a:t>
            </a:r>
            <a:r>
              <a:rPr lang="ru-RU" sz="3200" dirty="0"/>
              <a:t>, </a:t>
            </a:r>
            <a:r>
              <a:rPr lang="ru-RU" sz="3200" dirty="0" smtClean="0"/>
              <a:t>‒ указывает  </a:t>
            </a:r>
            <a:r>
              <a:rPr lang="ru-RU" sz="3200" dirty="0"/>
              <a:t>имя задействованного </a:t>
            </a:r>
            <a:r>
              <a:rPr lang="ru-RU" sz="3200" dirty="0" smtClean="0"/>
              <a:t>шрифта, чтобы </a:t>
            </a:r>
            <a:r>
              <a:rPr lang="ru-RU" sz="3200" dirty="0"/>
              <a:t>применить </a:t>
            </a:r>
            <a:r>
              <a:rPr lang="ru-RU" sz="3200" dirty="0" smtClean="0"/>
              <a:t>его к  фрагменту </a:t>
            </a:r>
            <a:r>
              <a:rPr lang="ru-RU" sz="3200" dirty="0"/>
              <a:t>текста (по аналогии работы с локальными шрифтами</a:t>
            </a:r>
            <a:r>
              <a:rPr lang="ru-RU" sz="3200" dirty="0" smtClean="0"/>
              <a:t>).</a:t>
            </a:r>
          </a:p>
          <a:p>
            <a:r>
              <a:rPr lang="ru-RU" sz="3200" dirty="0" smtClean="0"/>
              <a:t>подключение </a:t>
            </a:r>
            <a:r>
              <a:rPr lang="ru-RU" sz="3200" dirty="0"/>
              <a:t>сторонних </a:t>
            </a:r>
            <a:r>
              <a:rPr lang="ru-RU" sz="3200" dirty="0" smtClean="0"/>
              <a:t>шрифтов с помощью службы</a:t>
            </a:r>
            <a:r>
              <a:rPr lang="ru-RU" sz="3200" dirty="0"/>
              <a:t> </a:t>
            </a:r>
            <a:r>
              <a:rPr lang="ru-RU" sz="3200" b="1" dirty="0"/>
              <a:t>Google </a:t>
            </a:r>
            <a:r>
              <a:rPr lang="ru-RU" sz="3200" b="1" dirty="0" err="1" smtClean="0"/>
              <a:t>Fonts</a:t>
            </a:r>
            <a:r>
              <a:rPr lang="ru-RU" sz="3200" b="1" dirty="0" smtClean="0"/>
              <a:t>. </a:t>
            </a:r>
            <a:r>
              <a:rPr lang="ru-RU" sz="3200" dirty="0" smtClean="0"/>
              <a:t>Один </a:t>
            </a:r>
            <a:r>
              <a:rPr lang="ru-RU" sz="3200" dirty="0"/>
              <a:t>файл шрифта </a:t>
            </a:r>
            <a:r>
              <a:rPr lang="ru-RU" sz="3200" dirty="0" smtClean="0"/>
              <a:t>содержит: одну </a:t>
            </a:r>
            <a:r>
              <a:rPr lang="ru-RU" sz="3200" dirty="0"/>
              <a:t>плотность шрифта.</a:t>
            </a:r>
          </a:p>
          <a:p>
            <a:pPr lvl="0"/>
            <a:r>
              <a:rPr lang="ru-RU" sz="3200" dirty="0"/>
              <a:t>один стиль для этого шрифта.</a:t>
            </a:r>
          </a:p>
          <a:p>
            <a:pPr lvl="0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96938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88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@font-face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произвольное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имя для шрифта, которое будет использоваться в свойстве font-family при указании стилей для конкретных элементов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src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("/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fonts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/Roboto-Regular.ttf")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format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('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truetype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')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путь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относительно корня сайта к шрифту (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) и тип шрифта (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format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). Тип шрифта выступает подсказкой для браузера (в идеале ускоряет процесс обработки)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font-style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normal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стиль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шрифта обычный -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по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умолчанию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font-weight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normal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нормальное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начертание символов -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по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умолчанию */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37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917"/>
            <a:ext cx="12192000" cy="568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@font-face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/*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для упрощения работы со шрифтами допускается использовать одинаковое имя, но при этом начертание или стиль шрифта должен отличаться. IE 8 и ниже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‒ необходимо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называть каждый шрифт по разному и более детально стилизовать каждый селектор 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src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("/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fonts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/Roboto-Bold.ttf")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format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('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truetype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')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endParaRPr lang="ru-RU" sz="3200" b="1" dirty="0" smtClean="0">
              <a:solidFill>
                <a:srgbClr val="228B22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B22222"/>
                </a:solidFill>
                <a:ea typeface="Times New Roman"/>
                <a:cs typeface="Times New Roman"/>
              </a:rPr>
              <a:t>font-style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normal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</a:t>
            </a:r>
            <a:endParaRPr lang="ru-RU" sz="3200" b="1" dirty="0" smtClean="0">
              <a:solidFill>
                <a:srgbClr val="228B22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B22222"/>
                </a:solidFill>
                <a:ea typeface="Times New Roman"/>
                <a:cs typeface="Times New Roman"/>
              </a:rPr>
              <a:t>font-weight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bold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/* определяет жирное начертание символов */ </a:t>
            </a:r>
            <a:endParaRPr lang="ru-RU" sz="3200" dirty="0">
              <a:ea typeface="Calibri"/>
              <a:cs typeface="Times New Roman"/>
            </a:endParaRPr>
          </a:p>
          <a:p>
            <a:r>
              <a:rPr lang="ru-RU" sz="3200" b="1" dirty="0">
                <a:solidFill>
                  <a:srgbClr val="FF0000"/>
                </a:solidFill>
                <a:ea typeface="Times New Roman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481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@font-face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endParaRPr lang="ru-RU" sz="3200" b="1" dirty="0" smtClean="0">
              <a:solidFill>
                <a:srgbClr val="228B22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src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("/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fonts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/Roboto-Italic.ttf")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format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('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truetype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')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endParaRPr lang="ru-RU" sz="3200" b="1" dirty="0" smtClean="0">
              <a:solidFill>
                <a:srgbClr val="228B22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B22222"/>
                </a:solidFill>
                <a:ea typeface="Times New Roman"/>
                <a:cs typeface="Times New Roman"/>
              </a:rPr>
              <a:t>font-style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italic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  /* указываем, что стиль шрифта курсивный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font-weight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normal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</a:rPr>
              <a:t>}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8428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56319"/>
            <a:ext cx="11704320" cy="4023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h2, p, b, i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/* задаем групповой селектор для элементов &lt;h2&gt;, &lt;p&gt;, &lt;b&gt;, &lt;i&gt;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",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sans-serif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;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/* устанавливаем шрифт 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, если он не будет загружен по какой-то причине, то указываем, чтобы браузер установил шрифт из семейства шрифтов без засечек (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sans-serif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) 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902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5518"/>
            <a:ext cx="12192000" cy="356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</a:t>
            </a:r>
            <a:r>
              <a:rPr lang="ru-RU" sz="2800" b="1" dirty="0" err="1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body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	&lt;h2&gt;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Немного о пандах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&lt;/h2&gt;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	&lt;p&gt;&lt;b&gt;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Большая панда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&lt;/b&gt;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(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&lt;i&gt;</a:t>
            </a:r>
            <a:r>
              <a:rPr lang="ru-RU" sz="2800" dirty="0" err="1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Ailuropoda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2800" dirty="0" err="1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melanoleuca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&lt;/i&gt;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) — бамбуковый медведь, одно из редчайших вымирающих животных, занесённых в международную Красную книгу; единственный современный представитель рода 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&lt;b&gt;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большие панды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&lt;/b&gt;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(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&lt;i&gt;</a:t>
            </a:r>
            <a:r>
              <a:rPr lang="ru-RU" sz="2800" dirty="0" err="1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Ailuropoda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&lt;/i&gt;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).</a:t>
            </a:r>
            <a:r>
              <a:rPr lang="ru-RU" sz="2800" b="1" dirty="0">
                <a:solidFill>
                  <a:srgbClr val="4169E1"/>
                </a:solidFill>
                <a:latin typeface="Arial"/>
                <a:ea typeface="Times New Roman"/>
                <a:cs typeface="Times New Roman"/>
              </a:rPr>
              <a:t>&lt;/p&gt;</a:t>
            </a:r>
            <a:endParaRPr lang="ru-RU" sz="2800" dirty="0">
              <a:ea typeface="Calibri"/>
              <a:cs typeface="Times New Roman"/>
            </a:endParaRPr>
          </a:p>
        </p:txBody>
      </p:sp>
      <p:pic>
        <p:nvPicPr>
          <p:cNvPr id="4" name="Рисунок 3" descr="Рис.38 Пример использования правила @font-face..">
            <a:hlinkClick r:id="rId2" tgtFrame="&quot;_blank&quot;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53" r="3442" b="39173"/>
          <a:stretch/>
        </p:blipFill>
        <p:spPr bwMode="auto">
          <a:xfrm>
            <a:off x="833120" y="3556001"/>
            <a:ext cx="10769599" cy="282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018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порядок, в котором вы указываете варианты шрифтов, </a:t>
            </a:r>
            <a:r>
              <a:rPr lang="ru-RU" sz="3200" b="1" dirty="0" smtClean="0">
                <a:solidFill>
                  <a:srgbClr val="000000"/>
                </a:solidFill>
                <a:ea typeface="Times New Roman"/>
                <a:cs typeface="Times New Roman"/>
              </a:rPr>
              <a:t>важен, 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так как Ваш браузер выбирает первый поддерживаемый шрифт. К примеру, если Вы хотите использовать шрифты на сайте WOFF2, </a:t>
            </a:r>
            <a:r>
              <a:rPr lang="ru-RU" sz="3200" b="1" dirty="0" smtClean="0">
                <a:solidFill>
                  <a:srgbClr val="000000"/>
                </a:solidFill>
                <a:ea typeface="Times New Roman"/>
                <a:cs typeface="Times New Roman"/>
              </a:rPr>
              <a:t>поддерживаемые 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не всеми браузерами, то необходимо их указать до WOFF</a:t>
            </a:r>
            <a:r>
              <a:rPr lang="ru-RU" sz="3200" b="1" dirty="0" smtClean="0">
                <a:solidFill>
                  <a:srgbClr val="000000"/>
                </a:solidFill>
                <a:ea typeface="Times New Roman"/>
                <a:cs typeface="Times New Roman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ru-RU" sz="3200" b="1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dirty="0" smtClean="0"/>
              <a:t>служба</a:t>
            </a:r>
            <a:r>
              <a:rPr lang="ru-RU" sz="3200" dirty="0"/>
              <a:t> </a:t>
            </a:r>
            <a:r>
              <a:rPr lang="ru-RU" sz="3200" b="1" dirty="0"/>
              <a:t>Google </a:t>
            </a:r>
            <a:r>
              <a:rPr lang="ru-RU" sz="3200" b="1" dirty="0" err="1"/>
              <a:t>Fonts</a:t>
            </a:r>
            <a:r>
              <a:rPr lang="ru-RU" sz="3200" dirty="0"/>
              <a:t> </a:t>
            </a:r>
            <a:r>
              <a:rPr lang="ru-RU" sz="3200" dirty="0" smtClean="0"/>
              <a:t>‒  варианты </a:t>
            </a:r>
            <a:r>
              <a:rPr lang="ru-RU" sz="3200" dirty="0"/>
              <a:t>подключения шрифтов к Вашим страницам без загрузки их на Ваш </a:t>
            </a:r>
            <a:r>
              <a:rPr lang="ru-RU" sz="3200" dirty="0" smtClean="0"/>
              <a:t>сервер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ru-RU" sz="3200" b="1" dirty="0" err="1"/>
              <a:t>Standart</a:t>
            </a:r>
            <a:r>
              <a:rPr lang="ru-RU" sz="3200" dirty="0"/>
              <a:t> и </a:t>
            </a:r>
            <a:r>
              <a:rPr lang="ru-RU" sz="3200" b="1" dirty="0"/>
              <a:t>@import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199359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75037"/>
            <a:ext cx="1182624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ru-RU" sz="3200" b="1" dirty="0">
                <a:solidFill>
                  <a:prstClr val="black"/>
                </a:solidFill>
              </a:rPr>
              <a:t>вариант подключения (</a:t>
            </a:r>
            <a:r>
              <a:rPr lang="ru-RU" sz="3200" b="1" dirty="0" err="1">
                <a:solidFill>
                  <a:prstClr val="black"/>
                </a:solidFill>
              </a:rPr>
              <a:t>Standard</a:t>
            </a:r>
            <a:r>
              <a:rPr lang="ru-RU" sz="3200" b="1" dirty="0">
                <a:solidFill>
                  <a:prstClr val="black"/>
                </a:solidFill>
              </a:rPr>
              <a:t>).</a:t>
            </a:r>
            <a:r>
              <a:rPr lang="ru-RU" sz="3200" dirty="0">
                <a:solidFill>
                  <a:prstClr val="black"/>
                </a:solidFill>
              </a:rPr>
              <a:t> Создание ссылки на внешнюю таблицу стилей, используя HTML тег </a:t>
            </a:r>
            <a:r>
              <a:rPr lang="ru-RU" sz="3200" b="1" u="sng" dirty="0">
                <a:solidFill>
                  <a:prstClr val="black"/>
                </a:solidFill>
              </a:rPr>
              <a:t>&lt;link&gt;</a:t>
            </a:r>
            <a:r>
              <a:rPr lang="ru-RU" sz="3200" dirty="0">
                <a:solidFill>
                  <a:prstClr val="black"/>
                </a:solidFill>
              </a:rPr>
              <a:t>. В адресе ссылки указывается веб-сервер Google и информация, которая необходима Google для загрузки необходимых шрифтов (как правило, это формат </a:t>
            </a:r>
            <a:r>
              <a:rPr lang="ru-RU" sz="3200" i="1" dirty="0">
                <a:solidFill>
                  <a:prstClr val="black"/>
                </a:solidFill>
              </a:rPr>
              <a:t>woff2</a:t>
            </a:r>
            <a:r>
              <a:rPr lang="ru-RU" sz="3200" dirty="0">
                <a:solidFill>
                  <a:prstClr val="black"/>
                </a:solidFill>
              </a:rPr>
              <a:t> для современных браузеров, определение типа поддерживаемого шрифта происходит на стороне сервера Google в зависимости от Вашего браузера</a:t>
            </a:r>
            <a:r>
              <a:rPr lang="ru-RU" sz="3200" dirty="0" smtClean="0">
                <a:solidFill>
                  <a:prstClr val="black"/>
                </a:solidFill>
              </a:rPr>
              <a:t>)</a:t>
            </a:r>
          </a:p>
          <a:p>
            <a:pPr lvl="0">
              <a:lnSpc>
                <a:spcPct val="115000"/>
              </a:lnSpc>
            </a:pPr>
            <a:endParaRPr lang="ru-RU" sz="3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lvl="0">
              <a:lnSpc>
                <a:spcPct val="115000"/>
              </a:lnSpc>
            </a:pPr>
            <a:r>
              <a:rPr lang="ru-RU" sz="3200" dirty="0"/>
              <a:t>ссылку указать на каждой странице, где необходимо использовать данные шрифты</a:t>
            </a:r>
            <a:endParaRPr lang="ru-RU" sz="32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4211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2501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пример подключения, выбранных </a:t>
            </a:r>
            <a:r>
              <a:rPr lang="ru-RU" sz="48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шрифтов</a:t>
            </a:r>
            <a:endParaRPr lang="ru-RU" sz="4800" spc="-5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993718"/>
            <a:ext cx="121920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4169E1"/>
                </a:solidFill>
                <a:ea typeface="Times New Roman"/>
                <a:cs typeface="Times New Roman"/>
              </a:rPr>
              <a:t>&lt;link </a:t>
            </a:r>
            <a:r>
              <a:rPr lang="en-US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href</a:t>
            </a:r>
            <a:r>
              <a:rPr lang="en-US" sz="3200" b="1" dirty="0">
                <a:solidFill>
                  <a:srgbClr val="B22222"/>
                </a:solidFill>
                <a:ea typeface="Times New Roman"/>
                <a:cs typeface="Times New Roman"/>
              </a:rPr>
              <a:t> =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'https://fonts.googleapis.com/</a:t>
            </a:r>
            <a:r>
              <a:rPr lang="en-US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css?family</a:t>
            </a:r>
            <a:r>
              <a:rPr lang="en-US" sz="3200" b="1" dirty="0" smtClean="0">
                <a:solidFill>
                  <a:srgbClr val="4B0082"/>
                </a:solidFill>
                <a:ea typeface="Times New Roman"/>
                <a:cs typeface="Times New Roman"/>
              </a:rPr>
              <a:t>=</a:t>
            </a:r>
            <a:r>
              <a:rPr lang="ru-RU" sz="3200" b="1" dirty="0" smtClean="0">
                <a:solidFill>
                  <a:srgbClr val="4B0082"/>
                </a:solidFill>
                <a:ea typeface="Times New Roman"/>
                <a:cs typeface="Times New Roman"/>
              </a:rPr>
              <a:t> </a:t>
            </a:r>
            <a:r>
              <a:rPr lang="en-US" sz="3200" b="1" dirty="0" smtClean="0">
                <a:solidFill>
                  <a:srgbClr val="4B0082"/>
                </a:solidFill>
                <a:ea typeface="Times New Roman"/>
                <a:cs typeface="Times New Roman"/>
              </a:rPr>
              <a:t>Roboto:400,700,400italic&amp;subset=</a:t>
            </a:r>
            <a:r>
              <a:rPr lang="en-US" sz="3200" b="1" dirty="0" err="1" smtClean="0">
                <a:solidFill>
                  <a:srgbClr val="4B0082"/>
                </a:solidFill>
                <a:ea typeface="Times New Roman"/>
                <a:cs typeface="Times New Roman"/>
              </a:rPr>
              <a:t>latin,cyrillic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'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rel</a:t>
            </a:r>
            <a:r>
              <a:rPr lang="en-US" sz="3200" b="1" dirty="0">
                <a:solidFill>
                  <a:srgbClr val="B22222"/>
                </a:solidFill>
                <a:ea typeface="Times New Roman"/>
                <a:cs typeface="Times New Roman"/>
              </a:rPr>
              <a:t> =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'stylesheet'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3200" b="1" dirty="0">
                <a:solidFill>
                  <a:srgbClr val="B22222"/>
                </a:solidFill>
                <a:ea typeface="Times New Roman"/>
                <a:cs typeface="Times New Roman"/>
              </a:rPr>
              <a:t>type =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'text/</a:t>
            </a:r>
            <a:r>
              <a:rPr lang="en-US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css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'</a:t>
            </a:r>
            <a:r>
              <a:rPr lang="en-US" sz="3200" b="1" dirty="0">
                <a:solidFill>
                  <a:srgbClr val="4169E1"/>
                </a:solidFill>
                <a:ea typeface="Times New Roman"/>
                <a:cs typeface="Times New Roman"/>
              </a:rPr>
              <a:t>&gt;</a:t>
            </a:r>
            <a:r>
              <a:rPr lang="en-US" sz="3200" b="1" dirty="0">
                <a:solidFill>
                  <a:srgbClr val="228B22"/>
                </a:solidFill>
                <a:ea typeface="Times New Roman"/>
                <a:cs typeface="Times New Roman"/>
              </a:rPr>
              <a:t> /*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подключаем внешнюю таблицу стилей для загрузки необходимых шрифтов, в HTML 5 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type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='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text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/</a:t>
            </a:r>
            <a:r>
              <a:rPr lang="ru-RU" sz="3200" b="1" dirty="0" err="1">
                <a:solidFill>
                  <a:srgbClr val="228B22"/>
                </a:solidFill>
                <a:ea typeface="Times New Roman"/>
                <a:cs typeface="Times New Roman"/>
              </a:rPr>
              <a:t>css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Times New Roman"/>
              </a:rPr>
              <a:t>' допускается не указывать */</a:t>
            </a:r>
            <a:endParaRPr lang="ru-RU" sz="32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4169E1"/>
                </a:solidFill>
                <a:ea typeface="Times New Roman"/>
                <a:cs typeface="Times New Roman"/>
              </a:rPr>
              <a:t> </a:t>
            </a:r>
            <a:endParaRPr lang="ru-RU" sz="32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h2, p, b, i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endParaRPr lang="ru-RU" sz="32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",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sans-serif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;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Times New Roman"/>
              </a:rPr>
              <a:t> </a:t>
            </a:r>
            <a:endParaRPr lang="ru-RU" sz="32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202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4160" y="25529"/>
            <a:ext cx="1022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prstClr val="black"/>
                </a:solidFill>
              </a:rPr>
              <a:t>вариант подключения </a:t>
            </a:r>
            <a:r>
              <a:rPr lang="ru-RU" sz="3200" b="1" dirty="0" smtClean="0">
                <a:solidFill>
                  <a:prstClr val="black"/>
                </a:solidFill>
              </a:rPr>
              <a:t>(</a:t>
            </a:r>
            <a:r>
              <a:rPr lang="ru-RU" sz="3200" b="1" u="sng" dirty="0"/>
              <a:t>@</a:t>
            </a:r>
            <a:r>
              <a:rPr lang="ru-RU" sz="3200" b="1" u="sng" dirty="0" smtClean="0"/>
              <a:t>import</a:t>
            </a:r>
            <a:r>
              <a:rPr lang="ru-RU" sz="3200" b="1" dirty="0" smtClean="0">
                <a:solidFill>
                  <a:prstClr val="black"/>
                </a:solidFill>
              </a:rPr>
              <a:t>).</a:t>
            </a:r>
            <a:r>
              <a:rPr lang="ru-RU" sz="3200" dirty="0">
                <a:solidFill>
                  <a:prstClr val="black"/>
                </a:solidFill>
              </a:rPr>
              <a:t> 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1255903"/>
            <a:ext cx="11846560" cy="405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3200" dirty="0"/>
              <a:t>правило </a:t>
            </a:r>
            <a:r>
              <a:rPr lang="ru-RU" sz="3200" b="1" u="sng" dirty="0"/>
              <a:t>@</a:t>
            </a:r>
            <a:r>
              <a:rPr lang="ru-RU" sz="3200" b="1" u="sng" dirty="0" smtClean="0"/>
              <a:t>import</a:t>
            </a:r>
            <a:r>
              <a:rPr lang="ru-RU" sz="3200" b="1" dirty="0" smtClean="0"/>
              <a:t> 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допускается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использовать в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начале</a:t>
            </a:r>
            <a:r>
              <a:rPr lang="ru-RU" sz="3200" dirty="0">
                <a:solidFill>
                  <a:srgbClr val="FF0000"/>
                </a:solidFill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своей таблицы стилей, которая у Вас уже должна быть подключена к каждой странице.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Чтобы выполнить привязку к внешнему файлу CSS, нужно использовать </a:t>
            </a:r>
            <a:r>
              <a:rPr lang="ru-RU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url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 и заключить путь к CSS файлу в круглые скобки. Допустимо заключить содержимое в скобках в кавычки: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@import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("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path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/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to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/file.css")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298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62560" y="313301"/>
            <a:ext cx="12029440" cy="405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@import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3200" b="1" dirty="0" err="1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url</a:t>
            </a:r>
            <a:r>
              <a:rPr lang="ru-RU" sz="32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(https://fonts.googleapis.com/css?family=Roboto:400,700,400italic&amp;subset=latin,cyrillic)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; </a:t>
            </a:r>
            <a:r>
              <a:rPr lang="ru-RU" sz="3200" b="1" dirty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/* импортируем внешнюю таблицу стилей */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h2, p, b, i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{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 </a:t>
            </a:r>
            <a:r>
              <a:rPr lang="ru-RU" sz="3200" b="1" dirty="0" smtClean="0">
                <a:solidFill>
                  <a:srgbClr val="228B22"/>
                </a:solidFill>
                <a:latin typeface="Arial"/>
                <a:ea typeface="Times New Roman"/>
                <a:cs typeface="Times New Roman"/>
              </a:rPr>
              <a:t> 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latin typeface="Arial"/>
                <a:ea typeface="Times New Roman"/>
                <a:cs typeface="Times New Roman"/>
              </a:rPr>
              <a:t>font-family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: </a:t>
            </a:r>
            <a:r>
              <a:rPr lang="ru-RU" sz="32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"</a:t>
            </a:r>
            <a:r>
              <a:rPr lang="ru-RU" sz="3200" b="1" dirty="0" err="1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Roboto</a:t>
            </a:r>
            <a:r>
              <a:rPr lang="ru-RU" sz="32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", </a:t>
            </a:r>
            <a:r>
              <a:rPr lang="ru-RU" sz="3200" b="1" dirty="0" err="1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sans-serif</a:t>
            </a:r>
            <a:r>
              <a:rPr lang="ru-RU" sz="3200" b="1" dirty="0">
                <a:solidFill>
                  <a:srgbClr val="4B0082"/>
                </a:solidFill>
                <a:latin typeface="Arial"/>
                <a:ea typeface="Times New Roman"/>
                <a:cs typeface="Times New Roman"/>
              </a:rPr>
              <a:t>;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Times New Roman"/>
                <a:cs typeface="Times New Roman"/>
              </a:rPr>
              <a:t>  </a:t>
            </a:r>
            <a:endParaRPr lang="ru-RU" sz="3200" b="1" dirty="0" smtClean="0">
              <a:solidFill>
                <a:srgbClr val="228B22"/>
              </a:solidFill>
              <a:latin typeface="Arial"/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FF0000"/>
                </a:solidFill>
                <a:latin typeface="Arial"/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897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3840" y="264160"/>
            <a:ext cx="3413125" cy="884238"/>
          </a:xfrm>
        </p:spPr>
        <p:txBody>
          <a:bodyPr/>
          <a:lstStyle/>
          <a:p>
            <a:r>
              <a:rPr lang="ru-RU" b="1" dirty="0" smtClean="0"/>
              <a:t>Списки</a:t>
            </a:r>
            <a:endParaRPr lang="ru-R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47040" y="1216343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Для настройки внешнего вида списков используются </a:t>
            </a:r>
            <a:r>
              <a:rPr lang="en-US" sz="3200" dirty="0" smtClean="0"/>
              <a:t>CSS-</a:t>
            </a:r>
            <a:r>
              <a:rPr lang="ru-RU" sz="3200" dirty="0" smtClean="0"/>
              <a:t>свойства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list-style-type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list-style-image</a:t>
            </a:r>
            <a:r>
              <a:rPr lang="ru-RU" sz="3200" dirty="0" smtClean="0"/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list-style-position</a:t>
            </a:r>
            <a:r>
              <a:rPr lang="ru-RU" sz="3200" dirty="0" smtClean="0"/>
              <a:t> и свойство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</a:t>
            </a:r>
            <a:r>
              <a:rPr lang="ru-RU" sz="3200" dirty="0" smtClean="0"/>
              <a:t> – сокращённая запись трёх упомянутых свойств.</a:t>
            </a:r>
          </a:p>
          <a:p>
            <a:r>
              <a:rPr lang="ru-RU" sz="3200" dirty="0" smtClean="0"/>
              <a:t>Все свойства являются </a:t>
            </a:r>
            <a:r>
              <a:rPr lang="ru-RU" sz="3200" b="1" dirty="0" smtClean="0"/>
              <a:t>наследуемыми</a:t>
            </a:r>
            <a:r>
              <a:rPr lang="ru-RU" sz="3200" dirty="0" smtClean="0"/>
              <a:t>. Они применимы к </a:t>
            </a:r>
            <a:r>
              <a:rPr lang="ru-RU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ru-RU" sz="3200" dirty="0" smtClean="0"/>
              <a:t>, </a:t>
            </a:r>
            <a:r>
              <a:rPr lang="ru-RU" sz="2800" dirty="0" err="1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</a:t>
            </a:r>
            <a:r>
              <a:rPr lang="ru-RU" sz="3200" dirty="0" smtClean="0"/>
              <a:t>, </a:t>
            </a:r>
            <a:r>
              <a:rPr lang="ru-RU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ru-RU" sz="3200" dirty="0" smtClean="0"/>
              <a:t> </a:t>
            </a:r>
            <a:r>
              <a:rPr lang="en-US" sz="3200" dirty="0" smtClean="0"/>
              <a:t> </a:t>
            </a:r>
            <a:endParaRPr lang="ru-RU" sz="3200" dirty="0" smtClean="0"/>
          </a:p>
          <a:p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dl</a:t>
            </a:r>
            <a:r>
              <a:rPr lang="ru-RU" sz="3200" dirty="0" smtClean="0"/>
              <a:t>, 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dt</a:t>
            </a:r>
            <a:r>
              <a:rPr lang="ru-RU" sz="3200" dirty="0" smtClean="0"/>
              <a:t>, </a:t>
            </a:r>
            <a:r>
              <a:rPr lang="en-US" sz="28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dd</a:t>
            </a:r>
            <a:endParaRPr lang="en-US" sz="2800" dirty="0">
              <a:solidFill>
                <a:srgbClr val="8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3200" dirty="0" smtClean="0"/>
              <a:t>и к элементам, у </a:t>
            </a:r>
            <a:r>
              <a:rPr lang="ru-RU" sz="3200" dirty="0"/>
              <a:t>которых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display</a:t>
            </a:r>
            <a:r>
              <a:rPr lang="ru-RU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list-item</a:t>
            </a:r>
            <a:r>
              <a:rPr lang="en-US" sz="3200" dirty="0" smtClean="0"/>
              <a:t>;  </a:t>
            </a:r>
            <a:r>
              <a:rPr lang="ru-RU" sz="3200" dirty="0" smtClean="0"/>
              <a:t> </a:t>
            </a:r>
          </a:p>
          <a:p>
            <a:r>
              <a:rPr lang="ru-RU" sz="3200" dirty="0" smtClean="0"/>
              <a:t>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inside</a:t>
            </a:r>
            <a:r>
              <a:rPr lang="en-US" sz="3200" dirty="0"/>
              <a:t> </a:t>
            </a:r>
            <a:r>
              <a:rPr lang="ru-RU" sz="3200" dirty="0" smtClean="0"/>
              <a:t> или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margin-left</a:t>
            </a:r>
            <a:r>
              <a:rPr lang="ru-RU" sz="3200" dirty="0" smtClean="0"/>
              <a:t>)</a:t>
            </a:r>
            <a:r>
              <a:rPr lang="en-US" sz="3200" dirty="0" smtClean="0"/>
              <a:t>  </a:t>
            </a:r>
          </a:p>
          <a:p>
            <a:endParaRPr lang="en-US" sz="3200" dirty="0"/>
          </a:p>
          <a:p>
            <a:endParaRPr lang="en-US" sz="3200" dirty="0" smtClean="0"/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131413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81280" y="121920"/>
            <a:ext cx="119684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свойство </a:t>
            </a:r>
            <a:r>
              <a:rPr lang="ru-RU" sz="3200" b="1" dirty="0" err="1" smtClean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list-style-type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‒ тип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маркера 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элемента списка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6482417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err="1">
                <a:solidFill>
                  <a:srgbClr val="FFFF00"/>
                </a:solidFill>
                <a:latin typeface="Roboto"/>
              </a:rPr>
              <a:t>hebrew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, </a:t>
            </a:r>
            <a:r>
              <a:rPr lang="en-US" b="1" i="1" dirty="0" err="1">
                <a:solidFill>
                  <a:srgbClr val="FFFF00"/>
                </a:solidFill>
                <a:latin typeface="Roboto"/>
              </a:rPr>
              <a:t>cjk</a:t>
            </a:r>
            <a:r>
              <a:rPr lang="en-US" b="1" i="1" dirty="0">
                <a:solidFill>
                  <a:srgbClr val="FFFF00"/>
                </a:solidFill>
                <a:latin typeface="Roboto"/>
              </a:rPr>
              <a:t>-ideographic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, </a:t>
            </a:r>
            <a:r>
              <a:rPr lang="en-US" b="1" i="1" dirty="0">
                <a:solidFill>
                  <a:srgbClr val="FFFF00"/>
                </a:solidFill>
                <a:latin typeface="Roboto"/>
              </a:rPr>
              <a:t>hiragana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, </a:t>
            </a:r>
            <a:r>
              <a:rPr lang="en-US" b="1" i="1" dirty="0">
                <a:solidFill>
                  <a:srgbClr val="FFFF00"/>
                </a:solidFill>
                <a:latin typeface="Roboto"/>
              </a:rPr>
              <a:t>hiragana-</a:t>
            </a:r>
            <a:r>
              <a:rPr lang="en-US" b="1" i="1" dirty="0" err="1">
                <a:solidFill>
                  <a:srgbClr val="FFFF00"/>
                </a:solidFill>
                <a:latin typeface="Roboto"/>
              </a:rPr>
              <a:t>iroha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, </a:t>
            </a:r>
            <a:r>
              <a:rPr lang="en-US" b="1" i="1" dirty="0">
                <a:solidFill>
                  <a:srgbClr val="FFFF00"/>
                </a:solidFill>
                <a:latin typeface="Roboto"/>
              </a:rPr>
              <a:t>katakana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, </a:t>
            </a:r>
            <a:r>
              <a:rPr lang="en-US" b="1" i="1" dirty="0">
                <a:solidFill>
                  <a:srgbClr val="FFFF00"/>
                </a:solidFill>
                <a:latin typeface="Roboto"/>
              </a:rPr>
              <a:t>katakana-</a:t>
            </a:r>
            <a:r>
              <a:rPr lang="en-US" b="1" i="1" dirty="0" err="1">
                <a:solidFill>
                  <a:srgbClr val="FFFF00"/>
                </a:solidFill>
                <a:latin typeface="Roboto"/>
              </a:rPr>
              <a:t>iroha</a:t>
            </a:r>
            <a:r>
              <a:rPr lang="en-US" i="1" dirty="0">
                <a:solidFill>
                  <a:srgbClr val="FFFF00"/>
                </a:solidFill>
                <a:latin typeface="Roboto"/>
              </a:rPr>
              <a:t> </a:t>
            </a:r>
            <a:r>
              <a:rPr lang="ru-RU" i="1" dirty="0">
                <a:solidFill>
                  <a:srgbClr val="FFFF00"/>
                </a:solidFill>
                <a:latin typeface="Roboto"/>
              </a:rPr>
              <a:t>не поддерживаются </a:t>
            </a:r>
            <a:r>
              <a:rPr lang="en-US" i="1" dirty="0" smtClean="0">
                <a:solidFill>
                  <a:srgbClr val="FFFF00"/>
                </a:solidFill>
                <a:latin typeface="Roboto"/>
              </a:rPr>
              <a:t>IE</a:t>
            </a:r>
            <a:endParaRPr lang="ru-RU" dirty="0">
              <a:solidFill>
                <a:srgbClr val="FFFF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73" r="4784" b="50222"/>
          <a:stretch/>
        </p:blipFill>
        <p:spPr bwMode="auto">
          <a:xfrm>
            <a:off x="0" y="689426"/>
            <a:ext cx="10708640" cy="566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252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78" r="4784" b="3632"/>
          <a:stretch/>
        </p:blipFill>
        <p:spPr bwMode="auto">
          <a:xfrm>
            <a:off x="0" y="43541"/>
            <a:ext cx="10871200" cy="658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5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/>
          <p:nvPr/>
        </p:nvPicPr>
        <p:blipFill rotWithShape="1">
          <a:blip r:embed="rId2"/>
          <a:srcRect l="2800" t="10492" r="3826" b="42561"/>
          <a:stretch/>
        </p:blipFill>
        <p:spPr bwMode="auto">
          <a:xfrm>
            <a:off x="243840" y="72570"/>
            <a:ext cx="9875520" cy="6502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8489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/>
          <p:nvPr/>
        </p:nvPicPr>
        <p:blipFill rotWithShape="1">
          <a:blip r:embed="rId2"/>
          <a:srcRect l="2800" t="57439" r="3826" b="5700"/>
          <a:stretch/>
        </p:blipFill>
        <p:spPr bwMode="auto">
          <a:xfrm>
            <a:off x="609600" y="508000"/>
            <a:ext cx="11318240" cy="5466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8825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 rotWithShape="1">
          <a:blip r:embed="rId2"/>
          <a:srcRect l="2062" t="36248" r="3826" b="29486"/>
          <a:stretch/>
        </p:blipFill>
        <p:spPr bwMode="auto">
          <a:xfrm>
            <a:off x="772160" y="629920"/>
            <a:ext cx="10200640" cy="4836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2916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528320" y="489338"/>
            <a:ext cx="11074400" cy="5155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</a:t>
            </a:r>
            <a:r>
              <a:rPr lang="ru-RU" sz="3200" b="1" dirty="0" err="1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test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list-style-type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lower-roman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тип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маркера - римские числа в нижнем регистре  */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color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orange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текст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цвета соответствует цвету маркера */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.test2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{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list-style-type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circle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3200" b="1" dirty="0" smtClean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форма </a:t>
            </a:r>
            <a:r>
              <a:rPr lang="ru-RU" sz="3200" b="1" dirty="0">
                <a:solidFill>
                  <a:srgbClr val="228B22"/>
                </a:solidFill>
                <a:ea typeface="Times New Roman"/>
                <a:cs typeface="Consolas" panose="020B0609020204030204" pitchFamily="49" charset="0"/>
              </a:rPr>
              <a:t>круга */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ea typeface="Times New Roman"/>
                <a:cs typeface="Consolas" panose="020B0609020204030204" pitchFamily="49" charset="0"/>
              </a:rPr>
              <a:t>color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Consolas" panose="020B0609020204030204" pitchFamily="49" charset="0"/>
              </a:rPr>
              <a:t>IndianRed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Consolas" panose="020B0609020204030204" pitchFamily="49" charset="0"/>
              </a:rPr>
              <a:t>;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Consolas" panose="020B0609020204030204" pitchFamily="49" charset="0"/>
              </a:rPr>
              <a:t>}</a:t>
            </a:r>
            <a:endParaRPr lang="ru-RU" sz="3200" dirty="0">
              <a:ea typeface="Calibri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2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12192000" cy="643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4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типа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маркера по умолчанию (</a:t>
            </a:r>
            <a:r>
              <a:rPr lang="ru-RU" sz="2400" b="1" dirty="0" err="1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disc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).  */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 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4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class</a:t>
            </a:r>
            <a:r>
              <a:rPr lang="ru-RU" sz="24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= </a:t>
            </a:r>
            <a:r>
              <a:rPr lang="ru-RU" sz="24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</a:t>
            </a:r>
            <a:r>
              <a:rPr lang="ru-RU" sz="24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test</a:t>
            </a:r>
            <a:r>
              <a:rPr lang="ru-RU" sz="24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4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400" b="1" dirty="0" err="1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lower-roman</a:t>
            </a:r>
            <a:r>
              <a:rPr lang="ru-RU" sz="24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*/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4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class</a:t>
            </a:r>
            <a:r>
              <a:rPr lang="ru-RU" sz="24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= </a:t>
            </a:r>
            <a:r>
              <a:rPr lang="ru-RU" sz="24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"test2"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4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400" b="1" dirty="0" err="1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circle</a:t>
            </a:r>
            <a:r>
              <a:rPr lang="ru-RU" sz="24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 </a:t>
            </a:r>
            <a:r>
              <a:rPr lang="ru-RU" sz="24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*/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	&lt;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Элемент списка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		&lt;/</a:t>
            </a:r>
            <a:r>
              <a:rPr lang="ru-RU" sz="2400" b="1" dirty="0" err="1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ul</a:t>
            </a:r>
            <a:r>
              <a:rPr lang="ru-RU" sz="2400" b="1" dirty="0">
                <a:solidFill>
                  <a:srgbClr val="4169E1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&gt;</a:t>
            </a:r>
            <a:endParaRPr lang="ru-RU" sz="24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10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7" t="38246" r="63998" b="35878"/>
          <a:stretch/>
        </p:blipFill>
        <p:spPr bwMode="auto">
          <a:xfrm>
            <a:off x="2844799" y="1"/>
            <a:ext cx="5052455" cy="64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033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5121" y="1535713"/>
            <a:ext cx="4795520" cy="4622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li:nth-child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(</a:t>
            </a: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even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 smtClean="0">
                <a:solidFill>
                  <a:srgbClr val="B22222"/>
                </a:solidFill>
                <a:ea typeface="Times New Roman"/>
                <a:cs typeface="Times New Roman"/>
              </a:rPr>
              <a:t>list-style-type</a:t>
            </a:r>
            <a:r>
              <a:rPr lang="en-US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none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red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li:nth-child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(</a:t>
            </a: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odd</a:t>
            </a: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)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endParaRPr lang="ru-RU" sz="3200" b="1" dirty="0" smtClean="0">
              <a:solidFill>
                <a:srgbClr val="228B22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 smtClean="0">
                <a:solidFill>
                  <a:srgbClr val="B22222"/>
                </a:solidFill>
                <a:ea typeface="Times New Roman"/>
                <a:cs typeface="Times New Roman"/>
              </a:rPr>
              <a:t>list-style-type</a:t>
            </a:r>
            <a:r>
              <a:rPr lang="en-US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square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B22222"/>
                </a:solidFill>
                <a:ea typeface="Times New Roman"/>
                <a:cs typeface="Times New Roman"/>
              </a:rPr>
              <a:t>color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en-US" sz="3200" b="1" dirty="0">
                <a:solidFill>
                  <a:srgbClr val="4B0082"/>
                </a:solidFill>
                <a:ea typeface="Times New Roman"/>
                <a:cs typeface="Times New Roman"/>
              </a:rPr>
              <a:t>green</a:t>
            </a:r>
            <a:r>
              <a:rPr lang="en-US" sz="3200" dirty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  <p:pic>
        <p:nvPicPr>
          <p:cNvPr id="4" name="Рисунок 3" descr="Рис. 70 Пример чередования стилей свойства list-style-type.">
            <a:hlinkClick r:id="rId2" tgtFrame="&quot;_blank&quot;"/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" t="22678" r="74277" b="33867"/>
          <a:stretch/>
        </p:blipFill>
        <p:spPr bwMode="auto">
          <a:xfrm>
            <a:off x="5120641" y="0"/>
            <a:ext cx="6075680" cy="630384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83825" y="297934"/>
            <a:ext cx="442281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Можно изменить </a:t>
            </a:r>
            <a:r>
              <a:rPr lang="ru-RU" sz="2800" dirty="0"/>
              <a:t>отдельно </a:t>
            </a:r>
            <a:endParaRPr lang="en-US" sz="2800" dirty="0" smtClean="0"/>
          </a:p>
          <a:p>
            <a:r>
              <a:rPr lang="ru-RU" sz="2800" dirty="0" smtClean="0"/>
              <a:t>взятый элемент </a:t>
            </a:r>
            <a:r>
              <a:rPr lang="ru-RU" sz="2800" dirty="0"/>
              <a:t>списка</a:t>
            </a:r>
          </a:p>
        </p:txBody>
      </p:sp>
    </p:spTree>
    <p:extLst>
      <p:ext uri="{BB962C8B-B14F-4D97-AF65-F5344CB8AC3E}">
        <p14:creationId xmlns:p14="http://schemas.microsoft.com/office/powerpoint/2010/main" val="133874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1513"/>
            <a:ext cx="110134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 </a:t>
            </a:r>
            <a:r>
              <a:rPr lang="ru-RU" sz="3200" b="1" u="sng" dirty="0" err="1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list-style-position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‒ расположение маркера или цифры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относительно элемента списка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67360" y="1647050"/>
            <a:ext cx="111556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rgbClr val="C00000"/>
                </a:solidFill>
              </a:rPr>
              <a:t>outside</a:t>
            </a:r>
            <a:r>
              <a:rPr lang="ru-RU" sz="3200" dirty="0"/>
              <a:t>	</a:t>
            </a:r>
            <a:r>
              <a:rPr lang="ru-RU" sz="3200" dirty="0" smtClean="0"/>
              <a:t>маркер </a:t>
            </a:r>
            <a:r>
              <a:rPr lang="ru-RU" sz="3200" dirty="0"/>
              <a:t>/ цифра </a:t>
            </a:r>
            <a:r>
              <a:rPr lang="ru-RU" sz="3200" dirty="0" smtClean="0"/>
              <a:t>слева </a:t>
            </a:r>
            <a:r>
              <a:rPr lang="ru-RU" sz="3200" dirty="0"/>
              <a:t>от текста за границей элемента списка. </a:t>
            </a:r>
            <a:r>
              <a:rPr lang="ru-RU" sz="3200" b="1" dirty="0" smtClean="0"/>
              <a:t>по </a:t>
            </a:r>
            <a:r>
              <a:rPr lang="ru-RU" sz="3200" b="1" dirty="0"/>
              <a:t>умолчанию</a:t>
            </a:r>
            <a:r>
              <a:rPr lang="ru-RU" sz="3200" dirty="0"/>
              <a:t>.</a:t>
            </a:r>
          </a:p>
          <a:p>
            <a:r>
              <a:rPr lang="ru-RU" sz="3200" b="1" dirty="0" err="1">
                <a:solidFill>
                  <a:srgbClr val="C00000"/>
                </a:solidFill>
              </a:rPr>
              <a:t>inside</a:t>
            </a:r>
            <a:r>
              <a:rPr lang="ru-RU" sz="3200" dirty="0"/>
              <a:t>	</a:t>
            </a:r>
            <a:r>
              <a:rPr lang="ru-RU" sz="3200" dirty="0" smtClean="0"/>
              <a:t>маркер </a:t>
            </a:r>
            <a:r>
              <a:rPr lang="ru-RU" sz="3200" dirty="0"/>
              <a:t>/ цифра </a:t>
            </a:r>
            <a:r>
              <a:rPr lang="ru-RU" sz="3200" dirty="0" smtClean="0"/>
              <a:t>слева </a:t>
            </a:r>
            <a:r>
              <a:rPr lang="ru-RU" sz="3200" dirty="0"/>
              <a:t>от текста внутри элемента вместе с содержимым. Текст смещается внутри элемента на расстояние, которое занимает маркер.</a:t>
            </a:r>
          </a:p>
          <a:p>
            <a:r>
              <a:rPr lang="en-US" sz="3200" b="1" dirty="0" err="1">
                <a:solidFill>
                  <a:srgbClr val="C00000"/>
                </a:solidFill>
              </a:rPr>
              <a:t>i</a:t>
            </a:r>
            <a:r>
              <a:rPr lang="ru-RU" sz="3200" b="1" dirty="0" err="1" smtClean="0">
                <a:solidFill>
                  <a:srgbClr val="C00000"/>
                </a:solidFill>
              </a:rPr>
              <a:t>nitial</a:t>
            </a:r>
            <a:r>
              <a:rPr lang="ru-RU" sz="3200" dirty="0" smtClean="0"/>
              <a:t>  </a:t>
            </a:r>
            <a:r>
              <a:rPr lang="en-US" sz="3200" dirty="0" smtClean="0"/>
              <a:t> </a:t>
            </a:r>
            <a:r>
              <a:rPr lang="ru-RU" sz="3200" dirty="0" smtClean="0"/>
              <a:t>      устанавливает </a:t>
            </a:r>
            <a:r>
              <a:rPr lang="ru-RU" sz="3200" dirty="0"/>
              <a:t>свойство в значение по </a:t>
            </a:r>
            <a:r>
              <a:rPr lang="ru-RU" sz="3200" dirty="0" smtClean="0"/>
              <a:t>умолчанию</a:t>
            </a:r>
            <a:r>
              <a:rPr lang="en-US" sz="3200" dirty="0" smtClean="0"/>
              <a:t> (</a:t>
            </a:r>
            <a:r>
              <a:rPr lang="ru-RU" sz="3200" dirty="0" smtClean="0"/>
              <a:t>отменяет наследование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0419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18872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li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ea typeface="Times New Roman"/>
                <a:cs typeface="Times New Roman"/>
              </a:rPr>
              <a:t>border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1px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solid</a:t>
            </a:r>
            <a:r>
              <a:rPr lang="ru-RU" sz="3200" b="1" dirty="0">
                <a:solidFill>
                  <a:srgbClr val="4B0082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orange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.</a:t>
            </a:r>
            <a:r>
              <a:rPr lang="ru-RU" sz="3200" b="1" dirty="0" err="1">
                <a:solidFill>
                  <a:srgbClr val="000000"/>
                </a:solidFill>
                <a:ea typeface="Times New Roman"/>
                <a:cs typeface="Times New Roman"/>
              </a:rPr>
              <a:t>test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list-style-position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outside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32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background-color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khaki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;</a:t>
            </a:r>
            <a:r>
              <a:rPr lang="ru-RU" sz="3200" b="1" dirty="0" smtClean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000000"/>
                </a:solidFill>
                <a:ea typeface="Times New Roman"/>
                <a:cs typeface="Times New Roman"/>
              </a:rPr>
              <a:t>.test2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b="1" dirty="0">
                <a:solidFill>
                  <a:srgbClr val="FF0000"/>
                </a:solidFill>
                <a:ea typeface="Times New Roman"/>
                <a:cs typeface="Times New Roman"/>
              </a:rPr>
              <a:t>{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>
                <a:solidFill>
                  <a:srgbClr val="B22222"/>
                </a:solidFill>
                <a:ea typeface="Times New Roman"/>
                <a:cs typeface="Times New Roman"/>
              </a:rPr>
              <a:t>list-style-position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inside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3200" dirty="0" smtClean="0">
              <a:solidFill>
                <a:srgbClr val="000000"/>
              </a:solidFill>
              <a:ea typeface="Times New Roman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 smtClean="0">
                <a:solidFill>
                  <a:srgbClr val="B22222"/>
                </a:solidFill>
                <a:ea typeface="Times New Roman"/>
                <a:cs typeface="Times New Roman"/>
              </a:rPr>
              <a:t>background-color</a:t>
            </a:r>
            <a:r>
              <a:rPr lang="ru-RU" sz="3200" dirty="0" smtClean="0">
                <a:solidFill>
                  <a:srgbClr val="000000"/>
                </a:solidFill>
                <a:ea typeface="Times New Roman"/>
                <a:cs typeface="Times New Roman"/>
              </a:rPr>
              <a:t> 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ea typeface="Times New Roman"/>
                <a:cs typeface="Times New Roman"/>
              </a:rPr>
              <a:t>khaki</a:t>
            </a:r>
            <a:r>
              <a:rPr lang="ru-RU" sz="3200" dirty="0">
                <a:solidFill>
                  <a:srgbClr val="000000"/>
                </a:solidFill>
                <a:ea typeface="Times New Roman"/>
                <a:cs typeface="Times New Roman"/>
              </a:rPr>
              <a:t>; </a:t>
            </a:r>
            <a:endParaRPr lang="ru-RU" sz="32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FF0000"/>
                </a:solidFill>
                <a:ea typeface="Times New Roman"/>
                <a:cs typeface="Times New Roman"/>
              </a:rPr>
              <a:t>}</a:t>
            </a:r>
            <a:endParaRPr lang="ru-RU" sz="3200" dirty="0">
              <a:ea typeface="Calibri"/>
              <a:cs typeface="Times New Roman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9" t="48925" r="58164" b="31952"/>
          <a:stretch/>
        </p:blipFill>
        <p:spPr bwMode="auto">
          <a:xfrm>
            <a:off x="4795519" y="1152912"/>
            <a:ext cx="7396481" cy="5197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98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43840" y="955298"/>
            <a:ext cx="111963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list-style-image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‒ изображение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в качестве маркера элемента списка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3840" y="2235720"/>
            <a:ext cx="1170141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rgbClr val="C00000"/>
                </a:solidFill>
              </a:rPr>
              <a:t>none</a:t>
            </a:r>
            <a:r>
              <a:rPr lang="ru-RU" sz="3200" dirty="0"/>
              <a:t>	</a:t>
            </a:r>
            <a:r>
              <a:rPr lang="ru-RU" sz="3200" dirty="0" smtClean="0"/>
              <a:t> Изображение </a:t>
            </a:r>
            <a:r>
              <a:rPr lang="ru-RU" sz="3200" dirty="0"/>
              <a:t>не будет отображаться, тип маркера элемента списка определяется значением свойства list-style-type. </a:t>
            </a:r>
            <a:r>
              <a:rPr lang="ru-RU" sz="3200" dirty="0" smtClean="0"/>
              <a:t> </a:t>
            </a:r>
            <a:r>
              <a:rPr lang="ru-RU" sz="3200" b="1" dirty="0" smtClean="0"/>
              <a:t>по </a:t>
            </a:r>
            <a:r>
              <a:rPr lang="ru-RU" sz="3200" b="1" dirty="0"/>
              <a:t>умолчанию</a:t>
            </a:r>
            <a:r>
              <a:rPr lang="ru-RU" sz="3200" dirty="0"/>
              <a:t>.</a:t>
            </a:r>
          </a:p>
          <a:p>
            <a:r>
              <a:rPr lang="ru-RU" sz="3200" b="1" dirty="0" err="1">
                <a:solidFill>
                  <a:srgbClr val="C00000"/>
                </a:solidFill>
              </a:rPr>
              <a:t>url</a:t>
            </a:r>
            <a:r>
              <a:rPr lang="ru-RU" sz="3200" dirty="0"/>
              <a:t>	</a:t>
            </a:r>
            <a:r>
              <a:rPr lang="ru-RU" sz="3200" dirty="0" smtClean="0"/>
              <a:t>Путь </a:t>
            </a:r>
            <a:r>
              <a:rPr lang="ru-RU" sz="3200" dirty="0"/>
              <a:t>к изображению для использования в качестве маркера элемента </a:t>
            </a:r>
            <a:r>
              <a:rPr lang="ru-RU" sz="3200" dirty="0" smtClean="0"/>
              <a:t>списка (абсолютный или относительный ‒  </a:t>
            </a:r>
            <a:r>
              <a:rPr lang="ru-RU" sz="3200" u="sng" dirty="0" smtClean="0"/>
              <a:t>относительно таблицы стилей</a:t>
            </a:r>
            <a:r>
              <a:rPr lang="ru-RU" sz="3200" dirty="0" smtClean="0"/>
              <a:t>). Прозрачный фон для собств. изображений</a:t>
            </a:r>
            <a:endParaRPr lang="ru-RU" sz="3200" dirty="0"/>
          </a:p>
          <a:p>
            <a:r>
              <a:rPr lang="en-US" sz="3200" b="1" dirty="0" err="1" smtClean="0">
                <a:solidFill>
                  <a:srgbClr val="C00000"/>
                </a:solidFill>
              </a:rPr>
              <a:t>i</a:t>
            </a:r>
            <a:r>
              <a:rPr lang="ru-RU" sz="3200" b="1" dirty="0" err="1" smtClean="0">
                <a:solidFill>
                  <a:srgbClr val="C00000"/>
                </a:solidFill>
              </a:rPr>
              <a:t>nitial</a:t>
            </a:r>
            <a:r>
              <a:rPr lang="ru-RU" sz="3200" b="1" dirty="0" smtClean="0">
                <a:solidFill>
                  <a:srgbClr val="C00000"/>
                </a:solidFill>
              </a:rPr>
              <a:t> </a:t>
            </a:r>
            <a:r>
              <a:rPr lang="ru-RU" sz="3200" dirty="0" smtClean="0"/>
              <a:t>Устанавливает </a:t>
            </a:r>
            <a:r>
              <a:rPr lang="ru-RU" sz="3200" dirty="0"/>
              <a:t>свойство в значение по умолчанию.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6720" y="154057"/>
            <a:ext cx="6600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 smtClean="0"/>
              <a:t>Создать собственный маркер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08956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6130" y="505936"/>
            <a:ext cx="11732670" cy="147732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list-style-image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('http://basicweb.ru/images/mini5.png')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/* путь к изображению</a:t>
            </a:r>
            <a:r>
              <a:rPr kumimoji="0" lang="ru-RU" altLang="ru-RU" sz="3200" b="1" i="0" u="none" strike="noStrike" cap="none" normalizeH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в качестве маркера */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" t="52720" r="70939" b="32322"/>
          <a:stretch/>
        </p:blipFill>
        <p:spPr bwMode="auto">
          <a:xfrm>
            <a:off x="2348791" y="2534285"/>
            <a:ext cx="4751049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483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334963"/>
            <a:ext cx="12192000" cy="98488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82B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ul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E6550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list-style-image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3200" dirty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altLang="ru-RU" sz="3200" dirty="0" smtClean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1A354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url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(/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example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0" lang="ru-RU" altLang="ru-RU" sz="32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image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/mathematics.png); }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2" t="47571" r="15151" b="42146"/>
          <a:stretch/>
        </p:blipFill>
        <p:spPr bwMode="auto">
          <a:xfrm>
            <a:off x="625230" y="2336800"/>
            <a:ext cx="1128229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680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1346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006699"/>
                </a:solidFill>
                <a:latin typeface="Courier New"/>
              </a:rPr>
              <a:t> 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62560" y="266927"/>
            <a:ext cx="11811428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2800" b="1" dirty="0" smtClean="0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UL</a:t>
            </a:r>
            <a:r>
              <a:rPr lang="en-US" sz="2800" b="1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B6103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</a:t>
            </a:r>
            <a:r>
              <a:rPr lang="ru-RU" sz="2800" b="1" dirty="0">
                <a:solidFill>
                  <a:srgbClr val="B6103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b="1" dirty="0">
                <a:solidFill>
                  <a:srgbClr val="B6103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ru-RU" sz="2800" b="1" dirty="0">
                <a:solidFill>
                  <a:srgbClr val="39892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D6562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Убираем отступ слева */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B6103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list-style-type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none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800" b="1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ru-RU" sz="2800" b="1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Прячем маркеры списка</a:t>
            </a:r>
            <a:r>
              <a:rPr lang="en-US" sz="2800" b="1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*/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800" b="1" dirty="0" smtClean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 err="1">
                <a:solidFill>
                  <a:srgbClr val="33333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:before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B6103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ru-RU" sz="2800" b="1" dirty="0">
                <a:solidFill>
                  <a:srgbClr val="39892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"\20</a:t>
            </a:r>
            <a:r>
              <a:rPr lang="en-US" sz="2800" b="1" dirty="0">
                <a:solidFill>
                  <a:srgbClr val="39892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aa</a:t>
            </a:r>
            <a:r>
              <a:rPr lang="ru-RU" sz="2800" b="1" dirty="0">
                <a:solidFill>
                  <a:srgbClr val="39892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9999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Добавляем перед элементом списка символ в юникоде */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ru-RU" sz="2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ru-RU" sz="2800" b="1" dirty="0" smtClean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3"/>
              </a:rPr>
              <a:t>Символы юникода:</a:t>
            </a:r>
            <a:endParaRPr lang="en-US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  <a:hlinkClick r:id="rId3"/>
            </a:endParaRPr>
          </a:p>
          <a:p>
            <a:pPr>
              <a:spcAft>
                <a:spcPts val="0"/>
              </a:spcAft>
            </a:pPr>
            <a:r>
              <a:rPr lang="en-US" sz="2800" dirty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3"/>
              </a:rPr>
              <a:t>http://</a:t>
            </a:r>
            <a:r>
              <a:rPr lang="en-US" sz="28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  <a:hlinkClick r:id="rId3"/>
              </a:rPr>
              <a:t>htmlweb.ru/html/symbols.php</a:t>
            </a:r>
            <a:endParaRPr lang="ru-RU" sz="2800" dirty="0" smtClean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endParaRPr lang="ru-RU" sz="2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28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Нельзя выделить мышью контент </a:t>
            </a:r>
          </a:p>
          <a:p>
            <a:pPr>
              <a:spcAft>
                <a:spcPts val="0"/>
              </a:spcAft>
            </a:pPr>
            <a:r>
              <a:rPr lang="ru-RU" sz="28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Полученный с помощью</a:t>
            </a:r>
            <a:r>
              <a:rPr lang="en-US" sz="2800" dirty="0" smtClean="0"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800" b="1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before</a:t>
            </a:r>
            <a:r>
              <a:rPr lang="ru-RU" sz="2800" b="1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и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:after</a:t>
            </a:r>
            <a:endParaRPr lang="en-US" sz="2800" b="1" dirty="0" smtClean="0">
              <a:latin typeface="Consolas" panose="020B0609020204030204" pitchFamily="49" charset="0"/>
              <a:ea typeface="Times New Roman"/>
              <a:cs typeface="Consolas" panose="020B0609020204030204" pitchFamily="49" charset="0"/>
              <a:hlinkClick r:id="rId3"/>
            </a:endParaRPr>
          </a:p>
        </p:txBody>
      </p:sp>
      <p:pic>
        <p:nvPicPr>
          <p:cNvPr id="7" name="Рисунок 6"/>
          <p:cNvPicPr/>
          <p:nvPr/>
        </p:nvPicPr>
        <p:blipFill rotWithShape="1">
          <a:blip r:embed="rId4"/>
          <a:srcRect l="41586" t="77980" r="44608" b="11010"/>
          <a:stretch/>
        </p:blipFill>
        <p:spPr bwMode="auto">
          <a:xfrm>
            <a:off x="7739980" y="3648455"/>
            <a:ext cx="4254328" cy="26392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227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68940" y="280852"/>
            <a:ext cx="593026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ul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32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list-style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32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none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/*прячем маркеры*/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32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li:before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3200" b="1" dirty="0" smtClean="0">
              <a:solidFill>
                <a:srgbClr val="228B22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</a:t>
            </a:r>
            <a:r>
              <a:rPr lang="ru-RU" sz="3200" b="1" dirty="0" smtClean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*"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font-size</a:t>
            </a:r>
            <a:r>
              <a:rPr lang="en-US" sz="32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2em;</a:t>
            </a:r>
            <a:endParaRPr lang="ru-RU" sz="3200" b="1" dirty="0">
              <a:solidFill>
                <a:srgbClr val="4B0082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padding-right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10px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32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32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color</a:t>
            </a:r>
            <a:r>
              <a:rPr lang="ru-RU" sz="32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32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orange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32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endParaRPr lang="ru-RU" sz="32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32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" t="68904" r="67601" b="6575"/>
          <a:stretch/>
        </p:blipFill>
        <p:spPr bwMode="auto">
          <a:xfrm>
            <a:off x="6908800" y="809172"/>
            <a:ext cx="4734560" cy="5260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331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 </a:t>
            </a:r>
            <a:r>
              <a:rPr lang="ru-RU" sz="32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list-style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устанавливает все свойства списка в одном объявлении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68960" y="1256973"/>
            <a:ext cx="9834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list-style:</a:t>
            </a:r>
            <a:r>
              <a:rPr lang="en-US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"list-style-type</a:t>
            </a:r>
            <a:r>
              <a:rPr lang="en-US" sz="2800" b="1" dirty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list-style-position list-style-image | initial | inherit</a:t>
            </a:r>
            <a:r>
              <a:rPr lang="en-US" sz="2800" b="1" dirty="0" smtClean="0">
                <a:solidFill>
                  <a:srgbClr val="4B008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"</a:t>
            </a:r>
            <a:r>
              <a:rPr lang="en-US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; 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7316" y="2414022"/>
            <a:ext cx="10807767" cy="3985706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.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test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list-style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: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square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outside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 маркер квадрат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слева от текста за границей 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элемента списка */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.test2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list-style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: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circle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inside</a:t>
            </a: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 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 маркер круг</a:t>
            </a: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слева от текста внутри элемента 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2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вместе с содержимым */</a:t>
            </a:r>
            <a:endParaRPr kumimoji="0" lang="en-US" altLang="ru-RU" sz="32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3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7" t="50912" r="64516" b="31711"/>
          <a:stretch/>
        </p:blipFill>
        <p:spPr bwMode="auto">
          <a:xfrm>
            <a:off x="772160" y="426719"/>
            <a:ext cx="5994400" cy="5242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197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3230880" cy="923925"/>
          </a:xfrm>
        </p:spPr>
        <p:txBody>
          <a:bodyPr/>
          <a:lstStyle/>
          <a:p>
            <a:r>
              <a:rPr lang="ru-RU" dirty="0" smtClean="0"/>
              <a:t>Счетчики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1158241"/>
            <a:ext cx="11521440" cy="4764088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 </a:t>
            </a:r>
            <a:r>
              <a:rPr lang="ru-RU" sz="3200" b="1" dirty="0" err="1" smtClean="0">
                <a:solidFill>
                  <a:srgbClr val="B22222"/>
                </a:solidFill>
                <a:ea typeface="Calibri"/>
              </a:rPr>
              <a:t>counter-reset</a:t>
            </a:r>
            <a:r>
              <a:rPr lang="ru-RU" sz="3200" dirty="0">
                <a:solidFill>
                  <a:srgbClr val="000000"/>
                </a:solidFill>
                <a:ea typeface="Calibri"/>
              </a:rPr>
              <a:t> создает или сбрасывает один, либо несколько счетчиков. Чаще всего используется вместе со </a:t>
            </a:r>
            <a:r>
              <a:rPr lang="ru-RU" sz="3200" dirty="0" smtClean="0">
                <a:solidFill>
                  <a:srgbClr val="000000"/>
                </a:solidFill>
                <a:ea typeface="Calibri"/>
              </a:rPr>
              <a:t>свойствами</a:t>
            </a:r>
            <a:r>
              <a:rPr lang="ru-RU" sz="3200" dirty="0">
                <a:solidFill>
                  <a:srgbClr val="000000"/>
                </a:solidFill>
                <a:ea typeface="Calibri"/>
              </a:rPr>
              <a:t> </a:t>
            </a:r>
            <a:r>
              <a:rPr lang="ru-RU" sz="3200" b="1" dirty="0">
                <a:solidFill>
                  <a:srgbClr val="B22222"/>
                </a:solidFill>
                <a:ea typeface="Calibri"/>
                <a:cs typeface="Times New Roman"/>
              </a:rPr>
              <a:t>counter-increment</a:t>
            </a:r>
            <a:r>
              <a:rPr lang="ru-RU" sz="3200" dirty="0">
                <a:solidFill>
                  <a:srgbClr val="000000"/>
                </a:solidFill>
                <a:ea typeface="Calibri"/>
              </a:rPr>
              <a:t> и </a:t>
            </a:r>
            <a:r>
              <a:rPr lang="ru-RU" sz="3200" b="1" dirty="0">
                <a:solidFill>
                  <a:srgbClr val="B22222"/>
                </a:solidFill>
                <a:ea typeface="Calibri"/>
                <a:cs typeface="Times New Roman"/>
              </a:rPr>
              <a:t>content</a:t>
            </a:r>
            <a:r>
              <a:rPr lang="ru-RU" sz="3200" dirty="0" smtClean="0">
                <a:solidFill>
                  <a:srgbClr val="000000"/>
                </a:solidFill>
                <a:ea typeface="Calibri"/>
              </a:rPr>
              <a:t>.</a:t>
            </a:r>
          </a:p>
          <a:p>
            <a:pPr>
              <a:spcBef>
                <a:spcPts val="2400"/>
              </a:spcBef>
            </a:pPr>
            <a:endParaRPr lang="ru-RU" sz="3200" dirty="0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96093"/>
              </p:ext>
            </p:extLst>
          </p:nvPr>
        </p:nvGraphicFramePr>
        <p:xfrm>
          <a:off x="324803" y="2704021"/>
          <a:ext cx="11684317" cy="3625596"/>
        </p:xfrm>
        <a:graphic>
          <a:graphicData uri="http://schemas.openxmlformats.org/drawingml/2006/table">
            <a:tbl>
              <a:tblPr firstRow="1" firstCol="1" bandRow="1"/>
              <a:tblGrid>
                <a:gridCol w="1585277"/>
                <a:gridCol w="1009904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none</a:t>
                      </a:r>
                      <a:endParaRPr lang="ru-RU" sz="2800" dirty="0"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Нет счетчиков, которые будут сброшены.</a:t>
                      </a:r>
                      <a:r>
                        <a:rPr lang="ru-RU" sz="28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r>
                        <a:rPr lang="ru-RU" sz="2800" b="1" dirty="0" smtClean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по </a:t>
                      </a:r>
                      <a:r>
                        <a:rPr lang="ru-RU" sz="28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умолчанию.</a:t>
                      </a:r>
                      <a:endParaRPr lang="ru-RU" sz="2800" dirty="0"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name number</a:t>
                      </a:r>
                      <a:endParaRPr lang="ru-RU" sz="2800">
                        <a:effectLst/>
                        <a:latin typeface="Consolas" panose="020B0609020204030204" pitchFamily="49" charset="0"/>
                        <a:ea typeface="Calibri"/>
                        <a:cs typeface="Consolas" panose="020B0609020204030204" pitchFamily="49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Имя определяет, какой счетчик должен быть сброшен, а число указывает начальное значение счетчика. Например, если указано 5, то счётчик инкрементируется и начнется с 6. </a:t>
                      </a:r>
                      <a:r>
                        <a:rPr lang="ru-RU" sz="28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По умолчанию начальное значение равно нулю.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01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07553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counter-increment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</a:t>
            </a:r>
            <a:r>
              <a:rPr lang="ru-RU" sz="27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увеличивает одно или более значений </a:t>
            </a:r>
            <a:r>
              <a:rPr lang="ru-RU" sz="27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счетчика</a:t>
            </a:r>
            <a:endParaRPr lang="ru-RU" sz="27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37413"/>
              </p:ext>
            </p:extLst>
          </p:nvPr>
        </p:nvGraphicFramePr>
        <p:xfrm>
          <a:off x="147917" y="711529"/>
          <a:ext cx="11846560" cy="5518404"/>
        </p:xfrm>
        <a:graphic>
          <a:graphicData uri="http://schemas.openxmlformats.org/drawingml/2006/table">
            <a:tbl>
              <a:tblPr firstRow="1" firstCol="1" bandRow="1"/>
              <a:tblGrid>
                <a:gridCol w="1300797"/>
                <a:gridCol w="10545763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none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Нет счетчиков, которые будут инкрементированы (увеличены на 1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endParaRPr lang="ru-RU" sz="26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6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по </a:t>
                      </a:r>
                      <a:r>
                        <a:rPr lang="ru-RU" sz="2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умолчанию.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id number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Идентификатор определяет, какой счетчик должен быть инкрементирован (увеличен). По умолчанию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увеличение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на </a:t>
                      </a:r>
                      <a:r>
                        <a:rPr lang="ru-RU" sz="2800" b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1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. чтобы изменить ‒  указать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после идентификатора число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увеличения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при каждом новом появлении элемента для которого это значение было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установлено</a:t>
                      </a:r>
                      <a:r>
                        <a:rPr lang="ru-RU" sz="28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 </a:t>
                      </a:r>
                      <a:r>
                        <a:rPr lang="en-US" sz="2800" b="1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counter-increment : schetchik2 </a:t>
                      </a:r>
                      <a:r>
                        <a:rPr lang="ru-RU" sz="2800" b="1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800" b="1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4;</a:t>
                      </a:r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/>
                      </a:r>
                      <a:b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</a:br>
                      <a:r>
                        <a:rPr lang="ru-RU" sz="2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Допускается использование отрицательных значений и нуля.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Если идентификатор ссылается на счетчик, который не был инициализирован с помощью свойства </a:t>
                      </a:r>
                      <a:r>
                        <a:rPr lang="ru-RU" sz="2800" b="1" u="sng" dirty="0" err="1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2"/>
                        </a:rPr>
                        <a:t>counter-reset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, то по умолчанию начальное значение равно нулю.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75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1051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 </a:t>
            </a: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content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используется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 </a:t>
            </a:r>
            <a:r>
              <a:rPr lang="ru-RU" sz="2800" dirty="0" err="1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псевдоэлементами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lang="ru-RU" sz="2800" b="1" u="sng" dirty="0" smtClean="0">
                <a:solidFill>
                  <a:srgbClr val="01647B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:before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и </a:t>
            </a:r>
            <a:r>
              <a:rPr lang="ru-RU" sz="2800" b="1" u="sng" dirty="0" smtClean="0">
                <a:solidFill>
                  <a:srgbClr val="01647B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</a:t>
            </a:r>
            <a:r>
              <a:rPr lang="ru-RU" sz="2800" b="1" u="sng" dirty="0">
                <a:solidFill>
                  <a:srgbClr val="01647B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after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для вставки сгенерированного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контента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208154"/>
              </p:ext>
            </p:extLst>
          </p:nvPr>
        </p:nvGraphicFramePr>
        <p:xfrm>
          <a:off x="295835" y="1119061"/>
          <a:ext cx="11600330" cy="5109120"/>
        </p:xfrm>
        <a:graphic>
          <a:graphicData uri="http://schemas.openxmlformats.org/drawingml/2006/table">
            <a:tbl>
              <a:tblPr firstRow="1" firstCol="1" bandRow="1"/>
              <a:tblGrid>
                <a:gridCol w="2179928"/>
                <a:gridCol w="9420402"/>
              </a:tblGrid>
              <a:tr h="4715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normal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Отсутствие контента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ru-RU" sz="2800" b="1" dirty="0" err="1" smtClean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none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для </a:t>
                      </a:r>
                      <a:r>
                        <a:rPr lang="ru-RU" sz="28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псевдоэлементов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800" b="1" u="sng" dirty="0">
                          <a:solidFill>
                            <a:srgbClr val="01647B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2"/>
                        </a:rPr>
                        <a:t>:before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и </a:t>
                      </a:r>
                      <a:r>
                        <a:rPr lang="ru-RU" sz="2800" b="1" u="sng" dirty="0">
                          <a:solidFill>
                            <a:srgbClr val="01647B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3"/>
                        </a:rPr>
                        <a:t>:after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). </a:t>
                      </a:r>
                      <a:r>
                        <a:rPr lang="ru-RU" sz="28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28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по умолчанию.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19438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none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Отсутствие контента.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15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counter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контент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в качестве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счетчика (добавляет значение определённого счетчика). 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8873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attr</a:t>
                      </a:r>
                      <a:r>
                        <a:rPr lang="ru-RU" sz="2800" b="1" dirty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attribute</a:t>
                      </a:r>
                      <a:r>
                        <a:rPr lang="ru-RU" sz="2800" b="1" dirty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Вывод значения атрибута элемента в виде строки (содержание как значение атрибута элемента). </a:t>
                      </a:r>
                      <a:endParaRPr lang="ru-RU" sz="28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Например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, вывод значения атрибута </a:t>
                      </a:r>
                      <a:r>
                        <a:rPr lang="ru-RU" sz="2800" b="1" dirty="0" err="1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href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после тега </a:t>
                      </a:r>
                      <a:r>
                        <a:rPr lang="ru-RU" sz="2800" b="1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&lt;a&gt;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endParaRPr lang="ru-RU" sz="28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 b="1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a:after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</a:t>
                      </a:r>
                      <a:r>
                        <a:rPr lang="ru-RU" sz="28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{</a:t>
                      </a:r>
                      <a:r>
                        <a:rPr lang="ru-RU" sz="2800" b="1" dirty="0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content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: </a:t>
                      </a:r>
                      <a:r>
                        <a:rPr lang="ru-RU" sz="2800" b="1" dirty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" "</a:t>
                      </a: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attr</a:t>
                      </a:r>
                      <a:r>
                        <a:rPr lang="ru-RU" sz="2800" b="1" dirty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href</a:t>
                      </a:r>
                      <a:r>
                        <a:rPr lang="ru-RU" sz="2800" b="1" dirty="0" smtClean="0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)"";</a:t>
                      </a:r>
                      <a:r>
                        <a:rPr lang="ru-RU" sz="2800" b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}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между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всеми тегами </a:t>
                      </a:r>
                      <a:r>
                        <a:rPr lang="ru-RU" sz="2800" b="1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&lt;a&gt;&lt;/a&gt;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автоматически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проставляется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значение атрибута </a:t>
                      </a:r>
                      <a:r>
                        <a:rPr lang="ru-RU" sz="2800" b="1" dirty="0" err="1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href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 ).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26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99649"/>
              </p:ext>
            </p:extLst>
          </p:nvPr>
        </p:nvGraphicFramePr>
        <p:xfrm>
          <a:off x="406400" y="426720"/>
          <a:ext cx="11236960" cy="5732772"/>
        </p:xfrm>
        <a:graphic>
          <a:graphicData uri="http://schemas.openxmlformats.org/drawingml/2006/table">
            <a:tbl>
              <a:tblPr firstRow="1" firstCol="1" bandRow="1"/>
              <a:tblGrid>
                <a:gridCol w="2357120"/>
                <a:gridCol w="8879840"/>
              </a:tblGrid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 dirty="0" err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string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Текстовая строка. Содержимое </a:t>
                      </a: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обязательно в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кавычки.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open-quote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открывающиеся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кавычки. Вид кавычек может быть изменён свойством </a:t>
                      </a:r>
                      <a:r>
                        <a:rPr lang="ru-RU" sz="2800" b="1" u="sng" dirty="0" err="1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2"/>
                        </a:rPr>
                        <a:t>quotes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close-quote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закрывающиеся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кавычки. Вид кавычек может быть изменён свойством </a:t>
                      </a:r>
                      <a:r>
                        <a:rPr lang="ru-RU" sz="2800" b="1" u="sng" dirty="0" err="1">
                          <a:solidFill>
                            <a:srgbClr val="B2222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  <a:hlinkClick r:id="rId2"/>
                        </a:rPr>
                        <a:t>quotes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no-open-quote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Удаляет открывающую кавычку от содержимого элемента, если она установлена свойством </a:t>
                      </a: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open-quote</a:t>
                      </a: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no-close-quote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Удаляет закрывающую кавычку от содержимого элемента, если она установлена свойством </a:t>
                      </a: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close-quote</a:t>
                      </a:r>
                      <a:r>
                        <a:rPr lang="ru-RU" sz="28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.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3329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url(url)</a:t>
                      </a:r>
                      <a:endParaRPr lang="ru-RU" sz="280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Добавляет к 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контенту один из видов медиа-файлов(например, изображение, звук, видео и т.д.).</a:t>
                      </a:r>
                      <a:endParaRPr lang="ru-RU" sz="28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27897" marR="27897" marT="27897" marB="27897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72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20627"/>
            <a:ext cx="11602720" cy="46782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* 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quotes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"«" "»" "‹" "›"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/*тип кавычек для первого и второго уровня вложенности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(для всех элементов) */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p:before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content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open-quote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/* перед элементом &lt;p&gt; открывающиеся кавычки */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p:after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{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content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close-quote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/*после элемента &lt;p&gt; закрывающиеся кавычки */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9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&lt;q&gt;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Обычная</a:t>
            </a:r>
            <a:r>
              <a:rPr kumimoji="0" lang="en-US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цитата</a:t>
            </a:r>
            <a:r>
              <a:rPr kumimoji="0" lang="en-US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&lt;q&gt;</a:t>
            </a:r>
            <a:endParaRPr kumimoji="0" lang="ru-RU" altLang="ru-RU" sz="24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latin typeface="Consolas" panose="020B0609020204030204" pitchFamily="49" charset="0"/>
              <a:ea typeface="Times New Roman" pitchFamily="18" charset="0"/>
              <a:cs typeface="Consolas" panose="020B0609020204030204" pitchFamily="49" charset="0"/>
            </a:endParaRP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&lt;q&gt;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Это 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&lt;q&gt;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ЦИТАТА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&lt;/q&gt;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внутри цитаты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&lt;/q&gt;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&lt;p&gt;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Параграф, к которому, используя </a:t>
            </a:r>
          </a:p>
          <a:p>
            <a:pPr marR="0" lvl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псевдоклассы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 добавлены кавычки.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Consolas" panose="020B0609020204030204" pitchFamily="49" charset="0"/>
                <a:ea typeface="Times New Roman" pitchFamily="18" charset="0"/>
                <a:cs typeface="Consolas" panose="020B0609020204030204" pitchFamily="49" charset="0"/>
              </a:rPr>
              <a:t>&lt;/p&gt;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1" y="4882891"/>
            <a:ext cx="11838209" cy="185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-9410"/>
            <a:ext cx="12192000" cy="653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body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r>
              <a:rPr lang="ru-RU" sz="2800" b="1" dirty="0" err="1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counter-reset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schetchik1 5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счетчик №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1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инициализируется значением 5, инкрементируется и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начнется с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6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line-height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0</a:t>
            </a:r>
            <a:r>
              <a:rPr lang="ru-RU" sz="2800" b="1" dirty="0" smtClean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.3em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h2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counter-reset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schetchik2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инициализируем счетчик №2 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h2:before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smtClean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counter-increment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schetchik1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инкремент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для глав с шагом 1 (значение по умолчанию) 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"Глава № "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(schetchik1) </a:t>
            </a:r>
            <a:r>
              <a:rPr lang="ru-RU" sz="2800" b="1" dirty="0" smtClean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"."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Значение </a:t>
            </a:r>
            <a:r>
              <a:rPr lang="ru-RU" sz="2800" b="1" dirty="0" err="1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определяет счетчик   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18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4480" y="609600"/>
            <a:ext cx="11623040" cy="356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h3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margin-left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20px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отступ от левого края элемента 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}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h3:before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{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counter-increment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schetchik2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/* инкремент для статей с шагом 1 (значение по умолчанию) */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content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 :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(schetchik1) "."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counter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(schetchik2) " "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; </a:t>
            </a:r>
            <a:endParaRPr lang="ru-RU" sz="2800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62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509" y="1"/>
            <a:ext cx="7206868" cy="636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49120" y="162560"/>
            <a:ext cx="7152640" cy="6009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 smtClean="0">
                <a:solidFill>
                  <a:srgbClr val="4169E1"/>
                </a:solidFill>
                <a:ea typeface="Times New Roman"/>
                <a:cs typeface="Times New Roman"/>
              </a:rPr>
              <a:t>		&lt;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h2&gt;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Название главы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&lt;/h2&gt;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&lt;h2&gt;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Название главы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&lt;/h2&gt;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&lt;h2&gt;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Название главы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&lt;/h2&gt;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sz="2800" b="1" dirty="0">
                <a:solidFill>
                  <a:srgbClr val="4169E1"/>
                </a:solidFill>
                <a:ea typeface="Times New Roman"/>
                <a:cs typeface="Times New Roman"/>
              </a:rPr>
              <a:t>		</a:t>
            </a:r>
            <a:r>
              <a:rPr lang="en-US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&lt;h3&gt;</a:t>
            </a:r>
            <a:r>
              <a:rPr lang="ru-RU" sz="2800" dirty="0">
                <a:solidFill>
                  <a:srgbClr val="000000"/>
                </a:solidFill>
                <a:ea typeface="Times New Roman"/>
                <a:cs typeface="Times New Roman"/>
              </a:rPr>
              <a:t>Статья</a:t>
            </a:r>
            <a:r>
              <a:rPr lang="en-US" sz="2800" b="1" dirty="0">
                <a:solidFill>
                  <a:srgbClr val="4169E1"/>
                </a:solidFill>
                <a:ea typeface="Times New Roman"/>
                <a:cs typeface="Times New Roman"/>
              </a:rPr>
              <a:t>&lt;/h3&gt;</a:t>
            </a:r>
            <a:endParaRPr lang="ru-RU" sz="28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049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19878"/>
            <a:ext cx="3516313" cy="884238"/>
          </a:xfrm>
        </p:spPr>
        <p:txBody>
          <a:bodyPr/>
          <a:lstStyle/>
          <a:p>
            <a:r>
              <a:rPr lang="ru-RU" dirty="0" smtClean="0"/>
              <a:t>Таблицы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16765"/>
              </p:ext>
            </p:extLst>
          </p:nvPr>
        </p:nvGraphicFramePr>
        <p:xfrm>
          <a:off x="1596887" y="868464"/>
          <a:ext cx="9952383" cy="5509260"/>
        </p:xfrm>
        <a:graphic>
          <a:graphicData uri="http://schemas.openxmlformats.org/drawingml/2006/table">
            <a:tbl>
              <a:tblPr firstRow="1" firstCol="1" bandRow="1"/>
              <a:tblGrid>
                <a:gridCol w="1848678"/>
                <a:gridCol w="8103705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&lt;table&gt;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содержимое 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caption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наименование 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th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заголовочную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ячейку 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tr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строку 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td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ячейку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данных 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thead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заголовок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группы в таблице (шапка таблицы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tbody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содержание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"тела" 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таблицы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tfoot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содержание"подвала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" таблицы (футер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)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</a:t>
                      </a:r>
                      <a:r>
                        <a:rPr lang="ru-RU" sz="2600" b="1" u="sng" dirty="0" err="1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col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свойства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столбцов для каждого столбца в  </a:t>
                      </a: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&lt;colgroup</a:t>
                      </a:r>
                      <a:r>
                        <a:rPr lang="ru-RU" sz="2600" b="1" u="sng" dirty="0" smtClean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b="1" u="sng" dirty="0">
                          <a:solidFill>
                            <a:srgbClr val="4169E1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&lt;colgroup&gt;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группа столбцов </a:t>
                      </a:r>
                      <a:r>
                        <a:rPr lang="ru-RU" sz="2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в </a:t>
                      </a:r>
                      <a:r>
                        <a:rPr lang="ru-RU" sz="26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таблице</a:t>
                      </a:r>
                      <a:endParaRPr lang="ru-RU" sz="26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33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83705" y="415028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/>
              <a:t>С точки зрения </a:t>
            </a:r>
            <a:r>
              <a:rPr lang="en-US" sz="3200" dirty="0" smtClean="0"/>
              <a:t>CSS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3200" dirty="0" smtClean="0"/>
              <a:t>, </a:t>
            </a: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3200" dirty="0" smtClean="0"/>
              <a:t>, </a:t>
            </a: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td</a:t>
            </a:r>
            <a:r>
              <a:rPr lang="en-US" sz="3200" dirty="0" smtClean="0"/>
              <a:t> – </a:t>
            </a:r>
            <a:r>
              <a:rPr lang="ru-RU" sz="3200" dirty="0" smtClean="0"/>
              <a:t>это элементы </a:t>
            </a:r>
            <a:r>
              <a:rPr lang="ru-RU" sz="3200" dirty="0"/>
              <a:t>с </a:t>
            </a:r>
            <a:r>
              <a:rPr lang="ru-RU" sz="3200" dirty="0" smtClean="0"/>
              <a:t>определёнными значениями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 smtClean="0"/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table-row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thead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table-header-group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tbody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table-row-group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tfoot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table-footer-group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table-column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colgroup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table-column-group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td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3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table-cell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caption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{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table-caption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0320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901838"/>
          </a:xfrm>
        </p:spPr>
        <p:txBody>
          <a:bodyPr>
            <a:normAutofit/>
          </a:bodyPr>
          <a:lstStyle/>
          <a:p>
            <a:r>
              <a:rPr lang="ru-RU" dirty="0" smtClean="0"/>
              <a:t>Свойство </a:t>
            </a:r>
            <a:r>
              <a:rPr lang="en-US" dirty="0" smtClean="0"/>
              <a:t>display</a:t>
            </a:r>
            <a:r>
              <a:rPr lang="ru-RU" dirty="0" smtClean="0"/>
              <a:t> ‒ как отображается элемент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51868922"/>
              </p:ext>
            </p:extLst>
          </p:nvPr>
        </p:nvGraphicFramePr>
        <p:xfrm>
          <a:off x="139146" y="935017"/>
          <a:ext cx="11907078" cy="5577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1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756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является блочной таблицей подобно использованию </a:t>
                      </a:r>
                      <a:r>
                        <a:rPr lang="ru-RU" sz="2400" kern="1200" dirty="0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table-caption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Задаёт заголовок таблицы подобно применению 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caption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table-cell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представляет собой ячейку таблицы (</a:t>
                      </a:r>
                      <a:r>
                        <a:rPr lang="en-US" sz="2400" kern="1200" dirty="0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</a:t>
                      </a:r>
                      <a:r>
                        <a:rPr lang="ru-RU" sz="2400" kern="1200" dirty="0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или 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table-column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Назначает элемент колонкой таблицы, словно был добавлен 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col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table-column-group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Определяет, что элемент является группой одной или более колонок таблицы, как при использовании </a:t>
                      </a:r>
                      <a:r>
                        <a:rPr lang="ru-RU" sz="2400" kern="1200" dirty="0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colgroup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table-footer-group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для хранения одной или нескольких строк ячеек, которые отображаются в самом низу таблицы (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tfoot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table-header-group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предназначен для хранения одной или нескольких строк ячеек, которые представлены вверху таблицы (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thead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table-row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отображается как строка таблицы (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tr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err="1" smtClean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table-row-group</a:t>
                      </a:r>
                      <a:endParaRPr lang="ru-RU" sz="2400" kern="12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Создаёт блок, состоящий из нескольких строк таблицы (</a:t>
                      </a:r>
                      <a:r>
                        <a:rPr lang="ru-RU" sz="2400" kern="1200" dirty="0" err="1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tbody</a:t>
                      </a:r>
                      <a:r>
                        <a:rPr lang="ru-RU" sz="2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36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12540774"/>
              </p:ext>
            </p:extLst>
          </p:nvPr>
        </p:nvGraphicFramePr>
        <p:xfrm>
          <a:off x="304800" y="971620"/>
          <a:ext cx="11483009" cy="4572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847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5745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block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показывается как блочный.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inline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отображается как строчный.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inline-block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Генерирует блочный элемент, который обтекается другими элементами страницы подобно строчному элементу. При этом его внутренняя часть форматируется как блочный элемент, а сам элемент – как строчный.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inline-table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Определяет, что элемент является таблицей как при использовании </a:t>
                      </a:r>
                      <a:r>
                        <a:rPr lang="ru-RU" sz="2400" kern="1200" dirty="0" smtClean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table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но при этом таблица является строчным элементом и происходит её обтекание другими элементами, например, текстом.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list-item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Элемент выводится как блочный и добавляется маркер списка.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none</a:t>
                      </a:r>
                      <a:endParaRPr lang="ru-RU" sz="2400" kern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Элемент не виден.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04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0"/>
            <a:ext cx="12192000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. .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border-spacing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10px"&gt;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table-row"&gt;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table-cell"&gt;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Name: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table-cell"&gt;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table-row"&gt;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table-cell"&gt;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Age: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table-cell"&gt;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body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0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2069824" y="568670"/>
            <a:ext cx="7705406" cy="529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6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8173" y="168750"/>
            <a:ext cx="68597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 smtClean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Отступы в таблице</a:t>
            </a:r>
            <a:endParaRPr lang="ru-RU" sz="4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8173" y="1852085"/>
            <a:ext cx="1133060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внутренний отступ </a:t>
            </a:r>
            <a:r>
              <a:rPr lang="ru-RU" sz="2800" b="1" u="sng" dirty="0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padding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‒ к заголовку или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к 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ячейкам напрямую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к тегу </a:t>
            </a:r>
            <a:r>
              <a:rPr lang="ru-RU" sz="2800" b="1" u="sng" dirty="0">
                <a:solidFill>
                  <a:srgbClr val="4169E1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&lt;table&gt;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‒  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только внешний отступ </a:t>
            </a:r>
            <a:r>
              <a:rPr lang="ru-RU" sz="2800" b="1" u="sng" dirty="0" smtClean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margin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74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8658" y="8783"/>
            <a:ext cx="1164942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&lt;table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&lt;caption&gt;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Отступы в таблице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&lt;/caption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			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4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th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&gt;	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	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&lt;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td&gt;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2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&lt;/td&gt;&lt;td&gt;&lt;/td&gt;&lt;td&gt;&lt;/td&gt;&lt;td&gt;&lt;/td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	&lt;td&gt;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&lt;/td&gt;&lt;td&gt;&lt;/td&gt;&lt;td&gt;&lt;/td&gt;&lt;td&gt;&lt;/td&gt;		&lt;/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&lt;</a:t>
            </a:r>
            <a:r>
              <a:rPr lang="en-US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	&lt;td&gt;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4</a:t>
            </a:r>
            <a:r>
              <a:rPr lang="en-US" sz="2800" b="1" dirty="0">
                <a:solidFill>
                  <a:srgbClr val="4169E1"/>
                </a:solidFill>
                <a:latin typeface="Arial"/>
              </a:rPr>
              <a:t>&lt;/td&gt;&lt;td&gt;&lt;/td&gt;&lt;td&gt;&lt;/td&gt;&lt;td&gt;&lt;/td</a:t>
            </a:r>
            <a:r>
              <a:rPr lang="en-US" sz="2800" b="1" dirty="0" smtClean="0">
                <a:solidFill>
                  <a:srgbClr val="4169E1"/>
                </a:solidFill>
                <a:latin typeface="Arial"/>
              </a:rPr>
              <a:t>&gt;</a:t>
            </a:r>
            <a:endParaRPr lang="ru-RU" sz="2800" b="1" dirty="0" smtClean="0">
              <a:solidFill>
                <a:srgbClr val="4169E1"/>
              </a:solidFill>
              <a:latin typeface="Arial"/>
            </a:endParaRPr>
          </a:p>
          <a:p>
            <a:r>
              <a:rPr lang="en-US" sz="2800" b="1" dirty="0">
                <a:solidFill>
                  <a:srgbClr val="4169E1"/>
                </a:solidFill>
                <a:latin typeface="Arial"/>
              </a:rPr>
              <a:t>		</a:t>
            </a:r>
            <a:r>
              <a:rPr lang="ru-RU" sz="2800" b="1" dirty="0">
                <a:solidFill>
                  <a:srgbClr val="4169E1"/>
                </a:solidFill>
                <a:latin typeface="Arial"/>
              </a:rPr>
              <a:t>&lt;/</a:t>
            </a:r>
            <a:r>
              <a:rPr lang="ru-RU" sz="2800" b="1" dirty="0" err="1">
                <a:solidFill>
                  <a:srgbClr val="4169E1"/>
                </a:solidFill>
                <a:latin typeface="Arial"/>
              </a:rPr>
              <a:t>tr</a:t>
            </a:r>
            <a:r>
              <a:rPr lang="ru-RU" sz="2800" b="1" dirty="0" smtClean="0">
                <a:solidFill>
                  <a:srgbClr val="4169E1"/>
                </a:solidFill>
                <a:latin typeface="Arial"/>
              </a:rPr>
              <a:t>&gt;</a:t>
            </a:r>
          </a:p>
          <a:p>
            <a:r>
              <a:rPr lang="ru-RU" sz="2800" b="1" dirty="0" smtClean="0">
                <a:solidFill>
                  <a:srgbClr val="4169E1"/>
                </a:solidFill>
                <a:latin typeface="Arial"/>
              </a:rPr>
              <a:t>&lt;/</a:t>
            </a:r>
            <a:r>
              <a:rPr lang="ru-RU" sz="2800" b="1" dirty="0">
                <a:solidFill>
                  <a:srgbClr val="4169E1"/>
                </a:solidFill>
                <a:latin typeface="Arial"/>
              </a:rPr>
              <a:t>table&gt;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363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40" y="59634"/>
            <a:ext cx="4699591" cy="6178341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70583" y="693267"/>
            <a:ext cx="71760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margin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центр </a:t>
            </a:r>
            <a:r>
              <a:rPr lang="ru-RU" sz="2800" b="1" dirty="0">
                <a:solidFill>
                  <a:srgbClr val="228B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по </a:t>
            </a:r>
            <a:r>
              <a:rPr lang="ru-RU" sz="2800" b="1" dirty="0" smtClean="0">
                <a:solidFill>
                  <a:srgbClr val="228B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горизонтали</a:t>
            </a:r>
          </a:p>
          <a:p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#F50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padding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19px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ru-RU" sz="28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caption</a:t>
            </a:r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padding-bottom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19px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	</a:t>
            </a:r>
            <a:endParaRPr lang="ru-RU" sz="2800" dirty="0" smtClean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b="1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ru-RU" sz="280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70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512" y="19878"/>
            <a:ext cx="121124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ru-RU" sz="4800" dirty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Промежуток между </a:t>
            </a:r>
            <a:r>
              <a:rPr lang="ru-RU" sz="4800" dirty="0" smtClean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ячейками </a:t>
            </a:r>
            <a:r>
              <a:rPr lang="ru-RU" sz="3200" b="1" u="sng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border-spacing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9512" y="722134"/>
            <a:ext cx="12112488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vertical-align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top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по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верху самого высокого элемента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</a:p>
          <a:p>
            <a:endParaRPr lang="ru-RU" sz="1100" b="1" dirty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float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left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плавающая  по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левому краю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 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margin-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30px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#F50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padding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19px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внутренние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caption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font-weight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bold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first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border-spacing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30px 10px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/*(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первое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-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горизонтальный,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второе – вертикальный;  оба</a:t>
            </a:r>
            <a:r>
              <a:rPr lang="en-US" sz="2800" b="1" dirty="0" smtClean="0">
                <a:solidFill>
                  <a:srgbClr val="228B22"/>
                </a:solidFill>
                <a:latin typeface="Arial"/>
              </a:rPr>
              <a:t>&gt;0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)*/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	</a:t>
            </a:r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second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border-spacing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third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border-spacing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0.2em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Calibri"/>
              </a:rPr>
              <a:t> 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  <a:ea typeface="Calibri"/>
              </a:rPr>
              <a:t>горизонтальный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Calibri"/>
              </a:rPr>
              <a:t>и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  <a:ea typeface="Calibri"/>
              </a:rPr>
              <a:t>вертикальный промежуток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Calibri"/>
              </a:rPr>
              <a:t>между ячейками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  <a:ea typeface="Calibri"/>
              </a:rPr>
              <a:t>) </a:t>
            </a:r>
            <a:r>
              <a:rPr lang="ru-RU" sz="2800" b="1" dirty="0">
                <a:solidFill>
                  <a:srgbClr val="228B22"/>
                </a:solidFill>
                <a:latin typeface="Arial"/>
                <a:ea typeface="Calibri"/>
              </a:rPr>
              <a:t>*/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  <a:ea typeface="Calibri"/>
              </a:rPr>
              <a:t>}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  <a:ea typeface="Calibri"/>
              </a:rPr>
              <a:t>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7195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39" y="1013793"/>
            <a:ext cx="11768408" cy="471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166"/>
            <a:ext cx="106779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>
                <a:latin typeface="Consolas" panose="020B0609020204030204" pitchFamily="49" charset="0"/>
                <a:cs typeface="Consolas" panose="020B0609020204030204" pitchFamily="49" charset="0"/>
              </a:rPr>
              <a:t>Г</a:t>
            </a:r>
            <a:r>
              <a:rPr lang="ru-RU" sz="4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раницы </a:t>
            </a:r>
            <a:r>
              <a:rPr lang="ru-RU" sz="4800" dirty="0">
                <a:latin typeface="Consolas" panose="020B0609020204030204" pitchFamily="49" charset="0"/>
                <a:cs typeface="Consolas" panose="020B0609020204030204" pitchFamily="49" charset="0"/>
              </a:rPr>
              <a:t>вокруг </a:t>
            </a:r>
            <a:r>
              <a:rPr lang="ru-RU" sz="4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ячеек </a:t>
            </a:r>
            <a:r>
              <a:rPr lang="ru-RU" sz="3200" b="1" u="sng" dirty="0">
                <a:solidFill>
                  <a:srgbClr val="B22222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border-collapse</a:t>
            </a:r>
            <a:endParaRPr lang="ru-RU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7889" y="935611"/>
            <a:ext cx="114110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solidFill>
                  <a:srgbClr val="000000"/>
                </a:solidFill>
                <a:ea typeface="Calibri"/>
              </a:rPr>
              <a:t>Позволяет убрать </a:t>
            </a:r>
            <a:r>
              <a:rPr lang="ru-RU" sz="3200" dirty="0">
                <a:solidFill>
                  <a:srgbClr val="000000"/>
                </a:solidFill>
                <a:ea typeface="Calibri"/>
              </a:rPr>
              <a:t>промежуток между ячейками и </a:t>
            </a:r>
            <a:r>
              <a:rPr lang="ru-RU" sz="3200" dirty="0" smtClean="0">
                <a:solidFill>
                  <a:srgbClr val="000000"/>
                </a:solidFill>
                <a:ea typeface="Calibri"/>
              </a:rPr>
              <a:t>не </a:t>
            </a:r>
            <a:r>
              <a:rPr lang="ru-RU" sz="3200" dirty="0">
                <a:solidFill>
                  <a:srgbClr val="000000"/>
                </a:solidFill>
                <a:ea typeface="Calibri"/>
              </a:rPr>
              <a:t>получить двойных границ между ними</a:t>
            </a:r>
            <a:endParaRPr lang="ru-RU" sz="3200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434203"/>
              </p:ext>
            </p:extLst>
          </p:nvPr>
        </p:nvGraphicFramePr>
        <p:xfrm>
          <a:off x="197889" y="2176960"/>
          <a:ext cx="11510407" cy="2644140"/>
        </p:xfrm>
        <a:graphic>
          <a:graphicData uri="http://schemas.openxmlformats.org/drawingml/2006/table">
            <a:tbl>
              <a:tblPr firstRow="1" firstCol="1" bandRow="1"/>
              <a:tblGrid>
                <a:gridCol w="1789937"/>
                <a:gridCol w="972047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separate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Отдельно стоящие границы (свойства </a:t>
                      </a:r>
                      <a:r>
                        <a:rPr lang="ru-RU" sz="2800" b="1" u="sng" dirty="0">
                          <a:solidFill>
                            <a:srgbClr val="B22222"/>
                          </a:solidFill>
                          <a:effectLst/>
                          <a:latin typeface="Arial"/>
                          <a:ea typeface="Calibri"/>
                          <a:cs typeface="Times New Roman"/>
                          <a:hlinkClick r:id="rId2" tooltip="CSS свойство border-spacing"/>
                        </a:rPr>
                        <a:t>border-spacing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и </a:t>
                      </a:r>
                      <a:r>
                        <a:rPr lang="ru-RU" sz="2800" b="1" u="sng" dirty="0">
                          <a:solidFill>
                            <a:srgbClr val="B22222"/>
                          </a:solidFill>
                          <a:effectLst/>
                          <a:latin typeface="Arial"/>
                          <a:ea typeface="Calibri"/>
                          <a:cs typeface="Times New Roman"/>
                          <a:hlinkClick r:id="rId3" tooltip="CSS свойство empty-cells"/>
                        </a:rPr>
                        <a:t>empty-cells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не будут игнорироваться). </a:t>
                      </a:r>
                      <a:r>
                        <a:rPr lang="ru-RU" sz="2800" b="1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по </a:t>
                      </a:r>
                      <a:r>
                        <a:rPr lang="ru-RU" sz="2800" b="1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умолчанию.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E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b="1">
                          <a:solidFill>
                            <a:srgbClr val="4B0082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collapse</a:t>
                      </a:r>
                      <a:endParaRPr lang="ru-RU" sz="28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Границы объединяются в одну, когда это возможно (свойства </a:t>
                      </a:r>
                      <a:r>
                        <a:rPr lang="ru-RU" sz="2800" b="1" u="sng" dirty="0">
                          <a:solidFill>
                            <a:srgbClr val="B22222"/>
                          </a:solidFill>
                          <a:effectLst/>
                          <a:latin typeface="Arial"/>
                          <a:ea typeface="Calibri"/>
                          <a:cs typeface="Times New Roman"/>
                          <a:hlinkClick r:id="rId2" tooltip="CSS свойство border-spacing"/>
                        </a:rPr>
                        <a:t>border-spacing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и </a:t>
                      </a:r>
                      <a:r>
                        <a:rPr lang="ru-RU" sz="2800" b="1" u="sng" dirty="0">
                          <a:solidFill>
                            <a:srgbClr val="B22222"/>
                          </a:solidFill>
                          <a:effectLst/>
                          <a:latin typeface="Arial"/>
                          <a:ea typeface="Calibri"/>
                          <a:cs typeface="Times New Roman"/>
                          <a:hlinkClick r:id="rId3" tooltip="CSS свойство empty-cells"/>
                        </a:rPr>
                        <a:t>empty-cells</a:t>
                      </a:r>
                      <a:r>
                        <a:rPr lang="ru-RU" sz="28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/>
                          <a:cs typeface="Times New Roman"/>
                        </a:rPr>
                        <a:t> игнорируются).</a:t>
                      </a:r>
                      <a:endParaRPr lang="ru-RU" sz="2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4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9148" y="5125"/>
            <a:ext cx="711641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float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left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margin-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30px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внешние 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#F50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75px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caption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font-weight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bold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      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first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border-spacing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0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11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second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border-collapse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collapse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029" y="1212574"/>
            <a:ext cx="6807971" cy="48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2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5530" y="1213008"/>
            <a:ext cx="82627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u="sng" dirty="0">
                <a:solidFill>
                  <a:srgbClr val="B22222"/>
                </a:solidFill>
                <a:latin typeface="Arial"/>
                <a:ea typeface="Calibri"/>
                <a:cs typeface="Times New Roman"/>
              </a:rPr>
              <a:t>empty-cells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 </a:t>
            </a:r>
            <a:endParaRPr lang="ru-RU" sz="2800" dirty="0" smtClean="0">
              <a:solidFill>
                <a:srgbClr val="000000"/>
              </a:solidFill>
              <a:latin typeface="Arial"/>
              <a:ea typeface="Calibri"/>
            </a:endParaRPr>
          </a:p>
          <a:p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 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</a:rPr>
              <a:t>hide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 ‒ пустые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ячейки и фон в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них скрыты</a:t>
            </a:r>
          </a:p>
          <a:p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</a:rPr>
              <a:t> show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 (по умолчанию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) ‒  отображаются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9024" y="152070"/>
            <a:ext cx="830227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800" dirty="0" smtClean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Отображение пустых </a:t>
            </a:r>
            <a:r>
              <a:rPr lang="ru-RU" sz="4800" dirty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ячеек</a:t>
            </a:r>
            <a:endParaRPr lang="ru-RU" sz="4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8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" y="17598"/>
            <a:ext cx="596347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float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left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margin-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right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30px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#F50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75px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         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</a:rPr>
              <a:t>wheat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caption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font-weight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bold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first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empty-cells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show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second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empty-cells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hide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</a:p>
          <a:p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062" y="3470690"/>
            <a:ext cx="8657754" cy="325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6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35013" y="135622"/>
            <a:ext cx="108937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ru-RU" sz="4800" b="1" dirty="0">
                <a:solidFill>
                  <a:srgbClr val="282828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Расположение заголовка таблицы</a:t>
            </a:r>
            <a:endParaRPr lang="ru-RU" sz="4800" b="1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35013" y="1246438"/>
            <a:ext cx="107347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800" b="1" u="sng" dirty="0">
                <a:solidFill>
                  <a:srgbClr val="B22222"/>
                </a:solidFill>
                <a:latin typeface="Arial"/>
                <a:ea typeface="Times New Roman"/>
              </a:rPr>
              <a:t>caption-side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endParaRPr lang="ru-RU" sz="2800" dirty="0" smtClean="0">
              <a:solidFill>
                <a:srgbClr val="000000"/>
              </a:solidFill>
              <a:latin typeface="Arial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Times New Roman"/>
              </a:rPr>
              <a:t>top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 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‒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над таблицей</a:t>
            </a:r>
          </a:p>
          <a:p>
            <a:pPr algn="just">
              <a:spcAft>
                <a:spcPts val="0"/>
              </a:spcAft>
            </a:pP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Times New Roman"/>
              </a:rPr>
              <a:t>bottom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‒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под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Times New Roman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таблицей</a:t>
            </a:r>
            <a:endParaRPr lang="ru-RU" sz="28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514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4435" y="599804"/>
            <a:ext cx="45521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td, </a:t>
            </a:r>
            <a:r>
              <a:rPr lang="en-US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{</a:t>
            </a:r>
            <a:endParaRPr lang="ru-RU" sz="28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en-US" sz="2800" b="1" dirty="0" smtClean="0">
                <a:solidFill>
                  <a:srgbClr val="B22222"/>
                </a:solidFill>
                <a:latin typeface="Arial"/>
              </a:rPr>
              <a:t>border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latin typeface="Arial"/>
              </a:rPr>
              <a:t>1px solid blue</a:t>
            </a: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;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topCaption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caption-side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top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</a:p>
          <a:p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bottomCaption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caption-side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bottom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</a:p>
          <a:p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159" y="21241"/>
            <a:ext cx="5591838" cy="62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7281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282828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Горизонтальное и вертикальное выравнивание</a:t>
            </a:r>
            <a:endParaRPr lang="ru-RU" sz="4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6706" y="1705964"/>
            <a:ext cx="109137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u="sng" dirty="0">
                <a:solidFill>
                  <a:srgbClr val="B22222"/>
                </a:solidFill>
                <a:latin typeface="Arial"/>
                <a:ea typeface="Calibri"/>
                <a:cs typeface="Times New Roman"/>
              </a:rPr>
              <a:t>text-align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‒ для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горизонтального выравнивания по аналогии с любой текстовой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информацией (</a:t>
            </a:r>
            <a:r>
              <a:rPr lang="en-US" sz="2800" b="1" dirty="0" smtClean="0">
                <a:solidFill>
                  <a:srgbClr val="4B0082"/>
                </a:solidFill>
                <a:latin typeface="Arial"/>
                <a:ea typeface="Calibri"/>
              </a:rPr>
              <a:t>left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</a:rPr>
              <a:t>, 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</a:rPr>
              <a:t>right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</a:rPr>
              <a:t>, 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</a:rPr>
              <a:t>center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</a:rPr>
              <a:t>, </a:t>
            </a:r>
            <a:r>
              <a:rPr lang="ru-RU" sz="2800" b="1" dirty="0" err="1">
                <a:solidFill>
                  <a:srgbClr val="4B0082"/>
                </a:solidFill>
                <a:latin typeface="Arial"/>
                <a:ea typeface="Calibri"/>
              </a:rPr>
              <a:t>justify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)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18052" y="2844165"/>
            <a:ext cx="114101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u="sng" dirty="0" smtClean="0">
                <a:solidFill>
                  <a:srgbClr val="B22222"/>
                </a:solidFill>
                <a:latin typeface="Arial"/>
                <a:ea typeface="Calibri"/>
                <a:cs typeface="Times New Roman"/>
              </a:rPr>
              <a:t>vertical-align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 ‒ вертикальное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выравнивание в ячейках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таблицы :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47260" y="3367385"/>
            <a:ext cx="1115170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b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aseline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Выравнивает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базовую линию ячейки по базовой линии родителя. </a:t>
            </a:r>
            <a:r>
              <a:rPr lang="ru-RU" sz="2800" b="1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Это значение по умолчанию.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t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op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 ‒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содержимое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ячейки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по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верхнему краю.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middle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 </a:t>
            </a:r>
            <a:r>
              <a:rPr lang="ru-RU" sz="2800" b="1" dirty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‒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 содержимое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ячейки вертикально по середине.</a:t>
            </a:r>
            <a:endParaRPr lang="ru-RU" sz="2800" dirty="0"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bottom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  <a:ea typeface="Calibri"/>
                <a:cs typeface="Times New Roman"/>
              </a:rPr>
              <a:t> ‒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содержимое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  <a:cs typeface="Times New Roman"/>
              </a:rPr>
              <a:t>ячейки вертикально по нижнему краю.</a:t>
            </a:r>
            <a:endParaRPr lang="ru-RU" sz="28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708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31" y="536717"/>
            <a:ext cx="11954585" cy="524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5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9468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ru-RU" sz="4800" dirty="0">
                <a:solidFill>
                  <a:srgbClr val="282828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Алгоритм размещения макета таблицы </a:t>
            </a:r>
            <a:r>
              <a:rPr lang="ru-RU" sz="4800" dirty="0" smtClean="0">
                <a:solidFill>
                  <a:srgbClr val="282828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браузером </a:t>
            </a:r>
            <a:r>
              <a:rPr lang="ru-RU" sz="2800" b="1" u="sng" dirty="0" smtClean="0">
                <a:solidFill>
                  <a:srgbClr val="B22222"/>
                </a:solidFill>
                <a:latin typeface="Arial"/>
                <a:ea typeface="Times New Roman"/>
              </a:rPr>
              <a:t>table-</a:t>
            </a:r>
            <a:r>
              <a:rPr lang="ru-RU" sz="2800" b="1" u="sng" dirty="0" err="1" smtClean="0">
                <a:solidFill>
                  <a:srgbClr val="B22222"/>
                </a:solidFill>
                <a:latin typeface="Arial"/>
                <a:ea typeface="Times New Roman"/>
              </a:rPr>
              <a:t>layout</a:t>
            </a:r>
            <a:r>
              <a:rPr lang="ru-RU" sz="4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endParaRPr lang="ru-RU" sz="4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567540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по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умолчанию ‒ алгоритм </a:t>
            </a:r>
            <a:r>
              <a:rPr lang="ru-RU" sz="2800" dirty="0">
                <a:solidFill>
                  <a:srgbClr val="FF0000"/>
                </a:solidFill>
                <a:latin typeface="Arial"/>
                <a:ea typeface="Times New Roman"/>
              </a:rPr>
              <a:t>автоматического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 размещения макета таблицы браузером. </a:t>
            </a:r>
            <a:r>
              <a:rPr lang="ru-RU" sz="2800" b="1" dirty="0" smtClean="0">
                <a:solidFill>
                  <a:srgbClr val="000000"/>
                </a:solidFill>
                <a:latin typeface="Arial"/>
                <a:ea typeface="Times New Roman"/>
              </a:rPr>
              <a:t>ширина </a:t>
            </a: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</a:rPr>
              <a:t>столбца задается самым широким неразрывным содержимым ячейки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.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медленный, браузер читает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все содержимое в таблице,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потом определяет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её окончательный макет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.</a:t>
            </a:r>
          </a:p>
          <a:p>
            <a:pPr algn="just">
              <a:spcAft>
                <a:spcPts val="0"/>
              </a:spcAft>
            </a:pPr>
            <a:endParaRPr lang="ru-RU" sz="2800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  <a:ea typeface="Times New Roman"/>
              </a:rPr>
              <a:t>фиксированный</a:t>
            </a:r>
            <a:r>
              <a:rPr lang="ru-RU" sz="2800" b="1" dirty="0" smtClean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тип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размещения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макета: </a:t>
            </a:r>
          </a:p>
          <a:p>
            <a:pPr algn="just">
              <a:spcAft>
                <a:spcPts val="0"/>
              </a:spcAft>
            </a:pPr>
            <a:r>
              <a:rPr lang="ru-RU" sz="2800" b="1" u="sng" dirty="0" smtClean="0">
                <a:solidFill>
                  <a:srgbClr val="B22222"/>
                </a:solidFill>
                <a:latin typeface="Arial"/>
                <a:ea typeface="Times New Roman"/>
              </a:rPr>
              <a:t>table-</a:t>
            </a:r>
            <a:r>
              <a:rPr lang="ru-RU" sz="2800" b="1" u="sng" dirty="0" err="1" smtClean="0">
                <a:solidFill>
                  <a:srgbClr val="B22222"/>
                </a:solidFill>
                <a:latin typeface="Arial"/>
                <a:ea typeface="Times New Roman"/>
              </a:rPr>
              <a:t>layout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: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2800" b="1" dirty="0" err="1" smtClean="0">
                <a:solidFill>
                  <a:srgbClr val="4B0082"/>
                </a:solidFill>
                <a:latin typeface="Arial"/>
                <a:ea typeface="Times New Roman"/>
              </a:rPr>
              <a:t>fixed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;</a:t>
            </a:r>
            <a:endParaRPr lang="ru-RU" sz="2800" dirty="0">
              <a:latin typeface="Times New Roman"/>
              <a:ea typeface="Times New Roman"/>
            </a:endParaRPr>
          </a:p>
          <a:p>
            <a:pPr algn="just"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горизонтальное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размещение зависит только </a:t>
            </a:r>
            <a:r>
              <a:rPr lang="ru-RU" sz="2800" b="1" dirty="0">
                <a:solidFill>
                  <a:srgbClr val="000000"/>
                </a:solidFill>
                <a:latin typeface="Arial"/>
                <a:ea typeface="Times New Roman"/>
              </a:rPr>
              <a:t>от ширины таблицы и ширины столбцов, а не от содержимого ячеек.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отображение таблицы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сразу после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получения первой строки. быстрее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,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рекомендуется при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работе с большими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таблицами</a:t>
            </a:r>
            <a:endParaRPr lang="ru-RU" sz="28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465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en-US" sz="2800" b="1" dirty="0">
                <a:solidFill>
                  <a:srgbClr val="B22222"/>
                </a:solidFill>
                <a:latin typeface="Arial"/>
              </a:rPr>
              <a:t>width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en-US" sz="2800" b="1" dirty="0">
                <a:solidFill>
                  <a:srgbClr val="4B0082"/>
                </a:solidFill>
                <a:latin typeface="Arial"/>
              </a:rPr>
              <a:t>50</a:t>
            </a:r>
            <a:r>
              <a:rPr lang="en-US" sz="2800" b="1" dirty="0" smtClean="0">
                <a:solidFill>
                  <a:srgbClr val="4B0082"/>
                </a:solidFill>
                <a:latin typeface="Arial"/>
              </a:rPr>
              <a:t>%</a:t>
            </a:r>
            <a:r>
              <a:rPr lang="en-US" sz="2800" dirty="0" smtClean="0">
                <a:solidFill>
                  <a:srgbClr val="000000"/>
                </a:solidFill>
                <a:latin typeface="Arial"/>
              </a:rPr>
              <a:t>;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word-wrap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break-word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слово может быть прервано в произвольном месте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Chocolate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test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table-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layout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автоматический алгоритм размещения макета таблицы браузером (по умолчанию)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endParaRPr lang="ru-RU" sz="2800" b="1" dirty="0" smtClean="0">
              <a:solidFill>
                <a:srgbClr val="FF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test2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table-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layout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fixed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фиксированный алгоритм размещения макета таблицы браузером */</a:t>
            </a:r>
            <a:r>
              <a:rPr lang="en-US" sz="2800" b="1" dirty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972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6" y="238359"/>
            <a:ext cx="11939630" cy="600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3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54672"/>
            <a:ext cx="12191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ru-RU" sz="4800" dirty="0">
                <a:solidFill>
                  <a:srgbClr val="282828"/>
                </a:solidFill>
                <a:latin typeface="Consolas" panose="020B0609020204030204" pitchFamily="49" charset="0"/>
                <a:ea typeface="Times New Roman"/>
                <a:cs typeface="Consolas" panose="020B0609020204030204" pitchFamily="49" charset="0"/>
              </a:rPr>
              <a:t>Стилизация строк и столбцов таблицы</a:t>
            </a:r>
            <a:endParaRPr lang="ru-RU" sz="4800" dirty="0">
              <a:latin typeface="Consolas" panose="020B0609020204030204" pitchFamily="49" charset="0"/>
              <a:ea typeface="Times New Roman"/>
              <a:cs typeface="Consolas" panose="020B0609020204030204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" y="1135674"/>
            <a:ext cx="121919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	 border-collapse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collapse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	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tr:nth-child</a:t>
            </a:r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even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)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четные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строки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3px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red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td:nth-child</a:t>
            </a:r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(4n+2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)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#E8E8FF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9" y="4353339"/>
            <a:ext cx="12130461" cy="205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4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29" y="415339"/>
            <a:ext cx="788844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B22222"/>
                </a:solidFill>
                <a:latin typeface="Arial"/>
              </a:rPr>
              <a:t>border-collapse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collapse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	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td</a:t>
            </a:r>
            <a:r>
              <a:rPr lang="ru-RU" sz="2800" b="1" dirty="0">
                <a:solidFill>
                  <a:srgbClr val="000000"/>
                </a:solidFill>
                <a:latin typeface="Arial"/>
              </a:rPr>
              <a:t>,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tfoot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background-color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coral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thead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background-color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silver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tbody</a:t>
            </a:r>
            <a:r>
              <a:rPr lang="ru-RU" sz="2800" b="1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tr:hover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background-color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khaki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" y="3119324"/>
            <a:ext cx="12179472" cy="312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5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1597" y="17430"/>
            <a:ext cx="68739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rgbClr val="000000"/>
                </a:solidFill>
                <a:latin typeface="Arial"/>
                <a:ea typeface="Calibri"/>
              </a:rPr>
              <a:t>скругление </a:t>
            </a:r>
            <a:r>
              <a:rPr lang="ru-RU" sz="3200" dirty="0">
                <a:solidFill>
                  <a:srgbClr val="000000"/>
                </a:solidFill>
                <a:latin typeface="Arial"/>
                <a:ea typeface="Calibri"/>
              </a:rPr>
              <a:t>углов к ячейкам таблиц</a:t>
            </a:r>
            <a:endParaRPr lang="ru-RU" sz="3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1596" y="779258"/>
            <a:ext cx="1205040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table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>
                <a:solidFill>
                  <a:srgbClr val="B22222"/>
                </a:solidFill>
                <a:latin typeface="Arial"/>
              </a:rPr>
              <a:t>margin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0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auto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центр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по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горизонтали внеш.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отступами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th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transparent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прозрачная граница   ‒ зачем?*/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      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th:hover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{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blue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color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orange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border-radius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border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5px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solid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orange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en-US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400" y="5234959"/>
            <a:ext cx="6252895" cy="155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7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45774" y="0"/>
            <a:ext cx="4784035" cy="961473"/>
          </a:xfrm>
        </p:spPr>
        <p:txBody>
          <a:bodyPr>
            <a:normAutofit/>
          </a:bodyPr>
          <a:lstStyle/>
          <a:p>
            <a:r>
              <a:rPr lang="ru-RU" dirty="0" smtClean="0"/>
              <a:t>Трансформация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13360" y="1075782"/>
            <a:ext cx="11284226" cy="4035425"/>
          </a:xfrm>
        </p:spPr>
        <p:txBody>
          <a:bodyPr>
            <a:noAutofit/>
          </a:bodyPr>
          <a:lstStyle/>
          <a:p>
            <a:r>
              <a:rPr lang="ru-RU" sz="3200" i="1" dirty="0"/>
              <a:t>Трансформация</a:t>
            </a:r>
            <a:r>
              <a:rPr lang="ru-RU" sz="3200" dirty="0"/>
              <a:t> </a:t>
            </a:r>
            <a:r>
              <a:rPr lang="ru-RU" sz="3200" dirty="0" smtClean="0"/>
              <a:t>– это </a:t>
            </a:r>
            <a:r>
              <a:rPr lang="ru-RU" sz="3200" dirty="0"/>
              <a:t>изменение вида </a:t>
            </a:r>
            <a:r>
              <a:rPr lang="ru-RU" sz="3200" dirty="0" smtClean="0"/>
              <a:t>элемента следующими модификациями: </a:t>
            </a:r>
            <a:r>
              <a:rPr lang="ru-RU" sz="3200" b="1" dirty="0"/>
              <a:t>поворот</a:t>
            </a:r>
            <a:r>
              <a:rPr lang="ru-RU" sz="3200" dirty="0"/>
              <a:t>, </a:t>
            </a:r>
            <a:r>
              <a:rPr lang="ru-RU" sz="3200" b="1" dirty="0" smtClean="0"/>
              <a:t>наклон</a:t>
            </a:r>
            <a:r>
              <a:rPr lang="ru-RU" sz="3200" dirty="0" smtClean="0"/>
              <a:t>, </a:t>
            </a:r>
            <a:r>
              <a:rPr lang="ru-RU" sz="3200" b="1" dirty="0" smtClean="0"/>
              <a:t>сдвиг</a:t>
            </a:r>
            <a:r>
              <a:rPr lang="ru-RU" sz="3200" dirty="0" smtClean="0"/>
              <a:t>, </a:t>
            </a:r>
            <a:r>
              <a:rPr lang="ru-RU" sz="3200" b="1" dirty="0" smtClean="0"/>
              <a:t>масштабирование </a:t>
            </a:r>
            <a:r>
              <a:rPr lang="ru-RU" sz="3200" dirty="0" smtClean="0"/>
              <a:t>без влияния на другие элементы  (не влияют на поток)</a:t>
            </a:r>
          </a:p>
          <a:p>
            <a:r>
              <a:rPr lang="ru-RU" sz="2800" dirty="0" smtClean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ru-RU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функция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параметры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 Допускается перечислять несколько функций в одном объявлении (разделённые пробелом).</a:t>
            </a:r>
          </a:p>
          <a:p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transform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800" i="1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 /*</a:t>
            </a:r>
            <a:r>
              <a:rPr lang="ru-RU" sz="2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по умолчанию, нет трансформации*/</a:t>
            </a:r>
          </a:p>
          <a:p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74662" y="4536213"/>
            <a:ext cx="1137596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 </a:t>
            </a:r>
            <a:r>
              <a:rPr lang="ru-RU" sz="2800" dirty="0" err="1" smtClean="0">
                <a:solidFill>
                  <a:srgbClr val="E655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transform-origin</a:t>
            </a:r>
            <a:r>
              <a:rPr lang="ru-RU" sz="28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позволяет изменять точку начала преобразования (работает как </a:t>
            </a:r>
            <a:r>
              <a:rPr lang="ru-RU" sz="2800" dirty="0" err="1">
                <a:solidFill>
                  <a:srgbClr val="E655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background-position</a:t>
            </a:r>
            <a:r>
              <a:rPr lang="ru-RU" sz="28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свойство </a:t>
            </a:r>
            <a:r>
              <a:rPr lang="ru-RU" sz="2800" dirty="0" err="1" smtClean="0">
                <a:solidFill>
                  <a:srgbClr val="E655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transform-style</a:t>
            </a:r>
            <a:r>
              <a:rPr lang="ru-RU" sz="28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для настройки 3D.</a:t>
            </a:r>
            <a:endParaRPr lang="ru-RU" sz="28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6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60174" y="1071011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Трансформация будет работать не для всех элементов (это согласуется со спецификацией </a:t>
            </a:r>
            <a:r>
              <a:rPr lang="en-US" sz="3200" dirty="0" smtClean="0"/>
              <a:t>CSS3</a:t>
            </a:r>
            <a:r>
              <a:rPr lang="ru-RU" sz="3200" dirty="0" smtClean="0"/>
              <a:t>)!</a:t>
            </a:r>
            <a:endParaRPr lang="en-US" sz="3200" dirty="0" smtClean="0"/>
          </a:p>
          <a:p>
            <a:r>
              <a:rPr lang="en-US" sz="2800" dirty="0">
                <a:hlinkClick r:id="rId3"/>
              </a:rPr>
              <a:t>http://www.w3.org/TR/css-transforms-1/#</a:t>
            </a:r>
            <a:r>
              <a:rPr lang="en-US" sz="2800" dirty="0" smtClean="0">
                <a:hlinkClick r:id="rId3"/>
              </a:rPr>
              <a:t>transformable-element</a:t>
            </a:r>
            <a:endParaRPr lang="en-US" sz="2800" dirty="0" smtClean="0"/>
          </a:p>
          <a:p>
            <a:endParaRPr lang="ru-RU" sz="3200" dirty="0" smtClean="0"/>
          </a:p>
          <a:p>
            <a:r>
              <a:rPr lang="ru-RU" sz="3200" dirty="0" smtClean="0"/>
              <a:t>Если коротко – </a:t>
            </a:r>
            <a:r>
              <a:rPr lang="ru-RU" sz="3200" b="1" dirty="0" smtClean="0"/>
              <a:t>для блочных работает, для строчных нет.</a:t>
            </a:r>
          </a:p>
          <a:p>
            <a:endParaRPr lang="ru-RU" sz="3200" b="1" dirty="0"/>
          </a:p>
          <a:p>
            <a:r>
              <a:rPr lang="ru-RU" sz="3200" b="1" dirty="0" smtClean="0"/>
              <a:t>Рекомендуются </a:t>
            </a:r>
            <a:r>
              <a:rPr lang="ru-RU" sz="3200" b="1" dirty="0" err="1" smtClean="0"/>
              <a:t>вендорные</a:t>
            </a:r>
            <a:r>
              <a:rPr lang="ru-RU" sz="3200" b="1" dirty="0" smtClean="0"/>
              <a:t> префиксы для поддержки браузерами</a:t>
            </a:r>
          </a:p>
        </p:txBody>
      </p:sp>
    </p:spTree>
    <p:extLst>
      <p:ext uri="{BB962C8B-B14F-4D97-AF65-F5344CB8AC3E}">
        <p14:creationId xmlns:p14="http://schemas.microsoft.com/office/powerpoint/2010/main" val="426363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85534" y="28923"/>
            <a:ext cx="10058400" cy="845723"/>
          </a:xfrm>
        </p:spPr>
        <p:txBody>
          <a:bodyPr>
            <a:normAutofit/>
          </a:bodyPr>
          <a:lstStyle/>
          <a:p>
            <a:r>
              <a:rPr lang="ru-RU" dirty="0" smtClean="0"/>
              <a:t>Функции трансформации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05439170"/>
              </p:ext>
            </p:extLst>
          </p:nvPr>
        </p:nvGraphicFramePr>
        <p:xfrm>
          <a:off x="0" y="911984"/>
          <a:ext cx="12125739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40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916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Имя функции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Что делает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rotate(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угол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endParaRPr lang="en-U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Поворачивает элемент относительно точки трансформации, задаваемой свойством </a:t>
                      </a:r>
                      <a:r>
                        <a:rPr lang="ru-RU" sz="2400" b="0" i="0" kern="1200" dirty="0" err="1" smtClean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transform-origin</a:t>
                      </a:r>
                      <a:r>
                        <a:rPr lang="ru-RU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scale(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число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scaleX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число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scaleY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число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endParaRPr lang="en-US" sz="2400" b="0" i="0" u="none" strike="noStrike" kern="1200" baseline="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Изменение масштаба элемента по осям (возможно, с отражением элемента – при отрицательных аргументах)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translate(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размер или %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translateX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размер или %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translateY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размер или %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endParaRPr lang="en-US" sz="2400" b="0" i="0" u="none" strike="noStrike" kern="1200" baseline="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Сдвиг элемента по осям.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skew(x-</a:t>
                      </a:r>
                      <a:r>
                        <a:rPr lang="ru-RU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angle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, y-</a:t>
                      </a:r>
                      <a:r>
                        <a:rPr lang="ru-RU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angle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skewX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angle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skewY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ru-RU" sz="2400" b="0" i="0" u="none" strike="noStrike" kern="1200" baseline="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angle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endParaRPr lang="en-US" sz="2400" b="0" i="0" u="none" strike="noStrike" kern="1200" baseline="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Наклон элемента на заданный угол по осям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matrix(6 </a:t>
                      </a:r>
                      <a:r>
                        <a:rPr lang="ru-RU" sz="2400" b="0" i="1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чисел</a:t>
                      </a:r>
                      <a:r>
                        <a:rPr lang="en-US" sz="2400" b="0" i="0" u="none" strike="noStrike" kern="1200" baseline="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)</a:t>
                      </a:r>
                      <a:endParaRPr lang="en-US" sz="2400" b="0" i="0" u="none" strike="noStrike" kern="1200" baseline="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Задаёт </a:t>
                      </a:r>
                      <a:r>
                        <a:rPr lang="ru-RU" sz="2400" b="0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матрицу трансформации</a:t>
                      </a: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15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816" y="4092934"/>
            <a:ext cx="3664227" cy="219853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97565" y="0"/>
            <a:ext cx="1167847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0000"/>
                </a:solidFill>
                <a:latin typeface="Arial"/>
              </a:rPr>
              <a:t>.</a:t>
            </a:r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static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margin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внешний отступ */ </a:t>
            </a: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gray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display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inline-block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;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</a:p>
          <a:p>
            <a:r>
              <a:rPr lang="ru-RU" sz="2800" b="1" dirty="0" err="1" smtClean="0">
                <a:solidFill>
                  <a:srgbClr val="000000"/>
                </a:solidFill>
                <a:latin typeface="Arial"/>
              </a:rPr>
              <a:t>div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180px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text-align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center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line-height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transition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</a:rPr>
              <a:t>s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linear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 /* устанавливаем длительность переходного эффекта 1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 секунда </a:t>
            </a:r>
            <a:r>
              <a:rPr lang="ru-RU" sz="2800" b="1" dirty="0">
                <a:solidFill>
                  <a:srgbClr val="228B22"/>
                </a:solidFill>
                <a:latin typeface="Arial"/>
              </a:rPr>
              <a:t>с одинаковой скоростью от начала до конца </a:t>
            </a:r>
            <a:r>
              <a:rPr lang="ru-RU" sz="2800" b="1" dirty="0" smtClean="0">
                <a:solidFill>
                  <a:srgbClr val="228B22"/>
                </a:solidFill>
                <a:latin typeface="Arial"/>
              </a:rPr>
              <a:t>*/</a:t>
            </a:r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</a:p>
          <a:p>
            <a:r>
              <a:rPr lang="en-US" sz="2800" dirty="0"/>
              <a:t>.test, .test3, .test5.test2, .test4, .test6 </a:t>
            </a:r>
            <a:endParaRPr lang="ru-RU" sz="2800" dirty="0" smtClean="0"/>
          </a:p>
          <a:p>
            <a:r>
              <a:rPr lang="en-US" sz="2800" dirty="0" smtClean="0"/>
              <a:t>{ </a:t>
            </a:r>
            <a:r>
              <a:rPr lang="en-US" sz="2800" dirty="0"/>
              <a:t>background: plum;} </a:t>
            </a:r>
            <a:endParaRPr lang="ru-RU" sz="2800" dirty="0" smtClean="0"/>
          </a:p>
          <a:p>
            <a:r>
              <a:rPr lang="ru-RU" sz="2800" b="1" dirty="0">
                <a:solidFill>
                  <a:srgbClr val="FF0000"/>
                </a:solidFill>
              </a:rPr>
              <a:t>.</a:t>
            </a:r>
            <a:r>
              <a:rPr lang="ru-RU" sz="2800" b="1" dirty="0" err="1">
                <a:solidFill>
                  <a:srgbClr val="FF0000"/>
                </a:solidFill>
              </a:rPr>
              <a:t>test:hover</a:t>
            </a:r>
            <a:r>
              <a:rPr lang="ru-RU" sz="2800" b="1" dirty="0">
                <a:solidFill>
                  <a:srgbClr val="FF0000"/>
                </a:solidFill>
              </a:rPr>
              <a:t> {</a:t>
            </a:r>
          </a:p>
          <a:p>
            <a:r>
              <a:rPr lang="ru-RU" sz="2800" b="1" dirty="0" smtClean="0">
                <a:solidFill>
                  <a:srgbClr val="FF0000"/>
                </a:solidFill>
              </a:rPr>
              <a:t>transform</a:t>
            </a:r>
            <a:r>
              <a:rPr lang="ru-RU" sz="2800" b="1" dirty="0">
                <a:solidFill>
                  <a:srgbClr val="FF0000"/>
                </a:solidFill>
              </a:rPr>
              <a:t>: </a:t>
            </a:r>
            <a:r>
              <a:rPr lang="ru-RU" sz="2800" b="1" dirty="0" err="1">
                <a:solidFill>
                  <a:srgbClr val="FF0000"/>
                </a:solidFill>
              </a:rPr>
              <a:t>translate</a:t>
            </a:r>
            <a:r>
              <a:rPr lang="ru-RU" sz="2800" b="1" dirty="0">
                <a:solidFill>
                  <a:srgbClr val="FF0000"/>
                </a:solidFill>
              </a:rPr>
              <a:t>(-20px, -20px);  </a:t>
            </a:r>
            <a:endParaRPr lang="ru-RU" sz="2800" b="1" dirty="0" smtClean="0">
              <a:solidFill>
                <a:srgbClr val="FF0000"/>
              </a:solidFill>
            </a:endParaRPr>
          </a:p>
          <a:p>
            <a:r>
              <a:rPr lang="ru-RU" sz="2800" b="1" dirty="0" smtClean="0">
                <a:solidFill>
                  <a:srgbClr val="FF0000"/>
                </a:solidFill>
              </a:rPr>
              <a:t>/* сдвиг </a:t>
            </a:r>
            <a:r>
              <a:rPr lang="ru-RU" sz="2800" b="1" dirty="0">
                <a:solidFill>
                  <a:srgbClr val="FF0000"/>
                </a:solidFill>
              </a:rPr>
              <a:t>элемента влево и </a:t>
            </a:r>
            <a:r>
              <a:rPr lang="ru-RU" sz="2800" b="1" dirty="0" smtClean="0">
                <a:solidFill>
                  <a:srgbClr val="FF0000"/>
                </a:solidFill>
              </a:rPr>
              <a:t>вверх*/</a:t>
            </a:r>
            <a:endParaRPr lang="ru-RU" sz="2800" b="1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281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7431" y="379790"/>
            <a:ext cx="105559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.test2:hover {transform: </a:t>
            </a:r>
            <a:r>
              <a:rPr lang="ru-RU" sz="2800" dirty="0" err="1"/>
              <a:t>scaleX</a:t>
            </a:r>
            <a:r>
              <a:rPr lang="ru-RU" sz="2800" dirty="0"/>
              <a:t>(.5); </a:t>
            </a:r>
            <a:endParaRPr lang="ru-RU" sz="2800" dirty="0" smtClean="0"/>
          </a:p>
          <a:p>
            <a:r>
              <a:rPr lang="ru-RU" sz="2800" dirty="0" smtClean="0"/>
              <a:t>/* </a:t>
            </a:r>
            <a:r>
              <a:rPr lang="ru-RU" sz="2800" dirty="0"/>
              <a:t>двухмерное преобразование путем масштабирования элемента, используя только значение по оси x. */ } </a:t>
            </a:r>
            <a:endParaRPr lang="ru-RU" sz="2800" dirty="0" smtClean="0"/>
          </a:p>
          <a:p>
            <a:endParaRPr lang="ru-RU" sz="2800" dirty="0"/>
          </a:p>
          <a:p>
            <a:endParaRPr lang="ru-RU" sz="2800" dirty="0" smtClean="0"/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.</a:t>
            </a:r>
            <a:r>
              <a:rPr lang="ru-RU" sz="2800" dirty="0"/>
              <a:t>test3:hover {transform: </a:t>
            </a:r>
            <a:r>
              <a:rPr lang="ru-RU" sz="2800" dirty="0" err="1" smtClean="0"/>
              <a:t>scale</a:t>
            </a:r>
            <a:r>
              <a:rPr lang="ru-RU" sz="2800" dirty="0" smtClean="0"/>
              <a:t>( </a:t>
            </a:r>
            <a:r>
              <a:rPr lang="ru-RU" sz="2800" dirty="0"/>
              <a:t>0.5); </a:t>
            </a:r>
            <a:endParaRPr lang="ru-RU" sz="2800" dirty="0" smtClean="0"/>
          </a:p>
          <a:p>
            <a:r>
              <a:rPr lang="ru-RU" sz="2800" dirty="0" smtClean="0"/>
              <a:t>/* </a:t>
            </a:r>
            <a:r>
              <a:rPr lang="ru-RU" sz="2800" dirty="0"/>
              <a:t>двухмерное преобразование путем масштабирования элемента по оси x и по оси y.  */ }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713" y="1550504"/>
            <a:ext cx="3048000" cy="18288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052" y="4343400"/>
            <a:ext cx="3048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304" y="263728"/>
            <a:ext cx="120456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.</a:t>
            </a:r>
            <a:r>
              <a:rPr lang="en-US" sz="2800" dirty="0" err="1"/>
              <a:t>thumb:hover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scale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1</a:t>
            </a:r>
            <a:r>
              <a:rPr lang="en-US" sz="2800" dirty="0"/>
              <a:t>.</a:t>
            </a:r>
            <a:r>
              <a:rPr lang="en-US" sz="2800" dirty="0">
                <a:solidFill>
                  <a:srgbClr val="31A354"/>
                </a:solidFill>
              </a:rPr>
              <a:t>1</a:t>
            </a:r>
            <a:r>
              <a:rPr lang="en-US" sz="2800" dirty="0"/>
              <a:t>) !important; </a:t>
            </a:r>
            <a:r>
              <a:rPr lang="en-US" sz="2800" dirty="0">
                <a:solidFill>
                  <a:srgbClr val="999988"/>
                </a:solidFill>
              </a:rPr>
              <a:t>/* </a:t>
            </a:r>
            <a:r>
              <a:rPr lang="ru-RU" sz="2800" dirty="0">
                <a:solidFill>
                  <a:srgbClr val="999988"/>
                </a:solidFill>
              </a:rPr>
              <a:t>Увеличиваем фотографию */</a:t>
            </a:r>
            <a:r>
              <a:rPr lang="ru-RU" sz="2800" dirty="0"/>
              <a:t> }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84" y="1408176"/>
            <a:ext cx="8939525" cy="460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8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644055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.test4:hover {transform: </a:t>
            </a:r>
            <a:r>
              <a:rPr lang="ru-RU" sz="2800" dirty="0" err="1"/>
              <a:t>rotate</a:t>
            </a:r>
            <a:r>
              <a:rPr lang="ru-RU" sz="2800" dirty="0"/>
              <a:t>(2turn); /* двухмерное преобразование путем поворота элемента по часовой стрелке (2 полных оборота окружности) */ }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2585077"/>
            <a:ext cx="7315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.test5:hover {transform: </a:t>
            </a:r>
            <a:r>
              <a:rPr lang="ru-RU" sz="2800" dirty="0" err="1"/>
              <a:t>skewY</a:t>
            </a:r>
            <a:r>
              <a:rPr lang="ru-RU" sz="2800" dirty="0"/>
              <a:t>(20deg); /* двухмерное преобразование путем наклона элемента относительно оси y */ </a:t>
            </a:r>
            <a:r>
              <a:rPr lang="ru-RU" sz="2800" dirty="0" smtClean="0"/>
              <a:t>}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8426" y="4750951"/>
            <a:ext cx="6918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dirty="0">
                <a:solidFill>
                  <a:prstClr val="black"/>
                </a:solidFill>
              </a:rPr>
              <a:t> .test6:hover {transform: </a:t>
            </a:r>
            <a:r>
              <a:rPr lang="ru-RU" sz="2800" dirty="0" err="1">
                <a:solidFill>
                  <a:prstClr val="black"/>
                </a:solidFill>
              </a:rPr>
              <a:t>matrix</a:t>
            </a:r>
            <a:r>
              <a:rPr lang="ru-RU" sz="2800" dirty="0">
                <a:solidFill>
                  <a:prstClr val="black"/>
                </a:solidFill>
              </a:rPr>
              <a:t>(.7,0,.5,.7,-99,-99); /* двухмерное преобразование с помощью матрицы из шести значений */ }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791" y="0"/>
            <a:ext cx="3048000" cy="18288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791" y="2514600"/>
            <a:ext cx="3048000" cy="18288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791" y="4529048"/>
            <a:ext cx="3048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01394" y="438978"/>
            <a:ext cx="118050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4B0082"/>
                </a:solidFill>
                <a:latin typeface="Arial"/>
                <a:ea typeface="Calibri"/>
              </a:rPr>
              <a:t>matrix(</a:t>
            </a:r>
            <a:r>
              <a:rPr lang="en-US" sz="3200" b="1" dirty="0" err="1">
                <a:solidFill>
                  <a:srgbClr val="4B0082"/>
                </a:solidFill>
                <a:latin typeface="Arial"/>
                <a:ea typeface="Calibri"/>
              </a:rPr>
              <a:t>n,n,n,n,n,n</a:t>
            </a:r>
            <a:r>
              <a:rPr lang="en-US" sz="3200" b="1" dirty="0" smtClean="0">
                <a:solidFill>
                  <a:srgbClr val="4B0082"/>
                </a:solidFill>
                <a:latin typeface="Arial"/>
                <a:ea typeface="Calibri"/>
              </a:rPr>
              <a:t>)</a:t>
            </a:r>
            <a:r>
              <a:rPr lang="ru-RU" sz="3200" b="1" dirty="0" smtClean="0">
                <a:solidFill>
                  <a:srgbClr val="4B0082"/>
                </a:solidFill>
                <a:latin typeface="Arial"/>
                <a:ea typeface="Calibri"/>
              </a:rPr>
              <a:t> ‒ </a:t>
            </a:r>
            <a:r>
              <a:rPr lang="ru-RU" sz="3200" dirty="0" smtClean="0"/>
              <a:t>определяет </a:t>
            </a:r>
            <a:r>
              <a:rPr lang="ru-RU" sz="3200" dirty="0"/>
              <a:t>двухмерное преобразование с помощью матрицы из шести значений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04" y="1928193"/>
            <a:ext cx="5941626" cy="2609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77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-1" y="0"/>
            <a:ext cx="6042992" cy="40354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banana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padding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display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inline-block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rotate(-45deg)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scale(1.</a:t>
            </a:r>
            <a:r>
              <a:rPr lang="ru-RU" sz="28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sz="28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8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fruittext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There are lots of different kinds of fruit - there are over 500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varieties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of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="banana"&gt;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banana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span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alone. By the time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 the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countless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types of apples, oranges, and other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well-known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fruit, we are faced with thousands of choices.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dirty="0" smtClean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/>
          <a:srcRect t="20299"/>
          <a:stretch/>
        </p:blipFill>
        <p:spPr>
          <a:xfrm>
            <a:off x="5844209" y="3103536"/>
            <a:ext cx="6327913" cy="33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4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55983" y="1081077"/>
            <a:ext cx="106746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2800" b="1" dirty="0">
                <a:solidFill>
                  <a:srgbClr val="B22222"/>
                </a:solidFill>
                <a:latin typeface="Arial"/>
                <a:ea typeface="Times New Roman"/>
              </a:rPr>
              <a:t>transform-</a:t>
            </a:r>
            <a:r>
              <a:rPr lang="ru-RU" sz="2800" b="1" dirty="0" err="1">
                <a:solidFill>
                  <a:srgbClr val="B22222"/>
                </a:solidFill>
                <a:latin typeface="Arial"/>
                <a:ea typeface="Times New Roman"/>
              </a:rPr>
              <a:t>origin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Times New Roman"/>
              </a:rPr>
              <a:t> указывает начало координат преобразования (трансформации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) элемента ‒ по умолчанию центр</a:t>
            </a:r>
          </a:p>
          <a:p>
            <a:pPr algn="just"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используется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совместно </a:t>
            </a:r>
            <a:r>
              <a:rPr lang="ru-RU" sz="2800" dirty="0">
                <a:solidFill>
                  <a:srgbClr val="000000"/>
                </a:solidFill>
                <a:latin typeface="Arial"/>
                <a:ea typeface="Calibri"/>
              </a:rPr>
              <a:t>со 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Calibri"/>
              </a:rPr>
              <a:t>свойством </a:t>
            </a:r>
            <a:r>
              <a:rPr lang="ru-RU" sz="2800" b="1" u="sng" dirty="0" smtClean="0">
                <a:solidFill>
                  <a:srgbClr val="B22222"/>
                </a:solidFill>
                <a:latin typeface="Arial"/>
                <a:ea typeface="Calibri"/>
                <a:cs typeface="Times New Roman"/>
              </a:rPr>
              <a:t>transform</a:t>
            </a:r>
            <a:r>
              <a:rPr lang="ru-RU" sz="2800" dirty="0" smtClean="0">
                <a:solidFill>
                  <a:srgbClr val="000000"/>
                </a:solidFill>
                <a:latin typeface="Arial"/>
                <a:ea typeface="Times New Roman"/>
              </a:rPr>
              <a:t>.</a:t>
            </a:r>
            <a:endParaRPr lang="ru-RU" sz="2800" dirty="0">
              <a:latin typeface="Times New Roman"/>
              <a:ea typeface="Times New Roman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96" y="2525706"/>
            <a:ext cx="8110330" cy="4332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6195391" cy="8819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Точка трансформации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908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96349" y="1051132"/>
            <a:ext cx="10058400" cy="40354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rotate(-45deg)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scale(-1)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transform-origin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713" y="2169807"/>
            <a:ext cx="6046967" cy="403478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6349" y="328056"/>
            <a:ext cx="71561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solidFill>
                  <a:srgbClr val="B22222"/>
                </a:solidFill>
                <a:latin typeface="Arial"/>
              </a:rPr>
              <a:t>transform-origin:</a:t>
            </a:r>
            <a:r>
              <a:rPr lang="en-US" sz="2800" b="1" dirty="0" err="1" smtClean="0">
                <a:solidFill>
                  <a:srgbClr val="4B0082"/>
                </a:solidFill>
                <a:latin typeface="Arial"/>
              </a:rPr>
              <a:t>x-axis</a:t>
            </a:r>
            <a:r>
              <a:rPr lang="en-US" sz="2800" b="1" dirty="0" smtClean="0">
                <a:solidFill>
                  <a:srgbClr val="4B0082"/>
                </a:solidFill>
                <a:latin typeface="Arial"/>
              </a:rPr>
              <a:t> </a:t>
            </a:r>
            <a:r>
              <a:rPr lang="en-US" sz="2800" b="1" dirty="0">
                <a:solidFill>
                  <a:srgbClr val="4B0082"/>
                </a:solidFill>
                <a:latin typeface="Arial"/>
              </a:rPr>
              <a:t>y-axis z-axis </a:t>
            </a:r>
            <a:r>
              <a:rPr lang="ru-RU" sz="2800" b="1" dirty="0" smtClean="0">
                <a:solidFill>
                  <a:srgbClr val="4B0082"/>
                </a:solidFill>
                <a:latin typeface="Arial"/>
              </a:rPr>
              <a:t>;</a:t>
            </a:r>
            <a:endParaRPr lang="ru-RU" sz="2800" dirty="0" smtClean="0">
              <a:solidFill>
                <a:srgbClr val="000000"/>
              </a:solidFill>
              <a:latin typeface="Arial"/>
            </a:endParaRPr>
          </a:p>
          <a:p>
            <a:endParaRPr lang="ru-RU" sz="2800" dirty="0" smtClean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269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81878" y="1190281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Сайт, на котором можно сгенерировать трансформацию:</a:t>
            </a:r>
          </a:p>
          <a:p>
            <a:r>
              <a:rPr lang="en-US" sz="3200" dirty="0">
                <a:hlinkClick r:id="rId3"/>
              </a:rPr>
              <a:t>http://www.westciv.com/tools/transforms</a:t>
            </a:r>
            <a:r>
              <a:rPr lang="en-US" sz="3200" dirty="0" smtClean="0">
                <a:hlinkClick r:id="rId3"/>
              </a:rPr>
              <a:t>/</a:t>
            </a:r>
            <a:endParaRPr lang="ru-RU" sz="3200" dirty="0" smtClean="0"/>
          </a:p>
          <a:p>
            <a:r>
              <a:rPr lang="ru-RU" sz="3200" dirty="0" smtClean="0"/>
              <a:t>(также там можно сгенерировать: градиенты, свойства блока и текста)</a:t>
            </a:r>
          </a:p>
        </p:txBody>
      </p:sp>
    </p:spTree>
    <p:extLst>
      <p:ext uri="{BB962C8B-B14F-4D97-AF65-F5344CB8AC3E}">
        <p14:creationId xmlns:p14="http://schemas.microsoft.com/office/powerpoint/2010/main" val="212778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7187</TotalTime>
  <Words>4883</Words>
  <Application>Microsoft Office PowerPoint</Application>
  <PresentationFormat>Широкоэкранный</PresentationFormat>
  <Paragraphs>966</Paragraphs>
  <Slides>132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132</vt:i4>
      </vt:variant>
    </vt:vector>
  </HeadingPairs>
  <TitlesOfParts>
    <vt:vector size="151" baseType="lpstr">
      <vt:lpstr>Arial</vt:lpstr>
      <vt:lpstr>Arial Black</vt:lpstr>
      <vt:lpstr>Calibri</vt:lpstr>
      <vt:lpstr>Calibri Light</vt:lpstr>
      <vt:lpstr>Comic Sans MS</vt:lpstr>
      <vt:lpstr>Consolas</vt:lpstr>
      <vt:lpstr>Courier New</vt:lpstr>
      <vt:lpstr>Fira</vt:lpstr>
      <vt:lpstr>Helvetica</vt:lpstr>
      <vt:lpstr>Helvetica Neue</vt:lpstr>
      <vt:lpstr>Impact</vt:lpstr>
      <vt:lpstr>Lucida Sans Unicode</vt:lpstr>
      <vt:lpstr>Roboto</vt:lpstr>
      <vt:lpstr>Tahoma</vt:lpstr>
      <vt:lpstr>Times New Roman</vt:lpstr>
      <vt:lpstr>Trebuchet MS</vt:lpstr>
      <vt:lpstr>Verdana</vt:lpstr>
      <vt:lpstr>Wingdings</vt:lpstr>
      <vt:lpstr>Retrospect</vt:lpstr>
      <vt:lpstr>СОВРЕМЕННЫЕ ТЕХНОЛОГИИ РАЗРАБОТКИ WEB-ПРИЛОЖЕНИЙ</vt:lpstr>
      <vt:lpstr>Текст, таблицы, анимация</vt:lpstr>
      <vt:lpstr>Форматирование текста в CSS</vt:lpstr>
      <vt:lpstr>Выравнивание текста</vt:lpstr>
      <vt:lpstr>Красная строка</vt:lpstr>
      <vt:lpstr>Презентация PowerPoint</vt:lpstr>
      <vt:lpstr>Установка междустрочного интервала</vt:lpstr>
      <vt:lpstr>Презентация PowerPoint</vt:lpstr>
      <vt:lpstr>Презентация PowerPoint</vt:lpstr>
      <vt:lpstr>Интервал между словами и символами</vt:lpstr>
      <vt:lpstr>Презентация PowerPoint</vt:lpstr>
      <vt:lpstr>Презентация PowerPoint</vt:lpstr>
      <vt:lpstr>Сохранение пробелов</vt:lpstr>
      <vt:lpstr>Перенос и разрыв слов</vt:lpstr>
      <vt:lpstr>Презентация PowerPoint</vt:lpstr>
      <vt:lpstr>Презентация PowerPoint</vt:lpstr>
      <vt:lpstr>Перенос и разрыв слов</vt:lpstr>
      <vt:lpstr>Презентация PowerPoint</vt:lpstr>
      <vt:lpstr>«Обрезка» текста в блоке</vt:lpstr>
      <vt:lpstr>Презентация PowerPoint</vt:lpstr>
      <vt:lpstr>Декорирование текста</vt:lpstr>
      <vt:lpstr>Презентация PowerPoint</vt:lpstr>
      <vt:lpstr>Презентация PowerPoint</vt:lpstr>
      <vt:lpstr>Изменение регистра</vt:lpstr>
      <vt:lpstr>Презентация PowerPoint</vt:lpstr>
      <vt:lpstr>Кернинг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Тень для текста</vt:lpstr>
      <vt:lpstr>Презентация PowerPoint</vt:lpstr>
      <vt:lpstr>Презентация PowerPoint</vt:lpstr>
      <vt:lpstr>Презентация PowerPoint</vt:lpstr>
      <vt:lpstr>Шрифт</vt:lpstr>
      <vt:lpstr>font-family</vt:lpstr>
      <vt:lpstr>Презентация PowerPoint</vt:lpstr>
      <vt:lpstr>Презентация PowerPoint</vt:lpstr>
      <vt:lpstr>Презентация PowerPoint</vt:lpstr>
      <vt:lpstr>font-size</vt:lpstr>
      <vt:lpstr>Презентация PowerPoint</vt:lpstr>
      <vt:lpstr>Презентация PowerPoint</vt:lpstr>
      <vt:lpstr>font-weight</vt:lpstr>
      <vt:lpstr>Презентация PowerPoint</vt:lpstr>
      <vt:lpstr>Шрифт</vt:lpstr>
      <vt:lpstr>Презентация PowerPoint</vt:lpstr>
      <vt:lpstr>Презентация PowerPoint</vt:lpstr>
      <vt:lpstr>Добавление веб-шрифта на страницу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Списки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Счетчики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Таблицы</vt:lpstr>
      <vt:lpstr>Презентация PowerPoint</vt:lpstr>
      <vt:lpstr>Свойство display ‒ как отображается элемент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Трансформация</vt:lpstr>
      <vt:lpstr>Презентация PowerPoint</vt:lpstr>
      <vt:lpstr>Функции трансформации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zhvakina</dc:creator>
  <cp:lastModifiedBy>ANNA</cp:lastModifiedBy>
  <cp:revision>562</cp:revision>
  <cp:lastPrinted>2016-01-26T13:20:45Z</cp:lastPrinted>
  <dcterms:created xsi:type="dcterms:W3CDTF">2015-03-09T11:51:14Z</dcterms:created>
  <dcterms:modified xsi:type="dcterms:W3CDTF">2023-09-11T11:44:59Z</dcterms:modified>
</cp:coreProperties>
</file>