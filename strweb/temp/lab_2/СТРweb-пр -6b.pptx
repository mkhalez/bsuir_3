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103"/>
  </p:notesMasterIdLst>
  <p:handoutMasterIdLst>
    <p:handoutMasterId r:id="rId104"/>
  </p:handoutMasterIdLst>
  <p:sldIdLst>
    <p:sldId id="280" r:id="rId2"/>
    <p:sldId id="281" r:id="rId3"/>
    <p:sldId id="345" r:id="rId4"/>
    <p:sldId id="504" r:id="rId5"/>
    <p:sldId id="347" r:id="rId6"/>
    <p:sldId id="497" r:id="rId7"/>
    <p:sldId id="348" r:id="rId8"/>
    <p:sldId id="493" r:id="rId9"/>
    <p:sldId id="350" r:id="rId10"/>
    <p:sldId id="351" r:id="rId11"/>
    <p:sldId id="352" r:id="rId12"/>
    <p:sldId id="494" r:id="rId13"/>
    <p:sldId id="495" r:id="rId14"/>
    <p:sldId id="496" r:id="rId15"/>
    <p:sldId id="505" r:id="rId16"/>
    <p:sldId id="356" r:id="rId17"/>
    <p:sldId id="498" r:id="rId18"/>
    <p:sldId id="359" r:id="rId19"/>
    <p:sldId id="360" r:id="rId20"/>
    <p:sldId id="361" r:id="rId21"/>
    <p:sldId id="362" r:id="rId22"/>
    <p:sldId id="506" r:id="rId23"/>
    <p:sldId id="364" r:id="rId24"/>
    <p:sldId id="507" r:id="rId25"/>
    <p:sldId id="368" r:id="rId26"/>
    <p:sldId id="508" r:id="rId27"/>
    <p:sldId id="371" r:id="rId28"/>
    <p:sldId id="372" r:id="rId29"/>
    <p:sldId id="373" r:id="rId30"/>
    <p:sldId id="374" r:id="rId31"/>
    <p:sldId id="509" r:id="rId32"/>
    <p:sldId id="376" r:id="rId33"/>
    <p:sldId id="499" r:id="rId34"/>
    <p:sldId id="510" r:id="rId35"/>
    <p:sldId id="377" r:id="rId36"/>
    <p:sldId id="502" r:id="rId37"/>
    <p:sldId id="503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5" r:id="rId46"/>
    <p:sldId id="386" r:id="rId47"/>
    <p:sldId id="387" r:id="rId48"/>
    <p:sldId id="388" r:id="rId49"/>
    <p:sldId id="389" r:id="rId50"/>
    <p:sldId id="390" r:id="rId51"/>
    <p:sldId id="391" r:id="rId52"/>
    <p:sldId id="392" r:id="rId53"/>
    <p:sldId id="393" r:id="rId54"/>
    <p:sldId id="394" r:id="rId55"/>
    <p:sldId id="395" r:id="rId56"/>
    <p:sldId id="396" r:id="rId57"/>
    <p:sldId id="568" r:id="rId58"/>
    <p:sldId id="569" r:id="rId59"/>
    <p:sldId id="526" r:id="rId60"/>
    <p:sldId id="529" r:id="rId61"/>
    <p:sldId id="530" r:id="rId62"/>
    <p:sldId id="527" r:id="rId63"/>
    <p:sldId id="571" r:id="rId64"/>
    <p:sldId id="572" r:id="rId65"/>
    <p:sldId id="525" r:id="rId66"/>
    <p:sldId id="531" r:id="rId67"/>
    <p:sldId id="532" r:id="rId68"/>
    <p:sldId id="533" r:id="rId69"/>
    <p:sldId id="534" r:id="rId70"/>
    <p:sldId id="535" r:id="rId71"/>
    <p:sldId id="536" r:id="rId72"/>
    <p:sldId id="537" r:id="rId73"/>
    <p:sldId id="538" r:id="rId74"/>
    <p:sldId id="539" r:id="rId75"/>
    <p:sldId id="540" r:id="rId76"/>
    <p:sldId id="541" r:id="rId77"/>
    <p:sldId id="542" r:id="rId78"/>
    <p:sldId id="543" r:id="rId79"/>
    <p:sldId id="544" r:id="rId80"/>
    <p:sldId id="545" r:id="rId81"/>
    <p:sldId id="546" r:id="rId82"/>
    <p:sldId id="547" r:id="rId83"/>
    <p:sldId id="548" r:id="rId84"/>
    <p:sldId id="549" r:id="rId85"/>
    <p:sldId id="550" r:id="rId86"/>
    <p:sldId id="551" r:id="rId87"/>
    <p:sldId id="552" r:id="rId88"/>
    <p:sldId id="553" r:id="rId89"/>
    <p:sldId id="554" r:id="rId90"/>
    <p:sldId id="555" r:id="rId91"/>
    <p:sldId id="556" r:id="rId92"/>
    <p:sldId id="557" r:id="rId93"/>
    <p:sldId id="558" r:id="rId94"/>
    <p:sldId id="559" r:id="rId95"/>
    <p:sldId id="560" r:id="rId96"/>
    <p:sldId id="561" r:id="rId97"/>
    <p:sldId id="562" r:id="rId98"/>
    <p:sldId id="563" r:id="rId99"/>
    <p:sldId id="564" r:id="rId100"/>
    <p:sldId id="565" r:id="rId101"/>
    <p:sldId id="566" r:id="rId102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5C5C5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5" autoAdjust="0"/>
    <p:restoredTop sz="83826" autoAdjust="0"/>
  </p:normalViewPr>
  <p:slideViewPr>
    <p:cSldViewPr snapToGrid="0">
      <p:cViewPr varScale="1">
        <p:scale>
          <a:sx n="77" d="100"/>
          <a:sy n="77" d="100"/>
        </p:scale>
        <p:origin x="120" y="4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93CAB-A6E8-4F84-B002-DB1C4B9BC430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271A0-3214-4C0F-98E9-07E8770F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946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6B409-7F35-4B75-975D-83CC9322541B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E2D1D-25A5-45DC-B24F-AC401B916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1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5book.ru/css-grid/#grid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basicweb.ru/css/grid_generator.php" TargetMode="External"/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basicweb.ru/css/css_func_calc.php" TargetMode="External"/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5book.ru/css3-flexbox/#flex" TargetMode="External"/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5book.ru/css3-flexbox/#flex" TargetMode="External"/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269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Не</a:t>
            </a:r>
            <a:r>
              <a:rPr lang="ru-RU" baseline="0" dirty="0" smtClean="0"/>
              <a:t> все свойства могут анимироваться при помощи переходов. Полный список свойств можно найти здесь: </a:t>
            </a:r>
            <a:r>
              <a:rPr lang="en-US" baseline="0" dirty="0" smtClean="0"/>
              <a:t>http://www.w3.org/TR/css3-transitions/#properties-from-css</a:t>
            </a:r>
            <a:endParaRPr lang="ru-RU" baseline="0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324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9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3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3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27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25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06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9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Поддержка</a:t>
            </a:r>
            <a:r>
              <a:rPr lang="ru-RU" baseline="0" dirty="0" smtClean="0"/>
              <a:t> браузерами:</a:t>
            </a:r>
          </a:p>
          <a:p>
            <a:r>
              <a:rPr lang="en-US" dirty="0" smtClean="0"/>
              <a:t>http://caniuse.com/#feat=css-animation</a:t>
            </a:r>
            <a:endParaRPr lang="ru-RU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78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animation-iteration-count</a:t>
            </a:r>
            <a:r>
              <a:rPr lang="ru-RU" sz="12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может принимать</a:t>
            </a:r>
            <a:r>
              <a:rPr lang="ru-RU" sz="1200" baseline="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дробные значения: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animation-iteration-count</a:t>
            </a:r>
            <a:r>
              <a:rPr lang="ru-RU" sz="1200" baseline="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0.6;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66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Media Queries for Internet Explorer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Unfortunately, media query is not supported in Internet Explorer 8 or older. You can use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Javascript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hack around. 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 smtClean="0"/>
              <a:t>https://css-tricks.com/resolution-specific-stylesheets/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225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медиа-запросах такая логика: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x and y = not (x and y) ≠ (not x) and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43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IE 9 </a:t>
            </a:r>
            <a:r>
              <a:rPr lang="ru-RU" b="1" dirty="0" smtClean="0"/>
              <a:t>и выше!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46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IE 9 </a:t>
            </a:r>
            <a:r>
              <a:rPr lang="ru-RU" b="1" dirty="0" smtClean="0"/>
              <a:t>и выше!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829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 smtClean="0"/>
              <a:t>В</a:t>
            </a:r>
            <a:r>
              <a:rPr lang="ru-RU" b="0" baseline="0" dirty="0" smtClean="0"/>
              <a:t> </a:t>
            </a:r>
            <a:r>
              <a:rPr lang="en-US" b="0" baseline="0" dirty="0" smtClean="0"/>
              <a:t>CSS2.1 </a:t>
            </a:r>
            <a:r>
              <a:rPr lang="ru-RU" b="0" baseline="0" dirty="0" smtClean="0"/>
              <a:t>синтаксис был такой: </a:t>
            </a:r>
            <a:r>
              <a:rPr lang="en-US" b="0" baseline="0" dirty="0" err="1" smtClean="0"/>
              <a:t>attr</a:t>
            </a:r>
            <a:r>
              <a:rPr lang="en-US" b="0" baseline="0" dirty="0" smtClean="0"/>
              <a:t>(&lt;</a:t>
            </a:r>
            <a:r>
              <a:rPr lang="ru-RU" b="0" baseline="0" dirty="0" smtClean="0"/>
              <a:t>атрибут&gt;, &lt;тип&gt;, &lt;значение&gt;)</a:t>
            </a:r>
          </a:p>
          <a:p>
            <a:endParaRPr lang="ru-RU" b="0" baseline="0" dirty="0" smtClean="0"/>
          </a:p>
          <a:p>
            <a:r>
              <a:rPr lang="ru-RU" b="0" dirty="0" smtClean="0"/>
              <a:t>В </a:t>
            </a:r>
            <a:r>
              <a:rPr lang="en-US" b="0" dirty="0" smtClean="0"/>
              <a:t>CSS3 </a:t>
            </a:r>
            <a:r>
              <a:rPr lang="ru-RU" b="0" dirty="0" smtClean="0"/>
              <a:t>мы</a:t>
            </a:r>
            <a:r>
              <a:rPr lang="ru-RU" b="0" baseline="0" dirty="0" smtClean="0"/>
              <a:t> можем не указывать &lt;тип&gt; и &lt;значение&gt;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734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808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 </a:t>
            </a:r>
            <a:endParaRPr lang="ru-RU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704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https://html5book.ru/css-grid/#grid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5547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https://basicweb.ru/css/grid_generator.php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539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- неотрицательное значение в "гибких" единицах измерения 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fractional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Каждая строка занимает часть оставшегося пространства в контейнере сетки макета пропорционально заданному коэффициенту. Например, при использовании значения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1fr 2fr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строки будут занимать ⅓ и ⅔ оставшегося пространства, соответственно. Общий размер таких строк или столбцов вычитается из доступного пространства, что дает оставшееся пространство, которое затем делится между строками и столбцами гибкого размера пропорционально их коэффициенту.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 между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0fr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1fr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имеют несколько особое поведение, когда сумма коэффициентов меньше 1, они будут занимать менее 100% оставшегося пространства. Когда доступное пространство бесконечно (ширина или высота контейнера сетки макета неопределенны), размер строк сетки гибкого размера определяется их содержимым с сохранением соответствующих пропорций.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Значения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не являются значениями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length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по этой причине они не могут быть представлены или объединены с другими типами единиц в выражениях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CSS функция calc()"/>
              </a:rPr>
              <a:t>calc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CSS функция calc()"/>
              </a:rPr>
              <a:t>()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(функция выполняет математические расчеты для определения значений свойств).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9125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https://html5book.ru/css3-flexbox/#flex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133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Главная ось (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ось, вдоль которой выкладываются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-элементы. Она простирается в основном измерении.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линии, которые определяют начальную и конечную стороны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-контейнера, относительно которых выкладываются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-элементы (начиная с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направлению к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Основной размер (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— ширина или высота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-контейнера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-элементов, в зависимости от того, что из них находится в основном измерении, определяют основной размер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-контейнера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-элемента.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Поперечная ось (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ось, перпендикулярная главной оси. Она простирается в поперечном измерении.</a:t>
            </a:r>
          </a:p>
          <a:p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линии, которые определяют начальную и конечную стороны поперечной оси, относительно которых выкладываются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-элементы.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Поперечный размер (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cross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ширина или высота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-контейнера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-элементов, в зависимости от того, что находится в поперечном измерении, являются их поперечным размером.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79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https://html5book.ru/css3-flexbox/#flex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3E2D1D-25A5-45DC-B24F-AC401B916F32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899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766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1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0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22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9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5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1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3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57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642AE0A-37F8-43B6-8A56-4BDD2B51FA78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B6A1755-7084-4254-A2EF-6950312A7C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27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kiwand.com/ru/%D0%9A%D1%80%D0%B8%D0%B2%D0%B0%D1%8F_%D0%91%D0%B5%D0%B7%D1%8C%D0%B5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gif"/><Relationship Id="rId4" Type="http://schemas.openxmlformats.org/officeDocument/2006/relationships/hyperlink" Target="http://habrahabr.ru/post/220715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cubic-bezier.com/#.11,.81,1,.99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CSS/CSS_animated_propertie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bouncejs.com/" TargetMode="External"/><Relationship Id="rId2" Type="http://schemas.openxmlformats.org/officeDocument/2006/relationships/hyperlink" Target="http://daneden.github.io/animate.cs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elrumordelaluz.github.io/csshake/#1" TargetMode="External"/><Relationship Id="rId5" Type="http://schemas.openxmlformats.org/officeDocument/2006/relationships/hyperlink" Target="http://www.vittoriozaccaria.net/dyn-css/#what-is-it" TargetMode="External"/><Relationship Id="rId4" Type="http://schemas.openxmlformats.org/officeDocument/2006/relationships/hyperlink" Target="http://www.minimamente.com/example/magic_animations/" TargetMode="Externa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://habrahabr.ru/post/119127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tmp"/><Relationship Id="rId4" Type="http://schemas.openxmlformats.org/officeDocument/2006/relationships/image" Target="../media/image31.tmp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basicweb.ru/css/grid_generator.php" TargetMode="External"/><Relationship Id="rId4" Type="http://schemas.openxmlformats.org/officeDocument/2006/relationships/image" Target="../media/image37.tmp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hyperlink" Target="https://basicweb.ru/css/css_pr_grid-auto-flow.php" TargetMode="External"/><Relationship Id="rId3" Type="http://schemas.openxmlformats.org/officeDocument/2006/relationships/hyperlink" Target="https://basicweb.ru/css/css_pr_grid-template-columns.php" TargetMode="External"/><Relationship Id="rId7" Type="http://schemas.openxmlformats.org/officeDocument/2006/relationships/hyperlink" Target="https://basicweb.ru/css/css_pr_grid-auto-columns.php" TargetMode="External"/><Relationship Id="rId2" Type="http://schemas.openxmlformats.org/officeDocument/2006/relationships/hyperlink" Target="https://basicweb.ru/css/css_pr_grid-template-rows.php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asicweb.ru/css/css_pr_grid-auto-rows.php" TargetMode="External"/><Relationship Id="rId5" Type="http://schemas.openxmlformats.org/officeDocument/2006/relationships/hyperlink" Target="https://basicweb.ru/css/css_pr_grid-area.php" TargetMode="External"/><Relationship Id="rId4" Type="http://schemas.openxmlformats.org/officeDocument/2006/relationships/hyperlink" Target="https://basicweb.ru/css/css_pr_grid-template-areas.php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tmp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tm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tmp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m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mp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tmp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tmp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tmp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tmp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tmp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СОВРЕМЕННЫЕ ТЕХНОЛОГИИ РАЗРАБОТКИ </a:t>
            </a:r>
            <a:r>
              <a:rPr lang="en-US" b="1" dirty="0"/>
              <a:t>WEB</a:t>
            </a:r>
            <a:r>
              <a:rPr lang="ru-RU" b="1" dirty="0"/>
              <a:t>-ПРИЛОЖЕНИЙ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Лекция</a:t>
            </a:r>
            <a:r>
              <a:rPr lang="en-US" dirty="0" smtClean="0"/>
              <a:t> </a:t>
            </a:r>
            <a:r>
              <a:rPr lang="en-US" dirty="0" smtClean="0"/>
              <a:t>6b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82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Текст, таблицы, анимация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34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>
                <a:solidFill>
                  <a:srgbClr val="FF0000"/>
                </a:solidFill>
              </a:rPr>
              <a:t>Переходы</a:t>
            </a:r>
            <a:endParaRPr lang="en-US" sz="32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3200" dirty="0">
                <a:solidFill>
                  <a:srgbClr val="FF0000"/>
                </a:solidFill>
              </a:rPr>
              <a:t>Анимация</a:t>
            </a:r>
          </a:p>
          <a:p>
            <a:pPr marL="0" indent="0">
              <a:buNone/>
            </a:pPr>
            <a:r>
              <a:rPr lang="ru-RU" sz="3200" dirty="0">
                <a:solidFill>
                  <a:srgbClr val="FF0000"/>
                </a:solidFill>
              </a:rPr>
              <a:t>Медиа-запросы</a:t>
            </a: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3200" dirty="0" smtClean="0">
                <a:solidFill>
                  <a:srgbClr val="FF0000"/>
                </a:solidFill>
              </a:rPr>
              <a:t>Разное</a:t>
            </a:r>
          </a:p>
        </p:txBody>
      </p:sp>
    </p:spTree>
    <p:extLst>
      <p:ext uri="{BB962C8B-B14F-4D97-AF65-F5344CB8AC3E}">
        <p14:creationId xmlns:p14="http://schemas.microsoft.com/office/powerpoint/2010/main" val="1515603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4678" y="438912"/>
            <a:ext cx="10058400" cy="1010475"/>
          </a:xfrm>
        </p:spPr>
        <p:txBody>
          <a:bodyPr>
            <a:normAutofit/>
          </a:bodyPr>
          <a:lstStyle/>
          <a:p>
            <a:r>
              <a:rPr lang="ru-RU" dirty="0" smtClean="0"/>
              <a:t>Переходы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48296" y="1613290"/>
            <a:ext cx="10690264" cy="436688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3200" dirty="0"/>
              <a:t>По умолчанию при использовании </a:t>
            </a:r>
            <a:r>
              <a:rPr lang="ru-RU" sz="3200" dirty="0" err="1"/>
              <a:t>псевдокласса</a:t>
            </a:r>
            <a:endParaRPr lang="ru-RU" sz="3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ru-RU" sz="2800" dirty="0" err="1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hover</a:t>
            </a:r>
            <a:r>
              <a:rPr lang="ru-RU" sz="3200" dirty="0"/>
              <a:t> изменение свойств происходит мгновенно</a:t>
            </a:r>
            <a:r>
              <a:rPr lang="ru-RU" sz="3200" dirty="0" smtClean="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ru-RU" sz="3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3200" b="1" dirty="0" smtClean="0">
                <a:solidFill>
                  <a:srgbClr val="0A0A0A"/>
                </a:solidFill>
              </a:rPr>
              <a:t>Переходы</a:t>
            </a:r>
            <a:r>
              <a:rPr lang="ru-RU" sz="3200" dirty="0">
                <a:solidFill>
                  <a:srgbClr val="0A0A0A"/>
                </a:solidFill>
              </a:rPr>
              <a:t> в CSS позволяют плавно перейти от одного состояния элемента к другому. </a:t>
            </a:r>
            <a:endParaRPr lang="ru-RU" sz="3200" dirty="0" smtClean="0">
              <a:solidFill>
                <a:srgbClr val="0A0A0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3200" dirty="0" smtClean="0">
                <a:solidFill>
                  <a:srgbClr val="0A0A0A"/>
                </a:solidFill>
              </a:rPr>
              <a:t>отдельные</a:t>
            </a:r>
            <a:r>
              <a:rPr lang="ru-RU" sz="3200" dirty="0">
                <a:solidFill>
                  <a:srgbClr val="0A0A0A"/>
                </a:solidFill>
              </a:rPr>
              <a:t> </a:t>
            </a:r>
            <a:r>
              <a:rPr lang="ru-RU" sz="3200" b="1" dirty="0">
                <a:solidFill>
                  <a:srgbClr val="0A0A0A"/>
                </a:solidFill>
              </a:rPr>
              <a:t>свойства</a:t>
            </a:r>
            <a:r>
              <a:rPr lang="ru-RU" sz="3200" dirty="0">
                <a:solidFill>
                  <a:srgbClr val="0A0A0A"/>
                </a:solidFill>
              </a:rPr>
              <a:t> анимируются от </a:t>
            </a:r>
            <a:r>
              <a:rPr lang="ru-RU" sz="3200" b="1" dirty="0">
                <a:solidFill>
                  <a:srgbClr val="0A0A0A"/>
                </a:solidFill>
              </a:rPr>
              <a:t>начального</a:t>
            </a:r>
            <a:r>
              <a:rPr lang="ru-RU" sz="3200" dirty="0">
                <a:solidFill>
                  <a:srgbClr val="0A0A0A"/>
                </a:solidFill>
              </a:rPr>
              <a:t> состояния до </a:t>
            </a:r>
            <a:r>
              <a:rPr lang="ru-RU" sz="3200" b="1" dirty="0" smtClean="0">
                <a:solidFill>
                  <a:srgbClr val="0A0A0A"/>
                </a:solidFill>
              </a:rPr>
              <a:t>конечного (только два состояния)</a:t>
            </a:r>
            <a:r>
              <a:rPr lang="ru-RU" sz="3200" dirty="0" smtClean="0">
                <a:solidFill>
                  <a:srgbClr val="0A0A0A"/>
                </a:solidFill>
              </a:rPr>
              <a:t>.</a:t>
            </a:r>
          </a:p>
          <a:p>
            <a:r>
              <a:rPr lang="ru-RU" sz="3200" dirty="0" smtClean="0"/>
              <a:t>С</a:t>
            </a:r>
            <a:r>
              <a:rPr lang="en-US" sz="3200" dirty="0" smtClean="0"/>
              <a:t>SS-</a:t>
            </a:r>
            <a:r>
              <a:rPr lang="ru-RU" sz="3200" dirty="0" smtClean="0"/>
              <a:t>свойства вида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-*</a:t>
            </a:r>
            <a:r>
              <a:rPr lang="ru-RU" sz="3200" dirty="0"/>
              <a:t> </a:t>
            </a:r>
            <a:r>
              <a:rPr lang="ru-RU" sz="3200" dirty="0" smtClean="0"/>
              <a:t>позволяют настроить </a:t>
            </a:r>
            <a:r>
              <a:rPr lang="ru-RU" sz="3200" dirty="0"/>
              <a:t>продолжительность и метод перехода</a:t>
            </a:r>
            <a:r>
              <a:rPr lang="ru-RU" sz="3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83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012" y="209868"/>
            <a:ext cx="1166818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/>
              <a:buChar char="•"/>
            </a:pPr>
            <a:r>
              <a:rPr lang="ru-RU" sz="3200" dirty="0" err="1">
                <a:solidFill>
                  <a:srgbClr val="E6550D"/>
                </a:solidFill>
                <a:latin typeface="Helvetica Neue"/>
              </a:rPr>
              <a:t>transition-property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: какие </a:t>
            </a:r>
            <a:r>
              <a:rPr lang="ru-RU" sz="3200" b="1" dirty="0">
                <a:solidFill>
                  <a:srgbClr val="0A0A0A"/>
                </a:solidFill>
                <a:latin typeface="Helvetica Neue"/>
              </a:rPr>
              <a:t>свойства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 анимируются;</a:t>
            </a:r>
          </a:p>
          <a:p>
            <a:pPr>
              <a:buFont typeface="Arial"/>
              <a:buChar char="•"/>
            </a:pPr>
            <a:r>
              <a:rPr lang="ru-RU" sz="3200" dirty="0" err="1">
                <a:solidFill>
                  <a:srgbClr val="E6550D"/>
                </a:solidFill>
                <a:latin typeface="Helvetica Neue"/>
              </a:rPr>
              <a:t>transition-duration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: </a:t>
            </a:r>
            <a:r>
              <a:rPr lang="ru-RU" sz="3200" b="1" dirty="0">
                <a:solidFill>
                  <a:srgbClr val="0A0A0A"/>
                </a:solidFill>
                <a:latin typeface="Helvetica Neue"/>
              </a:rPr>
              <a:t>как долго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 длится анимация;</a:t>
            </a:r>
          </a:p>
          <a:p>
            <a:pPr>
              <a:buFont typeface="Arial"/>
              <a:buChar char="•"/>
            </a:pPr>
            <a:r>
              <a:rPr lang="ru-RU" sz="3200" dirty="0" err="1">
                <a:solidFill>
                  <a:srgbClr val="E6550D"/>
                </a:solidFill>
                <a:latin typeface="Helvetica Neue"/>
              </a:rPr>
              <a:t>transition-timing-function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: как вычисляются </a:t>
            </a:r>
            <a:r>
              <a:rPr lang="ru-RU" sz="3200" b="1" dirty="0">
                <a:solidFill>
                  <a:srgbClr val="0A0A0A"/>
                </a:solidFill>
                <a:latin typeface="Helvetica Neue"/>
              </a:rPr>
              <a:t>промежуточные состояния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;</a:t>
            </a:r>
          </a:p>
          <a:p>
            <a:pPr>
              <a:buFont typeface="Arial"/>
              <a:buChar char="•"/>
            </a:pPr>
            <a:r>
              <a:rPr lang="ru-RU" sz="3200" dirty="0" err="1">
                <a:solidFill>
                  <a:srgbClr val="E6550D"/>
                </a:solidFill>
                <a:latin typeface="Helvetica Neue"/>
              </a:rPr>
              <a:t>transition-delay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: анимация начинается </a:t>
            </a:r>
            <a:r>
              <a:rPr lang="ru-RU" sz="3200" b="1" dirty="0">
                <a:solidFill>
                  <a:srgbClr val="0A0A0A"/>
                </a:solidFill>
                <a:latin typeface="Helvetica Neue"/>
              </a:rPr>
              <a:t>через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 некоторое время.</a:t>
            </a:r>
          </a:p>
          <a:p>
            <a:r>
              <a:rPr lang="ru-RU" sz="3200" dirty="0" smtClean="0">
                <a:solidFill>
                  <a:srgbClr val="0A0A0A"/>
                </a:solidFill>
                <a:latin typeface="Helvetica Neue"/>
              </a:rPr>
              <a:t>Можно установить 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каждое свойство CSS по отдельности или использовать сокращённую версию: </a:t>
            </a:r>
            <a:r>
              <a:rPr lang="ru-RU" sz="3200" dirty="0" err="1">
                <a:solidFill>
                  <a:srgbClr val="E6550D"/>
                </a:solidFill>
                <a:latin typeface="Helvetica Neue"/>
              </a:rPr>
              <a:t>transition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. </a:t>
            </a:r>
            <a:endParaRPr lang="ru-RU" sz="3200" dirty="0" smtClean="0">
              <a:solidFill>
                <a:srgbClr val="0A0A0A"/>
              </a:solidFill>
              <a:latin typeface="Helvetica Neue"/>
            </a:endParaRPr>
          </a:p>
          <a:p>
            <a:endParaRPr lang="ru-RU" sz="3200" dirty="0">
              <a:solidFill>
                <a:srgbClr val="0A0A0A"/>
              </a:solidFill>
              <a:latin typeface="Helvetica Neue"/>
            </a:endParaRPr>
          </a:p>
          <a:p>
            <a:r>
              <a:rPr lang="ru-RU" sz="3200" dirty="0" smtClean="0">
                <a:solidFill>
                  <a:srgbClr val="0A0A0A"/>
                </a:solidFill>
                <a:latin typeface="Helvetica Neue"/>
              </a:rPr>
              <a:t>Тогда, 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только </a:t>
            </a:r>
            <a:r>
              <a:rPr lang="ru-RU" sz="3200" dirty="0" err="1">
                <a:solidFill>
                  <a:srgbClr val="E6550D"/>
                </a:solidFill>
                <a:latin typeface="Helvetica Neue"/>
              </a:rPr>
              <a:t>transition-duration</a:t>
            </a:r>
            <a:r>
              <a:rPr lang="ru-RU" sz="3200" dirty="0">
                <a:solidFill>
                  <a:srgbClr val="0A0A0A"/>
                </a:solidFill>
                <a:latin typeface="Helvetica Neue"/>
              </a:rPr>
              <a:t>  </a:t>
            </a:r>
            <a:r>
              <a:rPr lang="ru-RU" sz="3200" b="1" dirty="0" smtClean="0">
                <a:solidFill>
                  <a:srgbClr val="0A0A0A"/>
                </a:solidFill>
                <a:latin typeface="Helvetica Neue"/>
              </a:rPr>
              <a:t>обязательно</a:t>
            </a:r>
            <a:r>
              <a:rPr lang="ru-RU" sz="3200" dirty="0" smtClean="0">
                <a:solidFill>
                  <a:srgbClr val="0A0A0A"/>
                </a:solidFill>
                <a:latin typeface="Helvetica Neue"/>
              </a:rPr>
              <a:t>.</a:t>
            </a:r>
            <a:endParaRPr lang="ru-RU" sz="3200" b="0" i="0" dirty="0">
              <a:solidFill>
                <a:srgbClr val="0A0A0A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44057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0058400" cy="1449387"/>
          </a:xfrm>
        </p:spPr>
        <p:txBody>
          <a:bodyPr>
            <a:normAutofit/>
          </a:bodyPr>
          <a:lstStyle/>
          <a:p>
            <a:r>
              <a:rPr lang="ru-RU" dirty="0" smtClean="0"/>
              <a:t>Продолжительность перехода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43340" y="1726994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Продолжительность перехода задаётся при помощи свойства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transition-duration</a:t>
            </a:r>
            <a:r>
              <a:rPr lang="ru-RU" sz="3200" dirty="0" smtClean="0"/>
              <a:t> (</a:t>
            </a:r>
            <a:r>
              <a:rPr lang="en-US" sz="3200" b="1" dirty="0"/>
              <a:t>s/</a:t>
            </a:r>
            <a:r>
              <a:rPr lang="en-US" sz="3200" b="1" dirty="0" err="1"/>
              <a:t>ms</a:t>
            </a:r>
            <a:r>
              <a:rPr lang="ru-RU" sz="3200" dirty="0" smtClean="0"/>
              <a:t>).</a:t>
            </a:r>
          </a:p>
          <a:p>
            <a:r>
              <a:rPr lang="ru-RU" sz="3200" dirty="0" smtClean="0"/>
              <a:t>Можно указать время ожидания перед запуском перехода при помощи свойства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transition-delay</a:t>
            </a:r>
            <a:r>
              <a:rPr lang="ru-RU" sz="3200" dirty="0" smtClean="0"/>
              <a:t>.</a:t>
            </a:r>
          </a:p>
          <a:p>
            <a:endParaRPr lang="ru-RU" sz="3200" dirty="0" smtClean="0"/>
          </a:p>
          <a:p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405363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38514" y="1193120"/>
            <a:ext cx="10058400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При описании перехода можно конкретизировать свойства, которые будут анимироваться, указав их имена через запятую в </a:t>
            </a:r>
            <a:r>
              <a:rPr lang="en-US" sz="3200" dirty="0" smtClean="0"/>
              <a:t>CSS-</a:t>
            </a:r>
            <a:r>
              <a:rPr lang="ru-RU" sz="3200" dirty="0" smtClean="0"/>
              <a:t>свойстве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transition-property</a:t>
            </a:r>
            <a:r>
              <a:rPr lang="ru-RU" sz="3200" dirty="0" smtClean="0"/>
              <a:t>.</a:t>
            </a:r>
          </a:p>
          <a:p>
            <a:endParaRPr lang="ru-RU" sz="3200" dirty="0" smtClean="0"/>
          </a:p>
          <a:p>
            <a:r>
              <a:rPr lang="ru-RU" sz="3200" dirty="0" smtClean="0"/>
              <a:t>При таком подходе </a:t>
            </a:r>
            <a:r>
              <a:rPr lang="ru-RU" sz="3200" i="1" dirty="0" smtClean="0"/>
              <a:t>возможно</a:t>
            </a:r>
            <a:r>
              <a:rPr lang="ru-RU" sz="3200" dirty="0" smtClean="0"/>
              <a:t> указание нескольких значений для длительности и задержки (персонально для описанных анимированных свойств).</a:t>
            </a:r>
          </a:p>
        </p:txBody>
      </p:sp>
    </p:spTree>
    <p:extLst>
      <p:ext uri="{BB962C8B-B14F-4D97-AF65-F5344CB8AC3E}">
        <p14:creationId xmlns:p14="http://schemas.microsoft.com/office/powerpoint/2010/main" val="192565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9026" y="176490"/>
            <a:ext cx="10243931" cy="48328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/>
              <a:t>div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{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B22222"/>
                </a:solidFill>
              </a:rPr>
              <a:t>width</a:t>
            </a:r>
            <a:r>
              <a:rPr lang="en-US" sz="2800" dirty="0"/>
              <a:t> : </a:t>
            </a:r>
            <a:r>
              <a:rPr lang="en-US" sz="2800" b="1" dirty="0">
                <a:solidFill>
                  <a:srgbClr val="4B0082"/>
                </a:solidFill>
              </a:rPr>
              <a:t>70px</a:t>
            </a:r>
            <a:r>
              <a:rPr lang="en-US" sz="2800" dirty="0"/>
              <a:t>; </a:t>
            </a:r>
            <a:endParaRPr lang="ru-RU" sz="2800" b="1" dirty="0" smtClean="0">
              <a:solidFill>
                <a:srgbClr val="228B2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solidFill>
                  <a:srgbClr val="B22222"/>
                </a:solidFill>
              </a:rPr>
              <a:t>height</a:t>
            </a:r>
            <a:r>
              <a:rPr lang="en-US" sz="2800" dirty="0" smtClean="0"/>
              <a:t> 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4B0082"/>
                </a:solidFill>
              </a:rPr>
              <a:t>70px</a:t>
            </a:r>
            <a:r>
              <a:rPr lang="en-US" sz="2800" dirty="0"/>
              <a:t>; </a:t>
            </a:r>
            <a:endParaRPr lang="ru-RU" sz="2800" b="1" dirty="0" smtClean="0">
              <a:solidFill>
                <a:srgbClr val="228B22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 smtClean="0">
                <a:solidFill>
                  <a:srgbClr val="B22222"/>
                </a:solidFill>
              </a:rPr>
              <a:t>background-color</a:t>
            </a:r>
            <a:r>
              <a:rPr lang="en-US" sz="2800" dirty="0" smtClean="0"/>
              <a:t> 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4B0082"/>
                </a:solidFill>
              </a:rPr>
              <a:t>yellow</a:t>
            </a:r>
            <a:r>
              <a:rPr lang="en-US" sz="2800" dirty="0"/>
              <a:t>; </a:t>
            </a:r>
            <a:endParaRPr lang="ru-RU" sz="2800" b="1" dirty="0" smtClean="0">
              <a:solidFill>
                <a:srgbClr val="228B2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/>
              <a:t> </a:t>
            </a:r>
            <a:r>
              <a:rPr lang="en-US" sz="2800" b="1" dirty="0">
                <a:solidFill>
                  <a:srgbClr val="B22222"/>
                </a:solidFill>
              </a:rPr>
              <a:t>border</a:t>
            </a:r>
            <a:r>
              <a:rPr lang="en-US" sz="2800" dirty="0"/>
              <a:t> : </a:t>
            </a:r>
            <a:r>
              <a:rPr lang="en-US" sz="2800" b="1" dirty="0">
                <a:solidFill>
                  <a:srgbClr val="4B0082"/>
                </a:solidFill>
              </a:rPr>
              <a:t>5px dashed black</a:t>
            </a:r>
            <a:r>
              <a:rPr lang="en-US" sz="2800" dirty="0"/>
              <a:t>; </a:t>
            </a:r>
            <a:endParaRPr lang="ru-RU" sz="2800" b="1" dirty="0" smtClean="0">
              <a:solidFill>
                <a:srgbClr val="228B2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rgbClr val="B22222"/>
                </a:solidFill>
              </a:rPr>
              <a:t>display</a:t>
            </a:r>
            <a:r>
              <a:rPr lang="en-US" sz="2800" dirty="0" smtClean="0"/>
              <a:t> 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4B0082"/>
                </a:solidFill>
              </a:rPr>
              <a:t>inline-block</a:t>
            </a:r>
            <a:r>
              <a:rPr lang="en-US" sz="2800" dirty="0"/>
              <a:t>; </a:t>
            </a:r>
            <a:endParaRPr lang="ru-RU" sz="28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rgbClr val="228B22"/>
                </a:solidFill>
              </a:rPr>
              <a:t>/* </a:t>
            </a:r>
            <a:r>
              <a:rPr lang="ru-RU" sz="2800" b="1" dirty="0" smtClean="0">
                <a:solidFill>
                  <a:srgbClr val="228B22"/>
                </a:solidFill>
              </a:rPr>
              <a:t>(</a:t>
            </a:r>
            <a:r>
              <a:rPr lang="ru-RU" sz="2800" b="1" dirty="0">
                <a:solidFill>
                  <a:srgbClr val="228B22"/>
                </a:solidFill>
              </a:rPr>
              <a:t>выстраиваем в линейку) */</a:t>
            </a:r>
            <a:r>
              <a:rPr lang="ru-RU" sz="2800" dirty="0"/>
              <a:t> </a:t>
            </a:r>
            <a:endParaRPr lang="ru-RU" sz="28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smtClean="0">
                <a:solidFill>
                  <a:srgbClr val="B22222"/>
                </a:solidFill>
              </a:rPr>
              <a:t>margin-right</a:t>
            </a:r>
            <a:r>
              <a:rPr lang="en-US" sz="2800" dirty="0" smtClean="0"/>
              <a:t> </a:t>
            </a:r>
            <a:r>
              <a:rPr lang="en-US" sz="2800" dirty="0"/>
              <a:t>: </a:t>
            </a:r>
            <a:r>
              <a:rPr lang="en-US" sz="2800" b="1" dirty="0">
                <a:solidFill>
                  <a:srgbClr val="4B0082"/>
                </a:solidFill>
              </a:rPr>
              <a:t>15px</a:t>
            </a:r>
            <a:r>
              <a:rPr lang="en-US" sz="2800" dirty="0"/>
              <a:t>; </a:t>
            </a:r>
            <a:r>
              <a:rPr lang="ru-RU" sz="2800" b="1" dirty="0" smtClean="0">
                <a:solidFill>
                  <a:srgbClr val="FF0000"/>
                </a:solidFill>
              </a:rPr>
              <a:t>}</a:t>
            </a:r>
            <a:r>
              <a:rPr lang="ru-RU" sz="2800" dirty="0" smtClean="0"/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 smtClean="0"/>
              <a:t>div:hover</a:t>
            </a:r>
            <a:r>
              <a:rPr lang="en-US" sz="2800" dirty="0" smtClean="0"/>
              <a:t> </a:t>
            </a:r>
            <a:r>
              <a:rPr lang="en-US" sz="2800" b="1" dirty="0">
                <a:solidFill>
                  <a:srgbClr val="FF0000"/>
                </a:solidFill>
              </a:rPr>
              <a:t>{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B22222"/>
                </a:solidFill>
              </a:rPr>
              <a:t>height</a:t>
            </a:r>
            <a:r>
              <a:rPr lang="en-US" sz="2800" dirty="0"/>
              <a:t> : </a:t>
            </a:r>
            <a:r>
              <a:rPr lang="en-US" sz="2800" b="1" dirty="0">
                <a:solidFill>
                  <a:srgbClr val="4B0082"/>
                </a:solidFill>
              </a:rPr>
              <a:t>200px</a:t>
            </a:r>
            <a:r>
              <a:rPr lang="en-US" sz="2800" dirty="0" smtClean="0"/>
              <a:t>;</a:t>
            </a:r>
            <a:r>
              <a:rPr lang="en-US" sz="2800" b="1" dirty="0" smtClean="0">
                <a:solidFill>
                  <a:srgbClr val="FF0000"/>
                </a:solidFill>
              </a:rPr>
              <a:t>}</a:t>
            </a:r>
            <a:endParaRPr lang="ru-RU" sz="2800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smtClean="0"/>
              <a:t> </a:t>
            </a:r>
            <a:r>
              <a:rPr lang="en-US" sz="2800" b="1" dirty="0"/>
              <a:t>.test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{</a:t>
            </a:r>
            <a:r>
              <a:rPr lang="en-US" sz="2800" b="1" dirty="0">
                <a:solidFill>
                  <a:srgbClr val="B22222"/>
                </a:solidFill>
              </a:rPr>
              <a:t>transition-duration</a:t>
            </a:r>
            <a:r>
              <a:rPr lang="en-US" sz="2800" dirty="0"/>
              <a:t> : </a:t>
            </a:r>
            <a:r>
              <a:rPr lang="en-US" sz="2800" b="1" dirty="0">
                <a:solidFill>
                  <a:srgbClr val="4B0082"/>
                </a:solidFill>
              </a:rPr>
              <a:t>5s</a:t>
            </a:r>
            <a:r>
              <a:rPr lang="en-US" sz="2800" dirty="0"/>
              <a:t>;</a:t>
            </a:r>
            <a:r>
              <a:rPr lang="en-US" sz="2800" b="1" dirty="0">
                <a:solidFill>
                  <a:srgbClr val="FF0000"/>
                </a:solidFill>
              </a:rPr>
              <a:t>}</a:t>
            </a:r>
            <a:r>
              <a:rPr lang="en-US" sz="2800" dirty="0"/>
              <a:t> </a:t>
            </a:r>
            <a:endParaRPr lang="ru-RU" sz="2800" b="1" dirty="0" smtClean="0">
              <a:solidFill>
                <a:srgbClr val="228B2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dirty="0" smtClean="0"/>
              <a:t> </a:t>
            </a:r>
            <a:r>
              <a:rPr lang="ru-RU" sz="2800" b="1" dirty="0"/>
              <a:t>.</a:t>
            </a:r>
            <a:r>
              <a:rPr lang="en-US" sz="2800" b="1" dirty="0"/>
              <a:t>test2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{</a:t>
            </a:r>
            <a:r>
              <a:rPr lang="en-US" sz="2800" b="1" dirty="0">
                <a:solidFill>
                  <a:srgbClr val="B22222"/>
                </a:solidFill>
              </a:rPr>
              <a:t>transition-duration</a:t>
            </a:r>
            <a:r>
              <a:rPr lang="en-US" sz="2800" dirty="0"/>
              <a:t> : </a:t>
            </a:r>
            <a:r>
              <a:rPr lang="en-US" sz="2800" b="1" dirty="0">
                <a:solidFill>
                  <a:srgbClr val="4B0082"/>
                </a:solidFill>
              </a:rPr>
              <a:t>2s</a:t>
            </a:r>
            <a:r>
              <a:rPr lang="en-US" sz="2800" dirty="0"/>
              <a:t>;</a:t>
            </a:r>
            <a:r>
              <a:rPr lang="en-US" sz="2800" b="1" dirty="0">
                <a:solidFill>
                  <a:srgbClr val="FF0000"/>
                </a:solidFill>
              </a:rPr>
              <a:t>}</a:t>
            </a:r>
            <a:r>
              <a:rPr lang="en-US" sz="2800" dirty="0"/>
              <a:t> </a:t>
            </a:r>
            <a:endParaRPr lang="ru-RU" sz="2800" dirty="0" smtClean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 smtClean="0"/>
              <a:t>.</a:t>
            </a:r>
            <a:r>
              <a:rPr lang="en-US" sz="2800" b="1" dirty="0"/>
              <a:t>test3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{</a:t>
            </a:r>
            <a:r>
              <a:rPr lang="en-US" sz="2800" b="1" dirty="0">
                <a:solidFill>
                  <a:srgbClr val="B22222"/>
                </a:solidFill>
              </a:rPr>
              <a:t>transition-duration</a:t>
            </a:r>
            <a:r>
              <a:rPr lang="en-US" sz="2800" dirty="0"/>
              <a:t> : </a:t>
            </a:r>
            <a:r>
              <a:rPr lang="en-US" sz="2800" b="1" dirty="0">
                <a:solidFill>
                  <a:srgbClr val="4B0082"/>
                </a:solidFill>
              </a:rPr>
              <a:t>400ms</a:t>
            </a:r>
            <a:r>
              <a:rPr lang="en-US" sz="2800" dirty="0" smtClean="0"/>
              <a:t>;</a:t>
            </a:r>
            <a:r>
              <a:rPr lang="en-US" sz="2800" b="1" dirty="0" smtClean="0">
                <a:solidFill>
                  <a:srgbClr val="FF0000"/>
                </a:solidFill>
              </a:rPr>
              <a:t>}</a:t>
            </a:r>
            <a:endParaRPr lang="ru-RU" sz="28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752" y="164824"/>
            <a:ext cx="6211709" cy="520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01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03540" y="2462212"/>
            <a:ext cx="11503536" cy="39241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test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 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{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transition-duration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5s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;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/* длительность перехода */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transition-delay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3s, 1s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;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/* устанавливаем задержку перехода (1 значение = 1 значение свойства  transition-property (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width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), 2 значение = 2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значение свойства transition-property (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height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)  */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transition-property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: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width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height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;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/* устанавливаем свойства, которые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получат переходный эффект */</a:t>
            </a:r>
            <a:r>
              <a:rPr kumimoji="0" lang="en-US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}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7172" y="238539"/>
            <a:ext cx="1164990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00000"/>
                </a:solidFill>
                <a:latin typeface="Arial"/>
              </a:rPr>
              <a:t>div:hover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b="1" dirty="0">
                <a:solidFill>
                  <a:srgbClr val="FF0000"/>
                </a:solidFill>
                <a:latin typeface="Arial"/>
              </a:rPr>
              <a:t>{</a:t>
            </a:r>
            <a:r>
              <a:rPr lang="ru-RU" sz="2800" b="1" dirty="0" err="1">
                <a:solidFill>
                  <a:srgbClr val="B22222"/>
                </a:solidFill>
                <a:latin typeface="Arial"/>
              </a:rPr>
              <a:t>width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 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100%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height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200px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err="1" smtClean="0">
                <a:solidFill>
                  <a:srgbClr val="B22222"/>
                </a:solidFill>
                <a:latin typeface="Arial"/>
              </a:rPr>
              <a:t>background-color</a:t>
            </a:r>
            <a:r>
              <a:rPr lang="ru-RU" sz="2800" dirty="0" smtClean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: </a:t>
            </a:r>
            <a:r>
              <a:rPr lang="ru-RU" sz="2800" b="1" dirty="0" err="1">
                <a:solidFill>
                  <a:srgbClr val="4B0082"/>
                </a:solidFill>
                <a:latin typeface="Arial"/>
              </a:rPr>
              <a:t>rgba</a:t>
            </a:r>
            <a:r>
              <a:rPr lang="ru-RU" sz="2800" b="1" dirty="0">
                <a:solidFill>
                  <a:srgbClr val="4B0082"/>
                </a:solidFill>
                <a:latin typeface="Arial"/>
              </a:rPr>
              <a:t>(255,0,0,.7)</a:t>
            </a:r>
            <a:r>
              <a:rPr lang="ru-RU" sz="2800" dirty="0">
                <a:solidFill>
                  <a:srgbClr val="000000"/>
                </a:solidFill>
                <a:latin typeface="Arial"/>
              </a:rPr>
              <a:t>; </a:t>
            </a:r>
            <a:endParaRPr lang="ru-RU" sz="2800" b="1" dirty="0" smtClean="0">
              <a:solidFill>
                <a:srgbClr val="228B22"/>
              </a:solidFill>
              <a:latin typeface="Arial"/>
            </a:endParaRPr>
          </a:p>
          <a:p>
            <a:r>
              <a:rPr lang="ru-RU" sz="2800" b="1" dirty="0" smtClean="0">
                <a:solidFill>
                  <a:srgbClr val="FF0000"/>
                </a:solidFill>
                <a:latin typeface="Arial"/>
              </a:rPr>
              <a:t>}</a:t>
            </a:r>
            <a:endParaRPr lang="ru-RU" sz="2800" dirty="0">
              <a:effectLst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3276" y="0"/>
            <a:ext cx="5118724" cy="366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9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62000" y="36813"/>
            <a:ext cx="10058400" cy="862082"/>
          </a:xfrm>
        </p:spPr>
        <p:txBody>
          <a:bodyPr>
            <a:normAutofit/>
          </a:bodyPr>
          <a:lstStyle/>
          <a:p>
            <a:r>
              <a:rPr lang="ru-RU" dirty="0" smtClean="0"/>
              <a:t>Переходы – функция изменения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78904" y="872228"/>
            <a:ext cx="11728174" cy="5946016"/>
          </a:xfrm>
        </p:spPr>
        <p:txBody>
          <a:bodyPr>
            <a:noAutofit/>
          </a:bodyPr>
          <a:lstStyle/>
          <a:p>
            <a:r>
              <a:rPr lang="ru-RU" sz="2800" dirty="0" smtClean="0"/>
              <a:t>Закон, по которому происходит изменение значений при переходе, определяется некой функцией.</a:t>
            </a:r>
          </a:p>
          <a:p>
            <a:r>
              <a:rPr lang="ru-RU" sz="2800" dirty="0" smtClean="0"/>
              <a:t>Вид этой функции можно настроить при помощи </a:t>
            </a:r>
            <a:r>
              <a:rPr lang="en-US" sz="2800" b="1" dirty="0" smtClean="0">
                <a:solidFill>
                  <a:srgbClr val="B22222"/>
                </a:solidFill>
              </a:rPr>
              <a:t>transition-timing-function</a:t>
            </a:r>
            <a:r>
              <a:rPr lang="ru-RU" sz="2800" dirty="0"/>
              <a:t>, используя при этом математическую функцию (кубическую </a:t>
            </a:r>
            <a:r>
              <a:rPr lang="ru-RU" sz="2800" b="1" dirty="0"/>
              <a:t>кривую Безье</a:t>
            </a:r>
            <a:r>
              <a:rPr lang="ru-RU" sz="2800" dirty="0"/>
              <a:t>)</a:t>
            </a:r>
            <a:r>
              <a:rPr lang="ru-RU" sz="2800" dirty="0" smtClean="0"/>
              <a:t>.</a:t>
            </a:r>
          </a:p>
          <a:p>
            <a:r>
              <a:rPr lang="ru-RU" sz="2800" dirty="0">
                <a:solidFill>
                  <a:srgbClr val="000000"/>
                </a:solidFill>
              </a:rPr>
              <a:t>Допускается </a:t>
            </a:r>
            <a:r>
              <a:rPr lang="ru-RU" sz="2800" dirty="0" smtClean="0">
                <a:solidFill>
                  <a:srgbClr val="000000"/>
                </a:solidFill>
              </a:rPr>
              <a:t>более </a:t>
            </a:r>
            <a:r>
              <a:rPr lang="ru-RU" sz="2800" dirty="0">
                <a:solidFill>
                  <a:srgbClr val="000000"/>
                </a:solidFill>
              </a:rPr>
              <a:t>одного значений функций через запятую </a:t>
            </a:r>
            <a:r>
              <a:rPr lang="ru-RU" sz="2800" dirty="0" smtClean="0">
                <a:solidFill>
                  <a:srgbClr val="000000"/>
                </a:solidFill>
              </a:rPr>
              <a:t>перед </a:t>
            </a:r>
            <a:r>
              <a:rPr lang="ru-RU" sz="2800" dirty="0">
                <a:solidFill>
                  <a:srgbClr val="000000"/>
                </a:solidFill>
              </a:rPr>
              <a:t>началом эффекта </a:t>
            </a:r>
            <a:r>
              <a:rPr lang="ru-RU" sz="2800" dirty="0" smtClean="0">
                <a:solidFill>
                  <a:srgbClr val="000000"/>
                </a:solidFill>
              </a:rPr>
              <a:t>перехода</a:t>
            </a:r>
          </a:p>
          <a:p>
            <a:r>
              <a:rPr lang="ru-RU" sz="2800" dirty="0" smtClean="0">
                <a:solidFill>
                  <a:srgbClr val="000000"/>
                </a:solidFill>
              </a:rPr>
              <a:t>каждое </a:t>
            </a:r>
            <a:r>
              <a:rPr lang="ru-RU" sz="2800" dirty="0">
                <a:solidFill>
                  <a:srgbClr val="000000"/>
                </a:solidFill>
              </a:rPr>
              <a:t>новое значение функции соответствует значению </a:t>
            </a:r>
            <a:r>
              <a:rPr lang="ru-RU" sz="2800" dirty="0" smtClean="0">
                <a:solidFill>
                  <a:srgbClr val="000000"/>
                </a:solidFill>
              </a:rPr>
              <a:t>в  свойстве</a:t>
            </a:r>
            <a:r>
              <a:rPr lang="ru-RU" sz="2800" dirty="0">
                <a:solidFill>
                  <a:srgbClr val="000000"/>
                </a:solidFill>
              </a:rPr>
              <a:t> </a:t>
            </a:r>
            <a:r>
              <a:rPr lang="ru-RU" sz="2800" b="1" dirty="0">
                <a:solidFill>
                  <a:srgbClr val="B22222"/>
                </a:solidFill>
              </a:rPr>
              <a:t>transition-property</a:t>
            </a:r>
            <a:r>
              <a:rPr lang="ru-RU" sz="2800" dirty="0">
                <a:solidFill>
                  <a:srgbClr val="000000"/>
                </a:solidFill>
              </a:rPr>
              <a:t>. </a:t>
            </a:r>
            <a:endParaRPr lang="ru-RU" sz="2800" dirty="0" smtClean="0">
              <a:solidFill>
                <a:srgbClr val="000000"/>
              </a:solidFill>
            </a:endParaRPr>
          </a:p>
          <a:p>
            <a:r>
              <a:rPr lang="ru-RU" sz="2800" dirty="0" smtClean="0">
                <a:solidFill>
                  <a:srgbClr val="000000"/>
                </a:solidFill>
              </a:rPr>
              <a:t>Если </a:t>
            </a:r>
            <a:r>
              <a:rPr lang="ru-RU" sz="2800" dirty="0">
                <a:solidFill>
                  <a:srgbClr val="000000"/>
                </a:solidFill>
              </a:rPr>
              <a:t>список функций меньше, чем количество значений (свойств),  </a:t>
            </a:r>
            <a:r>
              <a:rPr lang="ru-RU" sz="2800" b="1" dirty="0">
                <a:solidFill>
                  <a:srgbClr val="B22222"/>
                </a:solidFill>
              </a:rPr>
              <a:t>transition-property</a:t>
            </a:r>
            <a:r>
              <a:rPr lang="ru-RU" sz="2800" dirty="0">
                <a:solidFill>
                  <a:srgbClr val="000000"/>
                </a:solidFill>
              </a:rPr>
              <a:t>, то значения функций для оставшихся свойств будут использованы еще раз (по кругу). </a:t>
            </a:r>
            <a:endParaRPr lang="ru-RU" sz="2800" dirty="0" smtClean="0">
              <a:solidFill>
                <a:srgbClr val="000000"/>
              </a:solidFill>
            </a:endParaRPr>
          </a:p>
          <a:p>
            <a:r>
              <a:rPr lang="ru-RU" sz="2800" dirty="0" smtClean="0">
                <a:solidFill>
                  <a:srgbClr val="000000"/>
                </a:solidFill>
              </a:rPr>
              <a:t>Если </a:t>
            </a:r>
            <a:r>
              <a:rPr lang="ru-RU" sz="2800" dirty="0">
                <a:solidFill>
                  <a:srgbClr val="000000"/>
                </a:solidFill>
              </a:rPr>
              <a:t>определено больше </a:t>
            </a:r>
            <a:r>
              <a:rPr lang="ru-RU" sz="2800" dirty="0" smtClean="0">
                <a:solidFill>
                  <a:srgbClr val="000000"/>
                </a:solidFill>
              </a:rPr>
              <a:t>функций, </a:t>
            </a:r>
            <a:r>
              <a:rPr lang="ru-RU" sz="2800" dirty="0">
                <a:solidFill>
                  <a:srgbClr val="000000"/>
                </a:solidFill>
              </a:rPr>
              <a:t>то список функций усекается до количества значений этого свойства.</a:t>
            </a:r>
            <a:endParaRPr lang="ru-RU" sz="2800" dirty="0"/>
          </a:p>
          <a:p>
            <a:endParaRPr lang="ru-RU" sz="2800" dirty="0" smtClean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9167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8780" y="417443"/>
            <a:ext cx="5565775" cy="5875407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Для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transition-timing-function</a:t>
            </a:r>
            <a:r>
              <a:rPr lang="ru-RU" sz="3200" dirty="0" smtClean="0"/>
              <a:t> существуют преопределённые значения (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ease</a:t>
            </a:r>
            <a:r>
              <a:rPr lang="ru-RU" sz="3200" dirty="0" smtClean="0"/>
              <a:t> – по умолчанию):</a:t>
            </a:r>
          </a:p>
          <a:p>
            <a:r>
              <a:rPr lang="en-US" sz="3200" b="1" dirty="0">
                <a:solidFill>
                  <a:srgbClr val="4B0082"/>
                </a:solidFill>
                <a:latin typeface="Roboto"/>
              </a:rPr>
              <a:t>cubic-</a:t>
            </a:r>
            <a:r>
              <a:rPr lang="en-US" sz="3200" b="1" dirty="0" err="1">
                <a:solidFill>
                  <a:srgbClr val="4B0082"/>
                </a:solidFill>
                <a:latin typeface="Roboto"/>
              </a:rPr>
              <a:t>bezier</a:t>
            </a:r>
            <a:r>
              <a:rPr lang="en-US" sz="3200" b="1" dirty="0">
                <a:solidFill>
                  <a:srgbClr val="4B0082"/>
                </a:solidFill>
                <a:latin typeface="Roboto"/>
              </a:rPr>
              <a:t>(0.25,0.1,0.25,1)</a:t>
            </a:r>
            <a:endParaRPr lang="ru-RU" sz="3200" b="1" dirty="0" smtClean="0"/>
          </a:p>
          <a:p>
            <a:r>
              <a:rPr lang="ru-RU" sz="3200" dirty="0"/>
              <a:t>Эффект перехода начинается медленно, затем незначительно ускоряется и в конце опять замедляется</a:t>
            </a:r>
            <a:endParaRPr lang="ru-RU" sz="3200" b="1" dirty="0"/>
          </a:p>
          <a:p>
            <a:endParaRPr lang="ru-RU" sz="3200" dirty="0" smtClean="0"/>
          </a:p>
          <a:p>
            <a:endParaRPr lang="ru-RU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196" y="49456"/>
            <a:ext cx="5672132" cy="624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4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174435" y="0"/>
            <a:ext cx="8017565" cy="4035425"/>
          </a:xfrm>
        </p:spPr>
        <p:txBody>
          <a:bodyPr>
            <a:noAutofit/>
          </a:bodyPr>
          <a:lstStyle/>
          <a:p>
            <a:r>
              <a:rPr lang="ru-RU" sz="3200" dirty="0" smtClean="0"/>
              <a:t>А ещё функцию можно определить установив пользовательские значения кривой Безье:</a:t>
            </a:r>
          </a:p>
          <a:p>
            <a:r>
              <a:rPr lang="ru-RU" sz="3200" b="1" dirty="0"/>
              <a:t>Первые два значения — координаты x и y первой точки, а вторые два значения — координаты x и y второй точки</a:t>
            </a:r>
            <a:endParaRPr lang="ru-RU" sz="3200" dirty="0" smtClean="0"/>
          </a:p>
          <a:p>
            <a:pPr marL="0" lvl="0" indent="0">
              <a:buClr>
                <a:srgbClr val="1CADE4"/>
              </a:buClr>
              <a:buNone/>
            </a:pP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transition-timing-function</a:t>
            </a:r>
            <a:r>
              <a:rPr lang="ru-RU" sz="2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40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cubic-</a:t>
            </a: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bezier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1" dirty="0" err="1" smtClean="0"/>
              <a:t>n,n,n,n</a:t>
            </a:r>
            <a:r>
              <a:rPr lang="en-US" sz="24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ru-RU" sz="2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ru-RU" sz="3200" dirty="0" smtClean="0"/>
              <a:t>(что такое </a:t>
            </a:r>
            <a:r>
              <a:rPr lang="ru-RU" sz="3200" i="1" dirty="0" smtClean="0"/>
              <a:t>кривая Безье</a:t>
            </a:r>
            <a:r>
              <a:rPr lang="ru-RU" sz="3200" dirty="0" smtClean="0"/>
              <a:t>:</a:t>
            </a:r>
          </a:p>
          <a:p>
            <a:r>
              <a:rPr lang="en-US" sz="2800" dirty="0" smtClean="0">
                <a:hlinkClick r:id="rId3"/>
              </a:rPr>
              <a:t>http</a:t>
            </a:r>
            <a:r>
              <a:rPr lang="en-US" sz="2800" dirty="0">
                <a:hlinkClick r:id="rId3"/>
              </a:rPr>
              <a:t>://www.wikiwand.com/ru/%D0%9A%D1%80%D0%B8%D0%B2%D0%B0%D1%8F_%</a:t>
            </a:r>
            <a:r>
              <a:rPr lang="en-US" sz="2800" dirty="0" smtClean="0">
                <a:hlinkClick r:id="rId3"/>
              </a:rPr>
              <a:t>D0%91%D0%B5%D0%B7%D1%8C%D0%B5</a:t>
            </a:r>
            <a:endParaRPr lang="ru-RU" sz="2800" dirty="0" smtClean="0"/>
          </a:p>
          <a:p>
            <a:r>
              <a:rPr lang="en-US" sz="3200" dirty="0" smtClean="0">
                <a:hlinkClick r:id="rId4"/>
              </a:rPr>
              <a:t>http</a:t>
            </a:r>
            <a:r>
              <a:rPr lang="en-US" sz="3200" dirty="0">
                <a:hlinkClick r:id="rId4"/>
              </a:rPr>
              <a:t>://habrahabr.ru/post/220715</a:t>
            </a:r>
            <a:r>
              <a:rPr lang="en-US" sz="3200" dirty="0" smtClean="0">
                <a:hlinkClick r:id="rId4"/>
              </a:rPr>
              <a:t>/</a:t>
            </a:r>
            <a:r>
              <a:rPr lang="ru-RU" sz="3200" dirty="0" smtClean="0"/>
              <a:t> )</a:t>
            </a:r>
          </a:p>
          <a:p>
            <a:pPr marL="0" indent="0">
              <a:buNone/>
            </a:pPr>
            <a:endParaRPr lang="ru-RU" sz="2400" dirty="0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sz="3200" dirty="0"/>
          </a:p>
          <a:p>
            <a:endParaRPr lang="ru-RU" sz="3200" dirty="0" smtClean="0"/>
          </a:p>
          <a:p>
            <a:endParaRPr lang="ru-RU" sz="32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" y="1143000"/>
            <a:ext cx="40005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5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4" t="11274" r="3240" b="26117"/>
          <a:stretch/>
        </p:blipFill>
        <p:spPr bwMode="auto">
          <a:xfrm>
            <a:off x="556591" y="238538"/>
            <a:ext cx="9283148" cy="518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220205" y="5536120"/>
            <a:ext cx="84008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hlinkClick r:id="rId3"/>
              </a:rPr>
              <a:t>http://cubic-bezier.com/#.11,.81,1,.</a:t>
            </a:r>
            <a:r>
              <a:rPr lang="en-US" sz="3200" dirty="0" smtClean="0">
                <a:hlinkClick r:id="rId3"/>
              </a:rPr>
              <a:t>99</a:t>
            </a:r>
            <a:r>
              <a:rPr lang="ru-RU" sz="3200" dirty="0" smtClean="0"/>
              <a:t> 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71306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65043" y="463636"/>
            <a:ext cx="11926957" cy="560153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transition-timing-function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ease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/* эффект перехода начинается медленно,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затем незначительно ускоряется и в конце опять замедляется */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.test2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transition-timing-function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/* эффект перехода с одинаковой скоростью от начала до конца. */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.test3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transition-timing-function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ease-in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/* эффект перехода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 медленного старта */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.test4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transition-timing-function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ease-out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/* эффект перехода с медленным окончанием */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.test5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transition-timing-function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ease-in-out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/* эффект перехода с медленного старта и медленным окончанием */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.test6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transition-timing-function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kumimoji="0" lang="ru-RU" altLang="ru-RU" sz="27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cubic-bezier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(0.5,0.05,0.7,0.5);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7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/* пользовательские значения в кубической функции Безье */</a:t>
            </a:r>
            <a:r>
              <a:rPr kumimoji="0" lang="ru-RU" altLang="ru-RU" sz="2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556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61" y="1470991"/>
            <a:ext cx="12142966" cy="38961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791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3182BD"/>
                </a:solidFill>
              </a:rPr>
              <a:t>div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left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; </a:t>
            </a:r>
            <a:r>
              <a:rPr lang="en-US" sz="2800" dirty="0">
                <a:solidFill>
                  <a:srgbClr val="E6550D"/>
                </a:solidFill>
              </a:rPr>
              <a:t>position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relative</a:t>
            </a:r>
            <a:r>
              <a:rPr lang="en-US" sz="2800" dirty="0"/>
              <a:t>; </a:t>
            </a:r>
            <a:r>
              <a:rPr lang="en-US" sz="2800" dirty="0">
                <a:solidFill>
                  <a:srgbClr val="E6550D"/>
                </a:solidFill>
              </a:rPr>
              <a:t>transition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1s</a:t>
            </a:r>
            <a:r>
              <a:rPr lang="en-US" sz="2800" dirty="0"/>
              <a:t>; } </a:t>
            </a:r>
            <a:endParaRPr lang="ru-RU" sz="2800" dirty="0" smtClean="0"/>
          </a:p>
          <a:p>
            <a:r>
              <a:rPr lang="en-US" sz="2800" dirty="0" err="1" smtClean="0">
                <a:solidFill>
                  <a:srgbClr val="3182BD"/>
                </a:solidFill>
              </a:rPr>
              <a:t>main</a:t>
            </a:r>
            <a:r>
              <a:rPr lang="en-US" sz="2800" dirty="0" err="1" smtClean="0"/>
              <a:t>:hover</a:t>
            </a:r>
            <a:r>
              <a:rPr lang="en-US" sz="2800" dirty="0" smtClean="0"/>
              <a:t> </a:t>
            </a:r>
            <a:r>
              <a:rPr lang="en-US" sz="2800" dirty="0">
                <a:solidFill>
                  <a:srgbClr val="3182BD"/>
                </a:solidFill>
              </a:rPr>
              <a:t>div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left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200px</a:t>
            </a:r>
            <a:r>
              <a:rPr lang="en-US" sz="2800" dirty="0"/>
              <a:t>; } </a:t>
            </a:r>
            <a:endParaRPr lang="ru-RU" sz="2800" dirty="0" smtClean="0"/>
          </a:p>
          <a:p>
            <a:r>
              <a:rPr lang="en-US" sz="2800" dirty="0" smtClean="0"/>
              <a:t>.</a:t>
            </a:r>
            <a:r>
              <a:rPr lang="en-US" sz="2800" dirty="0"/>
              <a:t>ease { </a:t>
            </a:r>
            <a:r>
              <a:rPr lang="en-US" sz="2800" dirty="0">
                <a:solidFill>
                  <a:srgbClr val="E6550D"/>
                </a:solidFill>
              </a:rPr>
              <a:t>transition-timing-function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ease</a:t>
            </a:r>
            <a:r>
              <a:rPr lang="en-US" sz="2800" dirty="0"/>
              <a:t>; } </a:t>
            </a:r>
            <a:r>
              <a:rPr lang="en-US" sz="2800" dirty="0">
                <a:solidFill>
                  <a:srgbClr val="999988"/>
                </a:solidFill>
              </a:rPr>
              <a:t>/* </a:t>
            </a:r>
            <a:r>
              <a:rPr lang="ru-RU" sz="2800" dirty="0" smtClean="0">
                <a:solidFill>
                  <a:srgbClr val="999988"/>
                </a:solidFill>
              </a:rPr>
              <a:t>по </a:t>
            </a:r>
            <a:r>
              <a:rPr lang="ru-RU" sz="2800" dirty="0">
                <a:solidFill>
                  <a:srgbClr val="999988"/>
                </a:solidFill>
              </a:rPr>
              <a:t>умолчанию */</a:t>
            </a:r>
            <a:r>
              <a:rPr lang="ru-RU" sz="2800" dirty="0"/>
              <a:t> </a:t>
            </a:r>
            <a:endParaRPr lang="ru-RU" sz="2800" dirty="0" smtClean="0"/>
          </a:p>
          <a:p>
            <a:r>
              <a:rPr lang="ru-RU" sz="2800" dirty="0" smtClean="0"/>
              <a:t>.</a:t>
            </a:r>
            <a:r>
              <a:rPr lang="en-US" sz="2800" dirty="0"/>
              <a:t>linear { </a:t>
            </a:r>
            <a:r>
              <a:rPr lang="en-US" sz="2800" dirty="0">
                <a:solidFill>
                  <a:srgbClr val="E6550D"/>
                </a:solidFill>
              </a:rPr>
              <a:t>transition-timing-function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linear</a:t>
            </a:r>
            <a:r>
              <a:rPr lang="en-US" sz="2800" dirty="0"/>
              <a:t>; } </a:t>
            </a:r>
            <a:r>
              <a:rPr lang="en-US" sz="2800" dirty="0">
                <a:solidFill>
                  <a:srgbClr val="999988"/>
                </a:solidFill>
              </a:rPr>
              <a:t>/* </a:t>
            </a:r>
            <a:r>
              <a:rPr lang="ru-RU" sz="2800" dirty="0">
                <a:solidFill>
                  <a:srgbClr val="999988"/>
                </a:solidFill>
              </a:rPr>
              <a:t>Постоянная скорость */</a:t>
            </a:r>
            <a:r>
              <a:rPr lang="ru-RU" sz="2800" dirty="0"/>
              <a:t> </a:t>
            </a:r>
            <a:endParaRPr lang="ru-RU" sz="2800" dirty="0" smtClean="0"/>
          </a:p>
          <a:p>
            <a:r>
              <a:rPr lang="ru-RU" sz="2800" dirty="0" smtClean="0"/>
              <a:t>.</a:t>
            </a:r>
            <a:r>
              <a:rPr lang="en-US" sz="2800" dirty="0"/>
              <a:t>ease-in { </a:t>
            </a:r>
            <a:r>
              <a:rPr lang="en-US" sz="2800" dirty="0">
                <a:solidFill>
                  <a:srgbClr val="E6550D"/>
                </a:solidFill>
              </a:rPr>
              <a:t>transition-timing-function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ease-in</a:t>
            </a:r>
            <a:r>
              <a:rPr lang="en-US" sz="2800" dirty="0"/>
              <a:t>; } </a:t>
            </a:r>
            <a:endParaRPr lang="ru-RU" sz="2800" dirty="0" smtClean="0"/>
          </a:p>
          <a:p>
            <a:r>
              <a:rPr lang="en-US" sz="2800" dirty="0" smtClean="0"/>
              <a:t>.</a:t>
            </a:r>
            <a:r>
              <a:rPr lang="en-US" sz="2800" dirty="0"/>
              <a:t>ease-out { </a:t>
            </a:r>
            <a:r>
              <a:rPr lang="en-US" sz="2800" dirty="0">
                <a:solidFill>
                  <a:srgbClr val="E6550D"/>
                </a:solidFill>
              </a:rPr>
              <a:t>transition-timing-function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ease-out</a:t>
            </a:r>
            <a:r>
              <a:rPr lang="en-US" sz="2800" dirty="0"/>
              <a:t>; } </a:t>
            </a:r>
            <a:endParaRPr lang="ru-RU" sz="2800" dirty="0" smtClean="0"/>
          </a:p>
          <a:p>
            <a:r>
              <a:rPr lang="en-US" sz="2800" dirty="0" smtClean="0"/>
              <a:t>.</a:t>
            </a:r>
            <a:r>
              <a:rPr lang="en-US" sz="2800" dirty="0"/>
              <a:t>ease-in-out { </a:t>
            </a:r>
            <a:r>
              <a:rPr lang="en-US" sz="2800" dirty="0">
                <a:solidFill>
                  <a:srgbClr val="E6550D"/>
                </a:solidFill>
              </a:rPr>
              <a:t>transition-timing-function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ease-in-out</a:t>
            </a:r>
            <a:r>
              <a:rPr lang="en-US" sz="2800" dirty="0"/>
              <a:t>; }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912" y="3071165"/>
            <a:ext cx="9467088" cy="378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0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0629" y="0"/>
            <a:ext cx="11277599" cy="3030537"/>
          </a:xfrm>
        </p:spPr>
        <p:txBody>
          <a:bodyPr>
            <a:noAutofit/>
          </a:bodyPr>
          <a:lstStyle/>
          <a:p>
            <a:r>
              <a:rPr lang="ru-RU" sz="3200" dirty="0"/>
              <a:t>Универсальное </a:t>
            </a:r>
            <a:r>
              <a:rPr lang="ru-RU" sz="3200" dirty="0" smtClean="0"/>
              <a:t>свойство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</a:t>
            </a:r>
            <a:r>
              <a:rPr lang="ru-RU" sz="3200" dirty="0" smtClean="0"/>
              <a:t> </a:t>
            </a:r>
            <a:r>
              <a:rPr lang="ru-RU" sz="3200" dirty="0"/>
              <a:t>позволяет одновременно задать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transition-property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transition-duration</a:t>
            </a:r>
            <a:r>
              <a:rPr lang="en-US" sz="3200" dirty="0"/>
              <a:t>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transition-timing-function</a:t>
            </a:r>
            <a:r>
              <a:rPr lang="en-US" sz="3200" dirty="0"/>
              <a:t> </a:t>
            </a:r>
            <a:r>
              <a:rPr lang="ru-RU" sz="3200" dirty="0"/>
              <a:t>и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transition-delay</a:t>
            </a:r>
            <a:r>
              <a:rPr lang="en-US" sz="3200" dirty="0" smtClean="0"/>
              <a:t>.</a:t>
            </a:r>
            <a:endParaRPr lang="ru-RU" sz="3200" dirty="0" smtClean="0"/>
          </a:p>
          <a:p>
            <a:pPr>
              <a:spcBef>
                <a:spcPts val="3000"/>
              </a:spcBef>
            </a:pPr>
            <a:r>
              <a:rPr lang="en-US" sz="2800" b="1" dirty="0" smtClean="0"/>
              <a:t>transition:</a:t>
            </a:r>
            <a:r>
              <a:rPr lang="ru-RU" sz="2800" b="1" dirty="0" smtClean="0"/>
              <a:t> </a:t>
            </a:r>
            <a:r>
              <a:rPr lang="en-US" sz="2800" b="1" dirty="0" smtClean="0"/>
              <a:t>property </a:t>
            </a:r>
            <a:r>
              <a:rPr lang="ru-RU" sz="2800" b="1" dirty="0" smtClean="0"/>
              <a:t> </a:t>
            </a:r>
            <a:r>
              <a:rPr lang="en-US" sz="2800" b="1" dirty="0" smtClean="0"/>
              <a:t>duration </a:t>
            </a:r>
            <a:r>
              <a:rPr lang="ru-RU" sz="2800" b="1" dirty="0" smtClean="0"/>
              <a:t> </a:t>
            </a:r>
            <a:r>
              <a:rPr lang="en-US" sz="2800" b="1" dirty="0" smtClean="0"/>
              <a:t>timing-function</a:t>
            </a:r>
            <a:r>
              <a:rPr lang="ru-RU" sz="2800" b="1" dirty="0" smtClean="0"/>
              <a:t> </a:t>
            </a:r>
            <a:r>
              <a:rPr lang="en-US" sz="2800" b="1" dirty="0" smtClean="0"/>
              <a:t> delay</a:t>
            </a:r>
            <a:r>
              <a:rPr lang="ru-RU" sz="2800" b="1" dirty="0" smtClean="0"/>
              <a:t>;</a:t>
            </a:r>
          </a:p>
          <a:p>
            <a:pPr>
              <a:spcBef>
                <a:spcPts val="3000"/>
              </a:spcBef>
            </a:pPr>
            <a:r>
              <a:rPr lang="en-US" sz="2800" b="1" dirty="0"/>
              <a:t>transition:</a:t>
            </a:r>
            <a:r>
              <a:rPr lang="en-US" sz="2800" dirty="0"/>
              <a:t> </a:t>
            </a:r>
            <a:r>
              <a:rPr lang="en-US" sz="2800" b="1" dirty="0"/>
              <a:t>width 2s ease 100ms, height 1s linear 2s, background 0s 4s</a:t>
            </a:r>
            <a:r>
              <a:rPr lang="en-US" sz="2800" b="1" dirty="0" smtClean="0"/>
              <a:t>;</a:t>
            </a:r>
            <a:endParaRPr lang="ru-RU" sz="2800" i="1" dirty="0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2927790"/>
            <a:ext cx="12192000" cy="337015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/* Для свойства </a:t>
            </a: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width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длительность эффекта перехода равна 2 секунды, при этом эффект перехода начинается медленно, затем незначительно ускоряется и в конце опять замедляется (</a:t>
            </a: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ease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) и это всё происходит с предварительной задержкой в 100 миллисекунд.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Для свойства </a:t>
            </a: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height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длительность эффекта перехода равна 1 секунде, при этом эффект перехода происходит с одинаковой скоростью от начала до конца (</a:t>
            </a: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linear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) и это всё происходит с предварительной задержкой в 2 секунды.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Свойство </a:t>
            </a:r>
            <a:r>
              <a:rPr kumimoji="0" lang="ru-RU" altLang="ru-RU" sz="24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background</a:t>
            </a:r>
            <a:r>
              <a:rPr kumimoji="0" lang="ru-RU" altLang="ru-RU" sz="24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будет применено с задержкой 4 секунды. */</a:t>
            </a:r>
            <a:endParaRPr kumimoji="0" lang="ru-RU" alt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07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286000"/>
            <a:ext cx="33528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944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Анимация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spcBef>
                <a:spcPts val="3000"/>
              </a:spcBef>
            </a:pPr>
            <a:r>
              <a:rPr lang="ru-RU" sz="3200" dirty="0"/>
              <a:t>В </a:t>
            </a:r>
            <a:r>
              <a:rPr lang="en-US" sz="3200" dirty="0"/>
              <a:t>CSS </a:t>
            </a:r>
            <a:r>
              <a:rPr lang="ru-RU" sz="3200" dirty="0" smtClean="0"/>
              <a:t>для построения анимации используются последовательности </a:t>
            </a:r>
            <a:r>
              <a:rPr lang="ru-RU" sz="3200" dirty="0"/>
              <a:t>ключевых кадров</a:t>
            </a:r>
            <a:r>
              <a:rPr lang="ru-RU" sz="3200" dirty="0" smtClean="0"/>
              <a:t>.</a:t>
            </a:r>
          </a:p>
          <a:p>
            <a:pPr>
              <a:spcBef>
                <a:spcPts val="3000"/>
              </a:spcBef>
            </a:pPr>
            <a:r>
              <a:rPr lang="ru-RU" sz="3200" i="1" dirty="0" smtClean="0"/>
              <a:t>Ключевой кадр</a:t>
            </a:r>
            <a:r>
              <a:rPr lang="en-US" sz="3200" dirty="0" smtClean="0"/>
              <a:t> (</a:t>
            </a:r>
            <a:r>
              <a:rPr lang="ru-RU" sz="3200" dirty="0" smtClean="0"/>
              <a:t>КК</a:t>
            </a:r>
            <a:r>
              <a:rPr lang="en-US" sz="3200" dirty="0" smtClean="0"/>
              <a:t>)</a:t>
            </a:r>
            <a:r>
              <a:rPr lang="ru-RU" sz="3200" dirty="0" smtClean="0"/>
              <a:t> – это набор свойства и их значений, снабжённый </a:t>
            </a:r>
            <a:r>
              <a:rPr lang="ru-RU" sz="3200" b="1" dirty="0" smtClean="0"/>
              <a:t>относительной</a:t>
            </a:r>
            <a:r>
              <a:rPr lang="ru-RU" sz="3200" dirty="0" smtClean="0"/>
              <a:t> временной отметкой (%).</a:t>
            </a:r>
          </a:p>
          <a:p>
            <a:pPr>
              <a:spcBef>
                <a:spcPts val="3000"/>
              </a:spcBef>
            </a:pPr>
            <a:r>
              <a:rPr lang="ru-RU" sz="3200" i="1" dirty="0" smtClean="0"/>
              <a:t>Анимация</a:t>
            </a:r>
            <a:r>
              <a:rPr lang="ru-RU" sz="3200" dirty="0" smtClean="0"/>
              <a:t> – плавный </a:t>
            </a:r>
            <a:r>
              <a:rPr lang="ru-RU" sz="3200" dirty="0"/>
              <a:t>переход </a:t>
            </a:r>
            <a:r>
              <a:rPr lang="ru-RU" sz="3200" dirty="0" smtClean="0"/>
              <a:t>от </a:t>
            </a:r>
            <a:r>
              <a:rPr lang="ru-RU" sz="3200" dirty="0"/>
              <a:t>одного ключевого кадра к </a:t>
            </a:r>
            <a:r>
              <a:rPr lang="ru-RU" sz="3200" dirty="0" smtClean="0"/>
              <a:t>другому с автоматическим вычислением значений промежуточных кадров.</a:t>
            </a:r>
          </a:p>
        </p:txBody>
      </p:sp>
    </p:spTree>
    <p:extLst>
      <p:ext uri="{BB962C8B-B14F-4D97-AF65-F5344CB8AC3E}">
        <p14:creationId xmlns:p14="http://schemas.microsoft.com/office/powerpoint/2010/main" val="421747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Ключевые кадры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ru-RU" sz="3200" dirty="0" smtClean="0"/>
              <a:t>Один КК – это совокупность относительной временной отметки (в процентах) и блока объявления свойств.</a:t>
            </a:r>
          </a:p>
          <a:p>
            <a:pPr>
              <a:spcBef>
                <a:spcPts val="2400"/>
              </a:spcBef>
            </a:pPr>
            <a:r>
              <a:rPr lang="ru-RU" sz="3200" dirty="0" smtClean="0"/>
              <a:t>Первый КК из последовательности имеет (обычно) отметку </a:t>
            </a:r>
            <a:r>
              <a:rPr lang="ru-RU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0%</a:t>
            </a:r>
            <a:r>
              <a:rPr lang="ru-RU" sz="3200" dirty="0" smtClean="0"/>
              <a:t>, а последний – отметку </a:t>
            </a:r>
            <a:r>
              <a:rPr lang="ru-RU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100%</a:t>
            </a:r>
            <a:r>
              <a:rPr lang="ru-RU" sz="3200" dirty="0" smtClean="0"/>
              <a:t>.</a:t>
            </a:r>
          </a:p>
          <a:p>
            <a:pPr>
              <a:spcBef>
                <a:spcPts val="2400"/>
              </a:spcBef>
            </a:pPr>
            <a:r>
              <a:rPr lang="ru-RU" sz="3200" dirty="0" smtClean="0"/>
              <a:t>Вместо отметок </a:t>
            </a:r>
            <a:r>
              <a:rPr lang="ru-RU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0%</a:t>
            </a:r>
            <a:r>
              <a:rPr lang="ru-RU" sz="3200" dirty="0" smtClean="0"/>
              <a:t> и </a:t>
            </a:r>
            <a:r>
              <a:rPr lang="ru-RU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100%</a:t>
            </a:r>
            <a:r>
              <a:rPr lang="ru-RU" sz="3200" dirty="0" smtClean="0"/>
              <a:t> можно использовать слова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3200" dirty="0" smtClean="0"/>
              <a:t> </a:t>
            </a:r>
            <a:r>
              <a:rPr lang="ru-RU" sz="3200" dirty="0" smtClean="0"/>
              <a:t>и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to</a:t>
            </a:r>
            <a:r>
              <a:rPr lang="en-US" sz="3200" dirty="0" smtClean="0"/>
              <a:t> </a:t>
            </a:r>
            <a:r>
              <a:rPr lang="ru-RU" sz="3200" dirty="0" smtClean="0"/>
              <a:t>соответственно.</a:t>
            </a:r>
          </a:p>
        </p:txBody>
      </p:sp>
    </p:spTree>
    <p:extLst>
      <p:ext uri="{BB962C8B-B14F-4D97-AF65-F5344CB8AC3E}">
        <p14:creationId xmlns:p14="http://schemas.microsoft.com/office/powerpoint/2010/main" val="425374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Ключевые кадры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b="1" dirty="0" smtClean="0"/>
              <a:t>Нюанс 1</a:t>
            </a:r>
            <a:r>
              <a:rPr lang="ru-RU" sz="3200" dirty="0" smtClean="0"/>
              <a:t>: Первый КК может иметь отметку больше </a:t>
            </a:r>
            <a:r>
              <a:rPr lang="ru-RU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ru-RU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ru-RU" sz="3200" dirty="0"/>
              <a:t> </a:t>
            </a:r>
            <a:r>
              <a:rPr lang="ru-RU" sz="3200" dirty="0" smtClean="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3200" dirty="0" smtClean="0"/>
              <a:t>В этом случае анимация начнётся с задержкой. Аналогичные соображения о последнем кадре!</a:t>
            </a:r>
          </a:p>
          <a:p>
            <a:endParaRPr lang="ru-RU" sz="3200" dirty="0" smtClean="0"/>
          </a:p>
          <a:p>
            <a:r>
              <a:rPr lang="ru-RU" sz="3200" b="1" dirty="0" smtClean="0"/>
              <a:t>Нюанс 2</a:t>
            </a:r>
            <a:r>
              <a:rPr lang="ru-RU" sz="3200" dirty="0" smtClean="0"/>
              <a:t>: Не все </a:t>
            </a:r>
            <a:r>
              <a:rPr lang="en-US" sz="3200" dirty="0" smtClean="0"/>
              <a:t>CSS</a:t>
            </a:r>
            <a:r>
              <a:rPr lang="ru-RU" sz="3200" dirty="0" smtClean="0"/>
              <a:t>-свойства поддаются анимации. Список можно найти здесь:</a:t>
            </a:r>
          </a:p>
          <a:p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developer.mozilla.org/en-US/docs/Web/CSS/CSS_animated_properties</a:t>
            </a:r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321156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Набор ключевых кадров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Для создания набора ключевых кадров используется правило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keyframes</a:t>
            </a:r>
            <a:r>
              <a:rPr lang="en-US" sz="3200" dirty="0" smtClean="0"/>
              <a:t>.</a:t>
            </a:r>
          </a:p>
          <a:p>
            <a:r>
              <a:rPr lang="ru-RU" sz="3200" dirty="0" smtClean="0"/>
              <a:t>Указывается </a:t>
            </a:r>
            <a:r>
              <a:rPr lang="ru-RU" sz="3200" i="1" dirty="0" smtClean="0"/>
              <a:t>имя набора</a:t>
            </a:r>
            <a:r>
              <a:rPr lang="ru-RU" sz="3200" dirty="0" smtClean="0"/>
              <a:t> (уникальное) и кадры.</a:t>
            </a:r>
          </a:p>
        </p:txBody>
      </p:sp>
    </p:spTree>
    <p:extLst>
      <p:ext uri="{BB962C8B-B14F-4D97-AF65-F5344CB8AC3E}">
        <p14:creationId xmlns:p14="http://schemas.microsoft.com/office/powerpoint/2010/main" val="29316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8758" y="142751"/>
            <a:ext cx="1154042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0A0A0A"/>
                </a:solidFill>
                <a:latin typeface="Helvetica Neue"/>
              </a:rPr>
              <a:t>Правило </a:t>
            </a:r>
            <a:r>
              <a:rPr lang="ru-RU" sz="2800" dirty="0" smtClean="0">
                <a:solidFill>
                  <a:srgbClr val="E6550D"/>
                </a:solidFill>
                <a:latin typeface="Helvetica Neue"/>
              </a:rPr>
              <a:t>@</a:t>
            </a:r>
            <a:r>
              <a:rPr lang="ru-RU" sz="2800" dirty="0" err="1" smtClean="0">
                <a:solidFill>
                  <a:srgbClr val="E6550D"/>
                </a:solidFill>
                <a:latin typeface="Helvetica Neue"/>
              </a:rPr>
              <a:t>keyframes</a:t>
            </a:r>
            <a:r>
              <a:rPr lang="ru-RU" sz="2800" dirty="0" smtClean="0">
                <a:solidFill>
                  <a:srgbClr val="0A0A0A"/>
                </a:solidFill>
                <a:latin typeface="Helvetica Neue"/>
              </a:rPr>
              <a:t> </a:t>
            </a:r>
            <a:r>
              <a:rPr lang="ru-RU" sz="2800" dirty="0">
                <a:solidFill>
                  <a:srgbClr val="0A0A0A"/>
                </a:solidFill>
                <a:latin typeface="Helvetica Neue"/>
              </a:rPr>
              <a:t>включает имя анимации, любое число контрольных точек, а также свойства, предназначенные для анимации.</a:t>
            </a:r>
          </a:p>
          <a:p>
            <a:r>
              <a:rPr lang="ru-RU" sz="2800" dirty="0"/>
              <a:t>@</a:t>
            </a:r>
            <a:r>
              <a:rPr lang="ru-RU" sz="2800" dirty="0" err="1">
                <a:solidFill>
                  <a:srgbClr val="3182BD"/>
                </a:solidFill>
              </a:rPr>
              <a:t>keyframes</a:t>
            </a:r>
            <a:r>
              <a:rPr lang="ru-RU" sz="2800" dirty="0"/>
              <a:t> </a:t>
            </a:r>
            <a:r>
              <a:rPr lang="ru-RU" sz="2800" dirty="0" err="1">
                <a:solidFill>
                  <a:srgbClr val="3182BD"/>
                </a:solidFill>
              </a:rPr>
              <a:t>slide</a:t>
            </a:r>
            <a:r>
              <a:rPr lang="ru-RU" sz="2800" dirty="0"/>
              <a:t> </a:t>
            </a:r>
            <a:r>
              <a:rPr lang="ru-RU" sz="2800" dirty="0" smtClean="0"/>
              <a:t>{</a:t>
            </a:r>
          </a:p>
          <a:p>
            <a:r>
              <a:rPr lang="ru-RU" sz="2800" dirty="0" smtClean="0"/>
              <a:t> </a:t>
            </a:r>
            <a:r>
              <a:rPr lang="ru-RU" sz="2800" dirty="0">
                <a:solidFill>
                  <a:srgbClr val="31A354"/>
                </a:solidFill>
              </a:rPr>
              <a:t>0%</a:t>
            </a:r>
            <a:r>
              <a:rPr lang="ru-RU" sz="2800" dirty="0"/>
              <a:t> { </a:t>
            </a:r>
            <a:r>
              <a:rPr lang="ru-RU" sz="2800" dirty="0" err="1">
                <a:solidFill>
                  <a:srgbClr val="E6550D"/>
                </a:solidFill>
              </a:rPr>
              <a:t>left</a:t>
            </a:r>
            <a:r>
              <a:rPr lang="ru-RU" sz="2800" dirty="0"/>
              <a:t>: </a:t>
            </a:r>
            <a:r>
              <a:rPr lang="ru-RU" sz="2800" dirty="0">
                <a:solidFill>
                  <a:srgbClr val="31A354"/>
                </a:solidFill>
              </a:rPr>
              <a:t>0</a:t>
            </a:r>
            <a:r>
              <a:rPr lang="ru-RU" sz="2800" dirty="0"/>
              <a:t>; </a:t>
            </a:r>
            <a:r>
              <a:rPr lang="ru-RU" sz="2800" dirty="0" err="1">
                <a:solidFill>
                  <a:srgbClr val="E6550D"/>
                </a:solidFill>
              </a:rPr>
              <a:t>top</a:t>
            </a:r>
            <a:r>
              <a:rPr lang="ru-RU" sz="2800" dirty="0"/>
              <a:t>: </a:t>
            </a:r>
            <a:r>
              <a:rPr lang="ru-RU" sz="2800" dirty="0">
                <a:solidFill>
                  <a:srgbClr val="31A354"/>
                </a:solidFill>
              </a:rPr>
              <a:t>0</a:t>
            </a:r>
            <a:r>
              <a:rPr lang="ru-RU" sz="2800" dirty="0"/>
              <a:t>; } </a:t>
            </a:r>
            <a:endParaRPr lang="ru-RU" sz="2800" dirty="0" smtClean="0"/>
          </a:p>
          <a:p>
            <a:r>
              <a:rPr lang="ru-RU" sz="2800" dirty="0" smtClean="0">
                <a:solidFill>
                  <a:srgbClr val="31A354"/>
                </a:solidFill>
              </a:rPr>
              <a:t>50</a:t>
            </a:r>
            <a:r>
              <a:rPr lang="ru-RU" sz="2800" dirty="0">
                <a:solidFill>
                  <a:srgbClr val="31A354"/>
                </a:solidFill>
              </a:rPr>
              <a:t>%</a:t>
            </a:r>
            <a:r>
              <a:rPr lang="ru-RU" sz="2800" dirty="0"/>
              <a:t> { </a:t>
            </a:r>
            <a:r>
              <a:rPr lang="ru-RU" sz="2800" dirty="0" err="1">
                <a:solidFill>
                  <a:srgbClr val="E6550D"/>
                </a:solidFill>
              </a:rPr>
              <a:t>left</a:t>
            </a:r>
            <a:r>
              <a:rPr lang="ru-RU" sz="2800" dirty="0"/>
              <a:t>: </a:t>
            </a:r>
            <a:r>
              <a:rPr lang="ru-RU" sz="2800" dirty="0">
                <a:solidFill>
                  <a:srgbClr val="31A354"/>
                </a:solidFill>
              </a:rPr>
              <a:t>244px</a:t>
            </a:r>
            <a:r>
              <a:rPr lang="ru-RU" sz="2800" dirty="0"/>
              <a:t>; </a:t>
            </a:r>
            <a:r>
              <a:rPr lang="ru-RU" sz="2800" dirty="0" err="1">
                <a:solidFill>
                  <a:srgbClr val="E6550D"/>
                </a:solidFill>
              </a:rPr>
              <a:t>top</a:t>
            </a:r>
            <a:r>
              <a:rPr lang="ru-RU" sz="2800" dirty="0"/>
              <a:t>: </a:t>
            </a:r>
            <a:r>
              <a:rPr lang="ru-RU" sz="2800" dirty="0">
                <a:solidFill>
                  <a:srgbClr val="31A354"/>
                </a:solidFill>
              </a:rPr>
              <a:t>100px</a:t>
            </a:r>
            <a:r>
              <a:rPr lang="ru-RU" sz="2800" dirty="0"/>
              <a:t>; } </a:t>
            </a:r>
            <a:endParaRPr lang="ru-RU" sz="2800" dirty="0" smtClean="0"/>
          </a:p>
          <a:p>
            <a:r>
              <a:rPr lang="ru-RU" sz="2800" dirty="0" smtClean="0">
                <a:solidFill>
                  <a:srgbClr val="31A354"/>
                </a:solidFill>
              </a:rPr>
              <a:t>100</a:t>
            </a:r>
            <a:r>
              <a:rPr lang="ru-RU" sz="2800" dirty="0">
                <a:solidFill>
                  <a:srgbClr val="31A354"/>
                </a:solidFill>
              </a:rPr>
              <a:t>%</a:t>
            </a:r>
            <a:r>
              <a:rPr lang="ru-RU" sz="2800" dirty="0"/>
              <a:t> { </a:t>
            </a:r>
            <a:r>
              <a:rPr lang="ru-RU" sz="2800" dirty="0" err="1">
                <a:solidFill>
                  <a:srgbClr val="E6550D"/>
                </a:solidFill>
              </a:rPr>
              <a:t>left</a:t>
            </a:r>
            <a:r>
              <a:rPr lang="ru-RU" sz="2800" dirty="0"/>
              <a:t>: </a:t>
            </a:r>
            <a:r>
              <a:rPr lang="ru-RU" sz="2800" dirty="0">
                <a:solidFill>
                  <a:srgbClr val="31A354"/>
                </a:solidFill>
              </a:rPr>
              <a:t>488px</a:t>
            </a:r>
            <a:r>
              <a:rPr lang="ru-RU" sz="2800" dirty="0"/>
              <a:t>; </a:t>
            </a:r>
            <a:r>
              <a:rPr lang="ru-RU" sz="2800" dirty="0" err="1">
                <a:solidFill>
                  <a:srgbClr val="E6550D"/>
                </a:solidFill>
              </a:rPr>
              <a:t>top</a:t>
            </a:r>
            <a:r>
              <a:rPr lang="ru-RU" sz="2800" dirty="0"/>
              <a:t>: </a:t>
            </a:r>
            <a:r>
              <a:rPr lang="ru-RU" sz="2800" dirty="0">
                <a:solidFill>
                  <a:srgbClr val="31A354"/>
                </a:solidFill>
              </a:rPr>
              <a:t>0</a:t>
            </a:r>
            <a:r>
              <a:rPr lang="ru-RU" sz="2800" dirty="0"/>
              <a:t>; } }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933" y="3474720"/>
            <a:ext cx="10980067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4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Применение анимации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Чтобы применить анимацию к выбранным селектором элементам, используются свойства вида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-*</a:t>
            </a:r>
            <a:r>
              <a:rPr lang="ru-RU" sz="3200" dirty="0" smtClean="0"/>
              <a:t>:</a:t>
            </a:r>
          </a:p>
          <a:p>
            <a:endParaRPr lang="ru-RU" sz="3200" dirty="0" smtClean="0"/>
          </a:p>
          <a:p>
            <a:endParaRPr lang="ru-RU" sz="3200" dirty="0" smtClean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112194"/>
              </p:ext>
            </p:extLst>
          </p:nvPr>
        </p:nvGraphicFramePr>
        <p:xfrm>
          <a:off x="292608" y="3109780"/>
          <a:ext cx="11247120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685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785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animation-name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</a:rPr>
                        <a:t>Назначает набор ключевых кадров</a:t>
                      </a:r>
                      <a:r>
                        <a:rPr lang="ru-RU" sz="2400" baseline="0" dirty="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</a:rPr>
                        <a:t> для элемента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animation-duration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</a:rPr>
                        <a:t>Общая продолжительность анимации.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animation-delay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</a:rPr>
                        <a:t>Задержка до старта анимации.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animation-timing-function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</a:rPr>
                        <a:t>Функция времени анимации.</a:t>
                      </a:r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44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112" y="4133088"/>
            <a:ext cx="7866888" cy="22860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865022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685C53"/>
                </a:solidFill>
                <a:latin typeface="Helvetica Neue"/>
              </a:rPr>
              <a:t>HTML</a:t>
            </a:r>
            <a:endParaRPr lang="en-US" sz="2800" b="1" dirty="0">
              <a:solidFill>
                <a:srgbClr val="685C53"/>
              </a:solidFill>
              <a:latin typeface="Helvetica Neue"/>
            </a:endParaRPr>
          </a:p>
          <a:p>
            <a:r>
              <a:rPr lang="en-US" sz="2800" dirty="0">
                <a:solidFill>
                  <a:srgbClr val="3182BD"/>
                </a:solidFill>
              </a:rPr>
              <a:t>&lt;div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E6550D"/>
                </a:solidFill>
              </a:rPr>
              <a:t>class</a:t>
            </a:r>
            <a:r>
              <a:rPr lang="en-US" sz="2800" dirty="0">
                <a:solidFill>
                  <a:srgbClr val="756BB1"/>
                </a:solidFill>
              </a:rPr>
              <a:t>=</a:t>
            </a:r>
            <a:r>
              <a:rPr lang="en-US" sz="2800" dirty="0">
                <a:solidFill>
                  <a:srgbClr val="31A354"/>
                </a:solidFill>
              </a:rPr>
              <a:t>"stage"</a:t>
            </a:r>
            <a:r>
              <a:rPr lang="en-US" sz="2800" dirty="0">
                <a:solidFill>
                  <a:srgbClr val="3182BD"/>
                </a:solidFill>
              </a:rPr>
              <a:t>&gt;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3182BD"/>
                </a:solidFill>
              </a:rPr>
              <a:t>&lt;figure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E6550D"/>
                </a:solidFill>
              </a:rPr>
              <a:t>class</a:t>
            </a:r>
            <a:r>
              <a:rPr lang="en-US" sz="2800" dirty="0">
                <a:solidFill>
                  <a:srgbClr val="756BB1"/>
                </a:solidFill>
              </a:rPr>
              <a:t>=</a:t>
            </a:r>
            <a:r>
              <a:rPr lang="en-US" sz="2800" dirty="0">
                <a:solidFill>
                  <a:srgbClr val="31A354"/>
                </a:solidFill>
              </a:rPr>
              <a:t>"ball"</a:t>
            </a:r>
            <a:r>
              <a:rPr lang="en-US" sz="2800" dirty="0">
                <a:solidFill>
                  <a:srgbClr val="3182BD"/>
                </a:solidFill>
              </a:rPr>
              <a:t>&gt;&lt;/figure&gt;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3182BD"/>
                </a:solidFill>
              </a:rPr>
              <a:t>&lt;/div</a:t>
            </a:r>
            <a:r>
              <a:rPr lang="en-US" sz="2800" dirty="0" smtClean="0">
                <a:solidFill>
                  <a:srgbClr val="3182BD"/>
                </a:solidFill>
              </a:rPr>
              <a:t>&gt;</a:t>
            </a:r>
            <a:endParaRPr lang="ru-RU" sz="2800" dirty="0" smtClean="0">
              <a:solidFill>
                <a:srgbClr val="3182BD"/>
              </a:solidFill>
            </a:endParaRPr>
          </a:p>
          <a:p>
            <a:r>
              <a:rPr lang="en-US" sz="2800" b="1" dirty="0" smtClean="0">
                <a:solidFill>
                  <a:srgbClr val="685C53"/>
                </a:solidFill>
                <a:latin typeface="Helvetica Neue"/>
              </a:rPr>
              <a:t>CSS</a:t>
            </a:r>
            <a:endParaRPr lang="en-US" sz="2800" b="1" dirty="0">
              <a:solidFill>
                <a:srgbClr val="685C53"/>
              </a:solidFill>
              <a:latin typeface="Helvetica Neue"/>
            </a:endParaRPr>
          </a:p>
          <a:p>
            <a:r>
              <a:rPr lang="en-US" sz="2800" dirty="0"/>
              <a:t>@</a:t>
            </a:r>
            <a:r>
              <a:rPr lang="en-US" sz="2800" dirty="0" err="1">
                <a:solidFill>
                  <a:srgbClr val="3182BD"/>
                </a:solidFill>
              </a:rPr>
              <a:t>keyframes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3182BD"/>
                </a:solidFill>
              </a:rPr>
              <a:t>slide</a:t>
            </a:r>
            <a:r>
              <a:rPr lang="en-US" sz="2800" dirty="0"/>
              <a:t> {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0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left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; </a:t>
            </a:r>
            <a:r>
              <a:rPr lang="en-US" sz="2800" dirty="0">
                <a:solidFill>
                  <a:srgbClr val="E6550D"/>
                </a:solidFill>
              </a:rPr>
              <a:t>top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; }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50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left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244px</a:t>
            </a:r>
            <a:r>
              <a:rPr lang="en-US" sz="2800" dirty="0"/>
              <a:t>; </a:t>
            </a:r>
            <a:r>
              <a:rPr lang="en-US" sz="2800" dirty="0">
                <a:solidFill>
                  <a:srgbClr val="E6550D"/>
                </a:solidFill>
              </a:rPr>
              <a:t>top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100px</a:t>
            </a:r>
            <a:r>
              <a:rPr lang="en-US" sz="2800" dirty="0"/>
              <a:t>; }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100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left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488px</a:t>
            </a:r>
            <a:r>
              <a:rPr lang="en-US" sz="2800" dirty="0"/>
              <a:t>; </a:t>
            </a:r>
            <a:r>
              <a:rPr lang="en-US" sz="2800" dirty="0">
                <a:solidFill>
                  <a:srgbClr val="E6550D"/>
                </a:solidFill>
              </a:rPr>
              <a:t>top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; } } </a:t>
            </a:r>
            <a:endParaRPr lang="ru-RU" sz="2800" dirty="0" smtClean="0"/>
          </a:p>
          <a:p>
            <a:r>
              <a:rPr lang="en-US" sz="2800" dirty="0" smtClean="0"/>
              <a:t>.</a:t>
            </a:r>
            <a:r>
              <a:rPr lang="en-US" sz="2800" dirty="0"/>
              <a:t>stage { </a:t>
            </a:r>
            <a:r>
              <a:rPr lang="en-US" sz="2800" dirty="0">
                <a:solidFill>
                  <a:srgbClr val="E6550D"/>
                </a:solidFill>
              </a:rPr>
              <a:t>height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150px</a:t>
            </a:r>
            <a:r>
              <a:rPr lang="en-US" sz="2800" dirty="0"/>
              <a:t>; </a:t>
            </a:r>
            <a:r>
              <a:rPr lang="en-US" sz="2800" dirty="0">
                <a:solidFill>
                  <a:srgbClr val="E6550D"/>
                </a:solidFill>
              </a:rPr>
              <a:t>position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relative</a:t>
            </a:r>
            <a:r>
              <a:rPr lang="en-US" sz="2800" dirty="0"/>
              <a:t>; } </a:t>
            </a:r>
            <a:endParaRPr lang="ru-RU" sz="2800" dirty="0" smtClean="0"/>
          </a:p>
          <a:p>
            <a:r>
              <a:rPr lang="en-US" sz="2800" dirty="0" smtClean="0"/>
              <a:t>.</a:t>
            </a:r>
            <a:r>
              <a:rPr lang="en-US" sz="2800" dirty="0"/>
              <a:t>ball { </a:t>
            </a:r>
            <a:r>
              <a:rPr lang="en-US" sz="2800" dirty="0">
                <a:solidFill>
                  <a:srgbClr val="E6550D"/>
                </a:solidFill>
              </a:rPr>
              <a:t>height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50px</a:t>
            </a:r>
            <a:r>
              <a:rPr lang="en-US" sz="2800" dirty="0"/>
              <a:t>; </a:t>
            </a:r>
            <a:r>
              <a:rPr lang="en-US" sz="2800" dirty="0">
                <a:solidFill>
                  <a:srgbClr val="E6550D"/>
                </a:solidFill>
              </a:rPr>
              <a:t>position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absolute</a:t>
            </a:r>
            <a:r>
              <a:rPr lang="en-US" sz="2800" dirty="0"/>
              <a:t>; </a:t>
            </a:r>
            <a:r>
              <a:rPr lang="en-US" sz="2800" dirty="0">
                <a:solidFill>
                  <a:srgbClr val="E6550D"/>
                </a:solidFill>
              </a:rPr>
              <a:t>width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50px</a:t>
            </a:r>
            <a:r>
              <a:rPr lang="en-US" sz="2800" dirty="0"/>
              <a:t>; } </a:t>
            </a:r>
            <a:endParaRPr lang="ru-RU" sz="2800" dirty="0" smtClean="0"/>
          </a:p>
          <a:p>
            <a:r>
              <a:rPr lang="en-US" sz="2800" dirty="0" smtClean="0"/>
              <a:t>.</a:t>
            </a:r>
            <a:r>
              <a:rPr lang="en-US" sz="2800" dirty="0" err="1"/>
              <a:t>stage:hover</a:t>
            </a:r>
            <a:r>
              <a:rPr lang="en-US" sz="2800" dirty="0"/>
              <a:t> </a:t>
            </a:r>
            <a:endParaRPr lang="ru-RU" sz="2800" dirty="0" smtClean="0"/>
          </a:p>
          <a:p>
            <a:r>
              <a:rPr lang="en-US" sz="2800" dirty="0" smtClean="0"/>
              <a:t>.</a:t>
            </a:r>
            <a:r>
              <a:rPr lang="en-US" sz="2800" dirty="0"/>
              <a:t>ball { </a:t>
            </a:r>
            <a:r>
              <a:rPr lang="en-US" sz="2800" dirty="0">
                <a:solidFill>
                  <a:srgbClr val="E6550D"/>
                </a:solidFill>
              </a:rPr>
              <a:t>animation-name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slide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animation-duration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2s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animation-timing-function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ease-in-out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animation-delay</a:t>
            </a:r>
            <a:r>
              <a:rPr lang="en-US" sz="2800" dirty="0"/>
              <a:t>: .</a:t>
            </a:r>
            <a:r>
              <a:rPr lang="en-US" sz="2800" dirty="0">
                <a:solidFill>
                  <a:srgbClr val="31A354"/>
                </a:solidFill>
              </a:rPr>
              <a:t>5s</a:t>
            </a:r>
            <a:r>
              <a:rPr lang="en-US" sz="2800" dirty="0"/>
              <a:t>; 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98682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86512" y="141035"/>
            <a:ext cx="10058400" cy="956246"/>
          </a:xfrm>
        </p:spPr>
        <p:txBody>
          <a:bodyPr/>
          <a:lstStyle/>
          <a:p>
            <a:r>
              <a:rPr lang="ru-RU" dirty="0"/>
              <a:t>Настройка анимации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6304" y="1133031"/>
            <a:ext cx="11478768" cy="4035425"/>
          </a:xfrm>
        </p:spPr>
        <p:txBody>
          <a:bodyPr>
            <a:noAutofit/>
          </a:bodyPr>
          <a:lstStyle/>
          <a:p>
            <a:pPr>
              <a:buClr>
                <a:srgbClr val="1CADE4"/>
              </a:buClr>
            </a:pPr>
            <a:r>
              <a:rPr lang="ru-RU" sz="32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Свойство </a:t>
            </a: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animation-iteration-count</a:t>
            </a:r>
            <a:r>
              <a:rPr lang="ru-RU" sz="3200" dirty="0" smtClean="0"/>
              <a:t> определяет</a:t>
            </a:r>
            <a:r>
              <a:rPr lang="ru-RU" sz="3200" dirty="0"/>
              <a:t>, сколько раз проигрывать цикл </a:t>
            </a:r>
            <a:r>
              <a:rPr lang="ru-RU" sz="3200" dirty="0" smtClean="0"/>
              <a:t>анимации. Значением является положительное число</a:t>
            </a:r>
            <a:r>
              <a:rPr lang="en-US" sz="3200" dirty="0" smtClean="0"/>
              <a:t> </a:t>
            </a:r>
            <a:r>
              <a:rPr lang="ru-RU" sz="3200" dirty="0" smtClean="0"/>
              <a:t>или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infinite</a:t>
            </a: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‒ бесконечно будет проигрываться</a:t>
            </a:r>
            <a:r>
              <a:rPr lang="en-US" sz="3200" dirty="0" smtClean="0"/>
              <a:t>.</a:t>
            </a:r>
          </a:p>
          <a:p>
            <a:pPr>
              <a:spcBef>
                <a:spcPts val="2400"/>
              </a:spcBef>
              <a:buClr>
                <a:srgbClr val="1CADE4"/>
              </a:buClr>
            </a:pPr>
            <a:r>
              <a:rPr lang="ru-RU" sz="3200" dirty="0" smtClean="0"/>
              <a:t>Свойство 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animation-direction</a:t>
            </a:r>
            <a:r>
              <a:rPr lang="ru-RU" sz="3200" dirty="0" smtClean="0"/>
              <a:t> задаёт направление выполнения анимации по набору ключевых кадров (как определено </a:t>
            </a:r>
            <a:r>
              <a:rPr lang="en-US" sz="3200" dirty="0">
                <a:solidFill>
                  <a:srgbClr val="E6550D"/>
                </a:solidFill>
                <a:latin typeface="Helvetica Neue"/>
              </a:rPr>
              <a:t>@</a:t>
            </a:r>
            <a:r>
              <a:rPr lang="en-US" sz="3200" dirty="0" err="1">
                <a:solidFill>
                  <a:srgbClr val="E6550D"/>
                </a:solidFill>
                <a:latin typeface="Helvetica Neue"/>
              </a:rPr>
              <a:t>keyframes</a:t>
            </a:r>
            <a:r>
              <a:rPr lang="ru-RU" sz="3200" dirty="0" smtClean="0"/>
              <a:t>):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normal</a:t>
            </a:r>
            <a:r>
              <a:rPr lang="ru-RU" sz="2800" dirty="0"/>
              <a:t>	</a:t>
            </a:r>
            <a:r>
              <a:rPr lang="ru-RU" sz="2800" dirty="0" smtClean="0"/>
              <a:t>		начало – конец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800" dirty="0" err="1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alternate</a:t>
            </a:r>
            <a:r>
              <a:rPr lang="ru-RU" sz="2800" dirty="0" smtClean="0"/>
              <a:t>		начало – конец, потом конец – начало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reverse</a:t>
            </a:r>
            <a:r>
              <a:rPr lang="ru-RU" sz="2800" dirty="0" smtClean="0"/>
              <a:t>			конец – начало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</a:pPr>
            <a:r>
              <a:rPr lang="ru-RU" sz="28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alternate-reverse</a:t>
            </a:r>
            <a:r>
              <a:rPr lang="ru-RU" sz="2800" dirty="0" smtClean="0"/>
              <a:t>	конец – начало, начало – конец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5002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288" y="0"/>
            <a:ext cx="784631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.</a:t>
            </a:r>
            <a:r>
              <a:rPr lang="en-US" sz="2800" dirty="0" err="1"/>
              <a:t>stage:hover</a:t>
            </a:r>
            <a:r>
              <a:rPr lang="en-US" sz="2800" dirty="0"/>
              <a:t> .ball {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animation-name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slide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animation-duration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2s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animation-timing-function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ease-in-out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animation-delay</a:t>
            </a:r>
            <a:r>
              <a:rPr lang="en-US" sz="2800" dirty="0"/>
              <a:t>: .</a:t>
            </a:r>
            <a:r>
              <a:rPr lang="en-US" sz="2800" dirty="0">
                <a:solidFill>
                  <a:srgbClr val="31A354"/>
                </a:solidFill>
              </a:rPr>
              <a:t>5s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animation-iteration-count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infinite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animation-direction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alternate</a:t>
            </a:r>
            <a:r>
              <a:rPr lang="en-US" sz="2800" dirty="0"/>
              <a:t>; }</a:t>
            </a:r>
            <a:endParaRPr lang="ru-RU" sz="28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832" y="3465576"/>
            <a:ext cx="791260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6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анимации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buClr>
                <a:srgbClr val="1CADE4"/>
              </a:buClr>
            </a:pPr>
            <a:r>
              <a:rPr lang="ru-RU" sz="3200" dirty="0" smtClean="0"/>
              <a:t>По умолчанию после анимации </a:t>
            </a:r>
            <a:r>
              <a:rPr lang="ru-RU" sz="3200" dirty="0"/>
              <a:t>стиль элемента возвращается к </a:t>
            </a:r>
            <a:r>
              <a:rPr lang="ru-RU" sz="3200" dirty="0" smtClean="0"/>
              <a:t>исходному состоянию. Свойство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animation-fill-mode</a:t>
            </a:r>
            <a:r>
              <a:rPr lang="ru-RU" sz="3200" dirty="0" smtClean="0"/>
              <a:t> </a:t>
            </a:r>
            <a:r>
              <a:rPr lang="ru-RU" sz="3200" dirty="0"/>
              <a:t>позволяет изменить </a:t>
            </a:r>
            <a:r>
              <a:rPr lang="ru-RU" sz="3200" dirty="0" smtClean="0"/>
              <a:t>это.</a:t>
            </a:r>
            <a:endParaRPr lang="ru-RU" sz="2800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1099091" y="3349138"/>
          <a:ext cx="10058400" cy="2804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739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844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  <a:r>
                        <a:rPr lang="ru-RU" sz="20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one</a:t>
                      </a:r>
                      <a:r>
                        <a:rPr lang="ru-RU" sz="20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endParaRPr lang="en-US" sz="2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К элементу не применяются какие-либо стили</a:t>
                      </a:r>
                      <a:r>
                        <a:rPr lang="en-US" sz="2000" dirty="0" smtClean="0"/>
                        <a:t>,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ru-RU" sz="2000" baseline="0" dirty="0" smtClean="0"/>
                        <a:t>связанные с анимацией.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</a:t>
                      </a:r>
                      <a:r>
                        <a:rPr lang="ru-RU" sz="20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orwards</a:t>
                      </a:r>
                      <a:r>
                        <a:rPr lang="ru-RU" sz="20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endParaRPr lang="en-US" sz="2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По окончанию анимации применяется стиль последнего ключевого кадра. Что это за кадр, зависит от значений свойств </a:t>
                      </a:r>
                      <a:r>
                        <a:rPr lang="ru-RU" sz="2000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animation-direction</a:t>
                      </a:r>
                      <a:r>
                        <a:rPr lang="ru-RU" sz="2000" dirty="0" smtClean="0"/>
                        <a:t> и </a:t>
                      </a:r>
                      <a:r>
                        <a:rPr lang="ru-RU" sz="2000" kern="1200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animation-iteration-count</a:t>
                      </a:r>
                      <a:r>
                        <a:rPr lang="ru-RU" sz="2000" dirty="0" smtClean="0"/>
                        <a:t>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ru-RU" sz="20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ackwards</a:t>
                      </a:r>
                      <a:r>
                        <a:rPr lang="ru-RU" sz="20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endParaRPr lang="en-US" sz="2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Стиль первого ключевого кадра применятся и остаётся на протяжении периода заданного </a:t>
                      </a:r>
                      <a:r>
                        <a:rPr lang="ru-RU" sz="2000" kern="1200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animation-delay</a:t>
                      </a:r>
                      <a:r>
                        <a:rPr lang="ru-RU" sz="2000" dirty="0" smtClean="0"/>
                        <a:t>. Первый ключевой кадр определяется на основании значения </a:t>
                      </a:r>
                      <a:r>
                        <a:rPr lang="ru-RU" sz="2000" kern="1200" dirty="0" err="1" smtClean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animation-direction</a:t>
                      </a:r>
                      <a:r>
                        <a:rPr lang="ru-RU" sz="2000" dirty="0" smtClean="0"/>
                        <a:t>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r>
                        <a:rPr lang="ru-RU" sz="20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oth</a:t>
                      </a:r>
                      <a:r>
                        <a:rPr lang="ru-RU" sz="20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endParaRPr lang="en-US" sz="2000" dirty="0">
                        <a:solidFill>
                          <a:srgbClr val="0000FF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К элементу применяются оба правила: </a:t>
                      </a:r>
                      <a:r>
                        <a:rPr lang="ru-RU" sz="2000" kern="12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forwards</a:t>
                      </a:r>
                      <a:r>
                        <a:rPr lang="ru-RU" sz="2000" dirty="0" smtClean="0"/>
                        <a:t> и </a:t>
                      </a:r>
                      <a:r>
                        <a:rPr lang="ru-RU" sz="2000" kern="1200" dirty="0" err="1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backwards</a:t>
                      </a:r>
                      <a:r>
                        <a:rPr lang="ru-RU" sz="2000" dirty="0" smtClean="0"/>
                        <a:t>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09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анимации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#box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animation-name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animation-duration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animation-delay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animation-fill-mode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forwards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480" y="1845733"/>
            <a:ext cx="42672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06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Настройка анимации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#box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teal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animation-name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grow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animation-duration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animation-delay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1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animation-fill-mode</a:t>
            </a:r>
            <a:r>
              <a:rPr 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backwards</a:t>
            </a:r>
            <a:r>
              <a:rPr lang="en-US" sz="24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480" y="1845733"/>
            <a:ext cx="42672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анимации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Свойство</a:t>
            </a:r>
            <a:r>
              <a:rPr lang="en-US" sz="3200" dirty="0" smtClean="0"/>
              <a:t> 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animation-play-state</a:t>
            </a:r>
            <a:r>
              <a:rPr lang="ru-RU" sz="3200" dirty="0" smtClean="0"/>
              <a:t> </a:t>
            </a:r>
            <a:r>
              <a:rPr lang="ru-RU" sz="3200" dirty="0"/>
              <a:t>определяет, проигрывать </a:t>
            </a:r>
            <a:r>
              <a:rPr lang="ru-RU" sz="3200" dirty="0" smtClean="0"/>
              <a:t>анимацию</a:t>
            </a:r>
            <a:r>
              <a:rPr lang="en-US" sz="3200" dirty="0"/>
              <a:t> 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running</a:t>
            </a:r>
            <a:r>
              <a:rPr lang="en-US" sz="3200" dirty="0"/>
              <a:t>)</a:t>
            </a:r>
            <a:r>
              <a:rPr lang="ru-RU" sz="3200" dirty="0" smtClean="0"/>
              <a:t> </a:t>
            </a:r>
            <a:r>
              <a:rPr lang="ru-RU" sz="3200" dirty="0"/>
              <a:t>или поставить её на </a:t>
            </a:r>
            <a:r>
              <a:rPr lang="ru-RU" sz="3200" dirty="0" smtClean="0"/>
              <a:t>паузу</a:t>
            </a:r>
            <a:r>
              <a:rPr lang="en-US" sz="3200" dirty="0"/>
              <a:t> (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paused</a:t>
            </a:r>
            <a:r>
              <a:rPr lang="en-US" sz="3200" dirty="0" smtClean="0"/>
              <a:t>)</a:t>
            </a:r>
            <a:r>
              <a:rPr lang="ru-RU" sz="3200" dirty="0" smtClean="0"/>
              <a:t>.</a:t>
            </a:r>
          </a:p>
          <a:p>
            <a:endParaRPr lang="ru-RU" sz="3200" dirty="0"/>
          </a:p>
          <a:p>
            <a:r>
              <a:rPr lang="ru-RU" sz="3200" dirty="0" smtClean="0"/>
              <a:t>Часто используется с </a:t>
            </a:r>
            <a:r>
              <a:rPr lang="ru-RU" sz="3200" dirty="0" err="1" smtClean="0"/>
              <a:t>псевдоклассами</a:t>
            </a:r>
            <a:r>
              <a:rPr lang="ru-RU" sz="3200" dirty="0" smtClean="0"/>
              <a:t> (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:hover</a:t>
            </a:r>
            <a:r>
              <a:rPr lang="ru-RU" sz="3200" dirty="0" smtClean="0"/>
              <a:t>) или через клиентские скрипты.</a:t>
            </a:r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835774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8224" y="4572000"/>
            <a:ext cx="8113776" cy="228600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45201"/>
            <a:ext cx="1197864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свойство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 </a:t>
            </a:r>
            <a:r>
              <a:rPr lang="en-US" sz="2800" dirty="0">
                <a:solidFill>
                  <a:srgbClr val="E6550D"/>
                </a:solidFill>
                <a:latin typeface="Helvetica Neue"/>
              </a:rPr>
              <a:t>animation-play-state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 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устанавливается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на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паузу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,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когда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 stage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активен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при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щелчке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по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нему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. </a:t>
            </a:r>
            <a:r>
              <a:rPr lang="en-US" sz="2800" dirty="0" err="1" smtClean="0">
                <a:solidFill>
                  <a:srgbClr val="0A0A0A"/>
                </a:solidFill>
                <a:latin typeface="Helvetica Neue"/>
              </a:rPr>
              <a:t>анимация</a:t>
            </a:r>
            <a:r>
              <a:rPr lang="en-US" sz="2800" dirty="0" smtClean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временно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приостанавливается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,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пока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 smtClean="0">
                <a:solidFill>
                  <a:srgbClr val="0A0A0A"/>
                </a:solidFill>
                <a:latin typeface="Helvetica Neue"/>
              </a:rPr>
              <a:t>не</a:t>
            </a:r>
            <a:r>
              <a:rPr lang="en-US" sz="2800" dirty="0" smtClean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 smtClean="0">
                <a:solidFill>
                  <a:srgbClr val="0A0A0A"/>
                </a:solidFill>
                <a:latin typeface="Helvetica Neue"/>
              </a:rPr>
              <a:t>отпустит</a:t>
            </a:r>
            <a:r>
              <a:rPr lang="ru-RU" sz="2800" dirty="0" err="1" smtClean="0">
                <a:solidFill>
                  <a:srgbClr val="0A0A0A"/>
                </a:solidFill>
                <a:latin typeface="Helvetica Neue"/>
              </a:rPr>
              <a:t>ся</a:t>
            </a:r>
            <a:r>
              <a:rPr lang="en-US" sz="2800" dirty="0" smtClean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 smtClean="0">
                <a:solidFill>
                  <a:srgbClr val="0A0A0A"/>
                </a:solidFill>
                <a:latin typeface="Helvetica Neue"/>
              </a:rPr>
              <a:t>кнопк</a:t>
            </a:r>
            <a:r>
              <a:rPr lang="ru-RU" sz="2800" dirty="0" smtClean="0">
                <a:solidFill>
                  <a:srgbClr val="0A0A0A"/>
                </a:solidFill>
                <a:latin typeface="Helvetica Neue"/>
              </a:rPr>
              <a:t>а</a:t>
            </a:r>
            <a:r>
              <a:rPr lang="en-US" sz="2800" dirty="0" smtClean="0">
                <a:solidFill>
                  <a:srgbClr val="0A0A0A"/>
                </a:solidFill>
                <a:latin typeface="Helvetica Neue"/>
              </a:rPr>
              <a:t> </a:t>
            </a:r>
            <a:r>
              <a:rPr lang="en-US" sz="2800" dirty="0" err="1">
                <a:solidFill>
                  <a:srgbClr val="0A0A0A"/>
                </a:solidFill>
                <a:latin typeface="Helvetica Neue"/>
              </a:rPr>
              <a:t>мыши</a:t>
            </a:r>
            <a:r>
              <a:rPr lang="en-US" sz="2800" dirty="0">
                <a:solidFill>
                  <a:srgbClr val="0A0A0A"/>
                </a:solidFill>
                <a:latin typeface="Helvetica Neue"/>
              </a:rPr>
              <a:t>.</a:t>
            </a:r>
          </a:p>
          <a:p>
            <a:r>
              <a:rPr lang="en-US" sz="2800" dirty="0"/>
              <a:t>.</a:t>
            </a:r>
            <a:r>
              <a:rPr lang="en-US" sz="2800" dirty="0" err="1"/>
              <a:t>stage:hover</a:t>
            </a:r>
            <a:r>
              <a:rPr lang="en-US" sz="2800" dirty="0"/>
              <a:t> .ball {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animation-name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slide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animation-duration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2s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animation-timing-function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ease-in-out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animation-delay</a:t>
            </a:r>
            <a:r>
              <a:rPr lang="en-US" sz="2800" dirty="0"/>
              <a:t>: .</a:t>
            </a:r>
            <a:r>
              <a:rPr lang="en-US" sz="2800" dirty="0">
                <a:solidFill>
                  <a:srgbClr val="31A354"/>
                </a:solidFill>
              </a:rPr>
              <a:t>5s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animation-iteration-count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infinite</a:t>
            </a:r>
            <a:r>
              <a:rPr lang="en-US" sz="2800" dirty="0"/>
              <a:t>;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E6550D"/>
                </a:solidFill>
              </a:rPr>
              <a:t>animation-direction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alternate</a:t>
            </a:r>
            <a:r>
              <a:rPr lang="en-US" sz="2800" dirty="0"/>
              <a:t>; } </a:t>
            </a:r>
            <a:endParaRPr lang="ru-RU" sz="2800" dirty="0" smtClean="0"/>
          </a:p>
          <a:p>
            <a:r>
              <a:rPr lang="en-US" sz="2800" dirty="0" smtClean="0"/>
              <a:t>.</a:t>
            </a:r>
            <a:r>
              <a:rPr lang="en-US" sz="2800" dirty="0" err="1"/>
              <a:t>stage:active</a:t>
            </a:r>
            <a:r>
              <a:rPr lang="en-US" sz="2800" dirty="0"/>
              <a:t> .ball { </a:t>
            </a:r>
            <a:r>
              <a:rPr lang="en-US" sz="2800" dirty="0">
                <a:solidFill>
                  <a:srgbClr val="E6550D"/>
                </a:solidFill>
              </a:rPr>
              <a:t>animation-play-state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paused</a:t>
            </a:r>
            <a:r>
              <a:rPr lang="en-US" sz="2800" dirty="0"/>
              <a:t>; 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9517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анимации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Настройку анимации можно выполнить при помощи универсального свойства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</a:t>
            </a:r>
            <a:r>
              <a:rPr lang="ru-RU" sz="3200" dirty="0" smtClean="0"/>
              <a:t>.</a:t>
            </a:r>
          </a:p>
          <a:p>
            <a:endParaRPr lang="ru-RU" sz="2800" dirty="0" smtClean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800" i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animation-name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en-US" sz="2800" i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animation-duration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endParaRPr lang="ru-RU" sz="2800" dirty="0" smtClean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i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animation-timing-function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en-US" sz="2800" i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animation-delay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endParaRPr lang="ru-RU" sz="2800" dirty="0" smtClean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animation-iteration-count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en-US" sz="2800" i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animation-direction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endParaRPr lang="ru-RU" sz="2800" dirty="0" smtClean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i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800" i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animation-fill-mode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en-US" sz="2800" i="1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animation-play-state</a:t>
            </a:r>
            <a:endParaRPr lang="ru-RU" sz="28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68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570" y="69256"/>
            <a:ext cx="12012118" cy="6463308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.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test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{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width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75px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cs typeface="Arial" pitchFamily="34" charset="0"/>
              </a:rPr>
              <a:t> </a:t>
            </a:r>
            <a:endParaRPr kumimoji="0" lang="en-US" altLang="ru-RU" sz="2800" b="1" i="0" u="none" strike="noStrike" cap="none" normalizeH="0" baseline="0" dirty="0" smtClean="0">
              <a:ln>
                <a:noFill/>
              </a:ln>
              <a:solidFill>
                <a:srgbClr val="228B22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height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75px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 </a:t>
            </a:r>
            <a:endParaRPr kumimoji="0" lang="en-US" altLang="ru-RU" sz="2800" b="1" i="0" u="none" strike="noStrike" cap="none" normalizeH="0" baseline="0" dirty="0" smtClean="0">
              <a:ln>
                <a:noFill/>
              </a:ln>
              <a:solidFill>
                <a:srgbClr val="228B22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border-radius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50px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 </a:t>
            </a:r>
            <a:endParaRPr kumimoji="0" lang="en-US" altLang="ru-RU" sz="2800" b="1" i="0" u="none" strike="noStrike" cap="none" normalizeH="0" baseline="0" dirty="0" smtClean="0">
              <a:ln>
                <a:noFill/>
              </a:ln>
              <a:solidFill>
                <a:srgbClr val="228B22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position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relative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cs typeface="Arial" pitchFamily="34" charset="0"/>
              </a:rPr>
              <a:t>/* элемент с относительным позиционированием (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cs typeface="Arial" pitchFamily="34" charset="0"/>
              </a:rPr>
              <a:t>position:static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cs typeface="Arial" pitchFamily="34" charset="0"/>
              </a:rPr>
              <a:t> - по умолчанию, значение свойства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228B22"/>
                </a:solidFill>
                <a:effectLst/>
                <a:cs typeface="Arial" pitchFamily="34" charset="0"/>
              </a:rPr>
              <a:t>left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cs typeface="Arial" pitchFamily="34" charset="0"/>
              </a:rPr>
              <a:t> не повлияли бы на позиционирование элемента) */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endParaRPr kumimoji="0" lang="en-US" altLang="ru-RU" sz="2800" b="1" i="0" u="none" strike="noStrike" cap="none" normalizeH="0" baseline="0" dirty="0" smtClean="0">
              <a:ln>
                <a:noFill/>
              </a:ln>
              <a:solidFill>
                <a:srgbClr val="B22222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animation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iliketomoveit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 5s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infinite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cs typeface="Arial" pitchFamily="34" charset="0"/>
              </a:rPr>
              <a:t>/* имя анимации, продолжительность анимации, будет повторяться бесконечно */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@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keyframes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iliketomoveit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{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 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0%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{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left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0px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en-US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     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25%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{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left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400px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 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background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red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75%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{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left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200px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100%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{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left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0px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 </a:t>
            </a:r>
            <a:endParaRPr kumimoji="0" lang="en-US" altLang="ru-RU" sz="2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cs typeface="Arial" pitchFamily="34" charset="0"/>
              </a:rPr>
              <a:t>background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: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rgbClr val="4B0082"/>
                </a:solidFill>
                <a:effectLst/>
                <a:cs typeface="Arial" pitchFamily="34" charset="0"/>
              </a:rPr>
              <a:t>green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;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cs typeface="Arial" pitchFamily="34" charset="0"/>
              </a:rPr>
              <a:t>}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cs typeface="Arial" pitchFamily="34" charset="0"/>
              </a:rPr>
              <a:t> </a:t>
            </a: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3531" y="3955141"/>
            <a:ext cx="7053035" cy="2338946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08197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28796" y="373118"/>
            <a:ext cx="718934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ru-RU" sz="4800" dirty="0" smtClean="0"/>
              <a:t>Библиотеки для </a:t>
            </a:r>
            <a:r>
              <a:rPr lang="ru-RU" sz="4800" dirty="0"/>
              <a:t>анимации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009790" y="1425060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1B6491"/>
                </a:solidFill>
                <a:latin typeface="Arial"/>
                <a:hlinkClick r:id="rId2"/>
              </a:rPr>
              <a:t>Animate.css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09790" y="2263815"/>
            <a:ext cx="17636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1B6491"/>
                </a:solidFill>
                <a:latin typeface="Arial"/>
                <a:hlinkClick r:id="rId3"/>
              </a:rPr>
              <a:t>Bounce.js</a:t>
            </a:r>
            <a:endParaRPr lang="ru-RU" sz="2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009790" y="3037080"/>
            <a:ext cx="30037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>
                <a:solidFill>
                  <a:srgbClr val="1B6491"/>
                </a:solidFill>
                <a:latin typeface="Arial"/>
                <a:hlinkClick r:id="rId4"/>
              </a:rPr>
              <a:t>Magic Animations</a:t>
            </a:r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009790" y="3878708"/>
            <a:ext cx="15616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 err="1">
                <a:solidFill>
                  <a:srgbClr val="1B6491"/>
                </a:solidFill>
                <a:latin typeface="Arial"/>
                <a:hlinkClick r:id="rId5"/>
              </a:rPr>
              <a:t>DynCSS</a:t>
            </a:r>
            <a:endParaRPr lang="ru-RU" sz="28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2009790" y="4734997"/>
            <a:ext cx="17027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u="sng" dirty="0" err="1">
                <a:solidFill>
                  <a:srgbClr val="1B6491"/>
                </a:solidFill>
                <a:latin typeface="Arial"/>
                <a:hlinkClick r:id="rId6"/>
              </a:rPr>
              <a:t>CSShake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09545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Анимации </a:t>
            </a:r>
            <a:r>
              <a:rPr lang="en-US" dirty="0" smtClean="0"/>
              <a:t>vs </a:t>
            </a:r>
            <a:r>
              <a:rPr lang="ru-RU" dirty="0" smtClean="0"/>
              <a:t>переходы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3200" dirty="0" smtClean="0"/>
              <a:t> Описать переход проще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 smtClean="0"/>
              <a:t> Переходы шире поддерживаются браузерами (пока)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 smtClean="0"/>
              <a:t> Переход всегда срабатывает как ответная реакция на изменение </a:t>
            </a:r>
            <a:r>
              <a:rPr lang="en-US" sz="3200" dirty="0" smtClean="0"/>
              <a:t>CSS-</a:t>
            </a:r>
            <a:r>
              <a:rPr lang="ru-RU" sz="3200" dirty="0" smtClean="0"/>
              <a:t>свойства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 smtClean="0"/>
              <a:t> Анимацию можно зациклить, переход – нет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3200" dirty="0" smtClean="0"/>
              <a:t> У перехода отсутствуют промежуточные ключевые кадры</a:t>
            </a:r>
          </a:p>
        </p:txBody>
      </p:sp>
    </p:spTree>
    <p:extLst>
      <p:ext uri="{BB962C8B-B14F-4D97-AF65-F5344CB8AC3E}">
        <p14:creationId xmlns:p14="http://schemas.microsoft.com/office/powerpoint/2010/main" val="291689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0107" y="106365"/>
            <a:ext cx="707879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@</a:t>
            </a:r>
            <a:r>
              <a:rPr lang="en-US" sz="2800" dirty="0" err="1">
                <a:solidFill>
                  <a:srgbClr val="3182BD"/>
                </a:solidFill>
              </a:rPr>
              <a:t>keyframes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3182BD"/>
                </a:solidFill>
              </a:rPr>
              <a:t>translating</a:t>
            </a:r>
            <a:r>
              <a:rPr lang="en-US" sz="2800" dirty="0"/>
              <a:t> {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0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transform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translate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); }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25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transform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translate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31A354"/>
                </a:solidFill>
              </a:rPr>
              <a:t>240px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); }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50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transform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translate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31A354"/>
                </a:solidFill>
              </a:rPr>
              <a:t>240px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31A354"/>
                </a:solidFill>
              </a:rPr>
              <a:t>140px</a:t>
            </a:r>
            <a:r>
              <a:rPr lang="en-US" sz="2800" dirty="0"/>
              <a:t>); }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75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transform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translate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31A354"/>
                </a:solidFill>
              </a:rPr>
              <a:t>140px</a:t>
            </a:r>
            <a:r>
              <a:rPr lang="en-US" sz="2800" dirty="0"/>
              <a:t>); }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100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transform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translate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); </a:t>
            </a:r>
            <a:r>
              <a:rPr lang="en-US" sz="2800" dirty="0" smtClean="0"/>
              <a:t>} </a:t>
            </a:r>
            <a:endParaRPr lang="ru-RU" sz="2800" dirty="0" smtClean="0"/>
          </a:p>
          <a:p>
            <a:r>
              <a:rPr lang="en-US" sz="2800" dirty="0" smtClean="0"/>
              <a:t>}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82BD"/>
                </a:solidFill>
              </a:rPr>
              <a:t>p</a:t>
            </a:r>
            <a:r>
              <a:rPr lang="en-US" sz="2800" dirty="0" smtClean="0"/>
              <a:t> </a:t>
            </a:r>
            <a:r>
              <a:rPr lang="en-US" sz="2800" dirty="0"/>
              <a:t>{ </a:t>
            </a:r>
            <a:r>
              <a:rPr lang="en-US" sz="2800" dirty="0">
                <a:solidFill>
                  <a:srgbClr val="E6550D"/>
                </a:solidFill>
              </a:rPr>
              <a:t>animation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translating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31A354"/>
                </a:solidFill>
              </a:rPr>
              <a:t>4s</a:t>
            </a:r>
            <a:r>
              <a:rPr lang="en-US" sz="2800" dirty="0"/>
              <a:t> linear infinite; }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302" y="3645795"/>
            <a:ext cx="8121698" cy="308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8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37554" y="257519"/>
            <a:ext cx="1106443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@</a:t>
            </a:r>
            <a:r>
              <a:rPr lang="en-US" sz="2800" dirty="0" err="1">
                <a:solidFill>
                  <a:srgbClr val="3182BD"/>
                </a:solidFill>
              </a:rPr>
              <a:t>keyframes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3182BD"/>
                </a:solidFill>
              </a:rPr>
              <a:t>rotating</a:t>
            </a:r>
            <a:r>
              <a:rPr lang="en-US" sz="2800" dirty="0"/>
              <a:t> {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0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transform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rotate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31A354"/>
                </a:solidFill>
              </a:rPr>
              <a:t>0</a:t>
            </a:r>
            <a:r>
              <a:rPr lang="en-US" sz="2800" dirty="0"/>
              <a:t>deg); }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A354"/>
                </a:solidFill>
              </a:rPr>
              <a:t>100</a:t>
            </a:r>
            <a:r>
              <a:rPr lang="en-US" sz="2800" dirty="0">
                <a:solidFill>
                  <a:srgbClr val="31A354"/>
                </a:solidFill>
              </a:rPr>
              <a:t>%</a:t>
            </a:r>
            <a:r>
              <a:rPr lang="en-US" sz="2800" dirty="0"/>
              <a:t> { </a:t>
            </a:r>
            <a:r>
              <a:rPr lang="en-US" sz="2800" dirty="0">
                <a:solidFill>
                  <a:srgbClr val="E6550D"/>
                </a:solidFill>
              </a:rPr>
              <a:t>transform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rotate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31A354"/>
                </a:solidFill>
              </a:rPr>
              <a:t>360</a:t>
            </a:r>
            <a:r>
              <a:rPr lang="en-US" sz="2800" dirty="0"/>
              <a:t>deg); } </a:t>
            </a:r>
            <a:endParaRPr lang="ru-RU" sz="2800" dirty="0" smtClean="0"/>
          </a:p>
          <a:p>
            <a:r>
              <a:rPr lang="en-US" sz="2800" dirty="0" smtClean="0"/>
              <a:t>} </a:t>
            </a:r>
            <a:endParaRPr lang="ru-RU" sz="2800" dirty="0" smtClean="0"/>
          </a:p>
          <a:p>
            <a:r>
              <a:rPr lang="en-US" sz="2800" dirty="0" smtClean="0">
                <a:solidFill>
                  <a:srgbClr val="3182BD"/>
                </a:solidFill>
              </a:rPr>
              <a:t>p</a:t>
            </a:r>
            <a:r>
              <a:rPr lang="en-US" sz="2800" dirty="0" smtClean="0"/>
              <a:t> </a:t>
            </a:r>
            <a:r>
              <a:rPr lang="en-US" sz="2800" dirty="0"/>
              <a:t>{ </a:t>
            </a:r>
            <a:r>
              <a:rPr lang="en-US" sz="2800" dirty="0">
                <a:solidFill>
                  <a:srgbClr val="E6550D"/>
                </a:solidFill>
              </a:rPr>
              <a:t>animation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31A354"/>
                </a:solidFill>
              </a:rPr>
              <a:t>rotating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31A354"/>
                </a:solidFill>
              </a:rPr>
              <a:t>4s</a:t>
            </a:r>
            <a:r>
              <a:rPr lang="en-US" sz="2800" dirty="0"/>
              <a:t> linear infinite; }</a:t>
            </a: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818" y="3236976"/>
            <a:ext cx="354711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4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Медиа-запросы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i="1" dirty="0" smtClean="0"/>
              <a:t>Медиа-запросы</a:t>
            </a:r>
            <a:r>
              <a:rPr lang="ru-RU" sz="3200" dirty="0" smtClean="0"/>
              <a:t> (</a:t>
            </a:r>
            <a:r>
              <a:rPr lang="en-US" sz="3200" dirty="0"/>
              <a:t>media queries</a:t>
            </a:r>
            <a:r>
              <a:rPr lang="ru-RU" sz="3200" dirty="0" smtClean="0"/>
              <a:t>) – средство </a:t>
            </a:r>
            <a:r>
              <a:rPr lang="en-US" sz="3200" dirty="0" smtClean="0"/>
              <a:t>CSS, </a:t>
            </a:r>
            <a:r>
              <a:rPr lang="ru-RU" sz="3200" dirty="0" smtClean="0"/>
              <a:t>позволяющее применять разные стили в зависимости от типа или технических характеристик устройства отображения.</a:t>
            </a:r>
          </a:p>
          <a:p>
            <a:endParaRPr lang="ru-RU" sz="3200" dirty="0" smtClean="0"/>
          </a:p>
          <a:p>
            <a:r>
              <a:rPr lang="ru-RU" sz="3200" dirty="0" smtClean="0"/>
              <a:t>Пример: один стиль применяется для принтера, другой – для браузера с шириной окна меньше 500</a:t>
            </a:r>
            <a:r>
              <a:rPr lang="en-US" sz="3200" dirty="0" smtClean="0"/>
              <a:t> </a:t>
            </a:r>
            <a:r>
              <a:rPr lang="ru-RU" sz="3200" dirty="0" smtClean="0"/>
              <a:t>пикселей</a:t>
            </a:r>
            <a:r>
              <a:rPr lang="en-US" sz="3200" dirty="0" smtClean="0"/>
              <a:t>, </a:t>
            </a:r>
            <a:r>
              <a:rPr lang="ru-RU" sz="3200" dirty="0" smtClean="0"/>
              <a:t>третий – во всех остальных случаях.</a:t>
            </a:r>
          </a:p>
        </p:txBody>
      </p:sp>
    </p:spTree>
    <p:extLst>
      <p:ext uri="{BB962C8B-B14F-4D97-AF65-F5344CB8AC3E}">
        <p14:creationId xmlns:p14="http://schemas.microsoft.com/office/powerpoint/2010/main" val="327933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Медиа-запросы – синтаксис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Медиа-запрос в </a:t>
            </a:r>
            <a:r>
              <a:rPr lang="en-US" sz="3200" dirty="0" smtClean="0"/>
              <a:t>CSS-</a:t>
            </a:r>
            <a:r>
              <a:rPr lang="ru-RU" sz="3200" dirty="0" smtClean="0"/>
              <a:t>файле – это правило </a:t>
            </a:r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@media</a:t>
            </a:r>
            <a:r>
              <a:rPr lang="en-US" sz="3200" dirty="0" smtClean="0"/>
              <a:t>, </a:t>
            </a:r>
            <a:r>
              <a:rPr lang="ru-RU" sz="3200" dirty="0" smtClean="0"/>
              <a:t>за которым следует одно или несколько </a:t>
            </a:r>
            <a:r>
              <a:rPr lang="ru-RU" sz="3200" b="1" dirty="0" smtClean="0"/>
              <a:t>выражений</a:t>
            </a:r>
            <a:r>
              <a:rPr lang="ru-RU" sz="3200" dirty="0" smtClean="0"/>
              <a:t>, описывающих параметры устройства. Затем в фигурных скобках записывается набор правил </a:t>
            </a:r>
            <a:r>
              <a:rPr lang="en-US" sz="3200" dirty="0" smtClean="0"/>
              <a:t>CSS.</a:t>
            </a:r>
          </a:p>
          <a:p>
            <a:endParaRPr lang="en-US" sz="3200" dirty="0"/>
          </a:p>
          <a:p>
            <a:r>
              <a:rPr lang="ru-RU" sz="3200" dirty="0" smtClean="0"/>
              <a:t>Правила применяются, если запрос </a:t>
            </a:r>
            <a:r>
              <a:rPr lang="ru-RU" sz="3200" b="1" dirty="0" smtClean="0"/>
              <a:t>верен</a:t>
            </a:r>
            <a:r>
              <a:rPr lang="ru-RU" sz="3200" dirty="0" smtClean="0"/>
              <a:t>, т.е. выражение (или </a:t>
            </a:r>
            <a:r>
              <a:rPr lang="ru-RU" sz="3200" b="1" dirty="0" smtClean="0"/>
              <a:t>все выражения</a:t>
            </a:r>
            <a:r>
              <a:rPr lang="ru-RU" sz="3200" dirty="0" smtClean="0"/>
              <a:t>) выполняются для данного устройства.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9258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Медиа-запросы – пример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max-width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300px)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#box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red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1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Медиа-запросы – пример</a:t>
            </a:r>
            <a:endParaRPr lang="ru-R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38970"/>
            <a:ext cx="6679647" cy="21364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076985"/>
            <a:ext cx="3037841" cy="2136405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 rot="5400000">
            <a:off x="5502244" y="3324885"/>
            <a:ext cx="1036622" cy="35127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64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Устройства</a:t>
            </a:r>
            <a:endParaRPr lang="ru-RU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1097280" y="1846263"/>
          <a:ext cx="10058400" cy="4335088"/>
        </p:xfrm>
        <a:graphic>
          <a:graphicData uri="http://schemas.openxmlformats.org/drawingml/2006/table">
            <a:tbl>
              <a:tblPr/>
              <a:tblGrid>
                <a:gridCol w="15191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5392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ru-RU" sz="2400" b="1" dirty="0" smtClean="0"/>
                        <a:t>Типы </a:t>
                      </a:r>
                      <a:r>
                        <a:rPr lang="ru-RU" sz="2400" b="1" dirty="0"/>
                        <a:t>носителей и их описание</a:t>
                      </a:r>
                    </a:p>
                  </a:txBody>
                  <a:tcPr marL="56048" marR="56048" marT="28024" marB="2802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all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>
                          <a:solidFill>
                            <a:srgbClr val="222222"/>
                          </a:solidFill>
                          <a:effectLst/>
                        </a:rPr>
                        <a:t>Все типы. Это значение используется по умолчанию.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braille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solidFill>
                            <a:srgbClr val="222222"/>
                          </a:solidFill>
                          <a:effectLst/>
                        </a:rPr>
                        <a:t>Устройства, основанные на системе </a:t>
                      </a:r>
                      <a:r>
                        <a:rPr lang="ru-RU" sz="2000" dirty="0" smtClean="0">
                          <a:solidFill>
                            <a:srgbClr val="222222"/>
                          </a:solidFill>
                          <a:effectLst/>
                        </a:rPr>
                        <a:t>Брайля.</a:t>
                      </a:r>
                      <a:endParaRPr lang="ru-RU" sz="20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embossed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>
                          <a:solidFill>
                            <a:srgbClr val="222222"/>
                          </a:solidFill>
                          <a:effectLst/>
                        </a:rPr>
                        <a:t>Принтеры, использующие для печати систему Брайля.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handheld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solidFill>
                            <a:srgbClr val="222222"/>
                          </a:solidFill>
                          <a:effectLst/>
                        </a:rPr>
                        <a:t>Смартфоны и аналогичные им аппараты.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solidFill>
                            <a:srgbClr val="222222"/>
                          </a:solidFill>
                          <a:effectLst/>
                        </a:rPr>
                        <a:t>Принтеры и другие печатающие устройства.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projection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solidFill>
                            <a:srgbClr val="222222"/>
                          </a:solidFill>
                          <a:effectLst/>
                        </a:rPr>
                        <a:t>Проекторы.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screen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solidFill>
                            <a:srgbClr val="222222"/>
                          </a:solidFill>
                          <a:effectLst/>
                        </a:rPr>
                        <a:t>Экран монитора.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speech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solidFill>
                            <a:srgbClr val="222222"/>
                          </a:solidFill>
                          <a:effectLst/>
                        </a:rPr>
                        <a:t>Речевые синтезаторы, а также программы для воспроизведения текста вслух. Сюда, например, можно отнести речевые браузеры.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tty</a:t>
                      </a:r>
                      <a:endParaRPr lang="en-US" sz="20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solidFill>
                            <a:srgbClr val="222222"/>
                          </a:solidFill>
                          <a:effectLst/>
                        </a:rPr>
                        <a:t>Устройства с фиксированным размером символов </a:t>
                      </a:r>
                      <a:r>
                        <a:rPr lang="ru-RU" sz="2000" dirty="0" smtClean="0">
                          <a:solidFill>
                            <a:srgbClr val="222222"/>
                          </a:solidFill>
                          <a:effectLst/>
                        </a:rPr>
                        <a:t>(пример: телетайпы).</a:t>
                      </a:r>
                      <a:endParaRPr lang="ru-RU" sz="20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tv</a:t>
                      </a:r>
                      <a:endParaRPr lang="en-US" sz="2000" dirty="0">
                        <a:solidFill>
                          <a:srgbClr val="0000FF"/>
                        </a:solidFill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dirty="0">
                          <a:solidFill>
                            <a:srgbClr val="222222"/>
                          </a:solidFill>
                          <a:effectLst/>
                        </a:rPr>
                        <a:t>Телевизоры.</a:t>
                      </a:r>
                    </a:p>
                  </a:txBody>
                  <a:tcPr marL="56048" marR="56048" marT="28024" marB="28024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1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Устройства – пример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#box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height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100px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background-color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teal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screen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white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#box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black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955" y="3223760"/>
            <a:ext cx="5800725" cy="29813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972" y="1911786"/>
            <a:ext cx="3209925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0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Медиа-функции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Медиа-функции описывают технические </a:t>
            </a:r>
            <a:r>
              <a:rPr lang="ru-RU" sz="3200" dirty="0"/>
              <a:t>характеристики </a:t>
            </a:r>
            <a:r>
              <a:rPr lang="ru-RU" sz="3200" dirty="0" smtClean="0"/>
              <a:t>устройства отображения (пример: разрешение экрана).</a:t>
            </a:r>
          </a:p>
          <a:p>
            <a:endParaRPr lang="ru-RU" sz="3200" dirty="0" smtClean="0"/>
          </a:p>
          <a:p>
            <a:r>
              <a:rPr lang="ru-RU" sz="3200" dirty="0" smtClean="0"/>
              <a:t>Многие функции содержат </a:t>
            </a:r>
            <a:r>
              <a:rPr lang="ru-RU" sz="3200" dirty="0"/>
              <a:t>приставку </a:t>
            </a:r>
            <a:r>
              <a:rPr lang="ru-RU" sz="28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</a:t>
            </a:r>
            <a:r>
              <a:rPr lang="ru-RU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3200" dirty="0"/>
              <a:t> и </a:t>
            </a:r>
            <a:r>
              <a:rPr lang="ru-RU" sz="2800" dirty="0" err="1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ru-RU" sz="3200" dirty="0" smtClean="0"/>
              <a:t>:</a:t>
            </a:r>
          </a:p>
          <a:p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max-width</a:t>
            </a:r>
            <a:r>
              <a:rPr lang="ru-RU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400px</a:t>
            </a: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ru-RU" sz="3200" dirty="0" smtClean="0"/>
              <a:t>верно, если ширина </a:t>
            </a:r>
            <a:r>
              <a:rPr lang="ru-RU" sz="3200" dirty="0"/>
              <a:t>окна </a:t>
            </a:r>
            <a:r>
              <a:rPr lang="ru-RU" sz="3200" dirty="0" smtClean="0"/>
              <a:t>браузера					меньше, чем 400 пикселей</a:t>
            </a:r>
          </a:p>
          <a:p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ru-RU" sz="2800" dirty="0" smtClean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min-width</a:t>
            </a:r>
            <a:r>
              <a:rPr lang="ru-RU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ru-RU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600px</a:t>
            </a:r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sz="2800" dirty="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ru-RU" sz="3200" dirty="0" smtClean="0"/>
              <a:t>верно, </a:t>
            </a:r>
            <a:r>
              <a:rPr lang="ru-RU" sz="3200" dirty="0"/>
              <a:t>если </a:t>
            </a:r>
            <a:r>
              <a:rPr lang="ru-RU" sz="3200" dirty="0" smtClean="0"/>
              <a:t>ширина </a:t>
            </a:r>
            <a:r>
              <a:rPr lang="ru-RU" sz="3200" dirty="0"/>
              <a:t>окна </a:t>
            </a:r>
            <a:r>
              <a:rPr lang="ru-RU" sz="3200" dirty="0" smtClean="0"/>
              <a:t>больше,					чем </a:t>
            </a:r>
            <a:r>
              <a:rPr lang="en-US" sz="3200" dirty="0" smtClean="0"/>
              <a:t>600</a:t>
            </a:r>
            <a:r>
              <a:rPr lang="ru-RU" sz="3200" dirty="0" smtClean="0"/>
              <a:t> пикселей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6091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Некоторые медиа-функции</a:t>
            </a:r>
            <a:endParaRPr lang="ru-R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1097280" y="1855055"/>
          <a:ext cx="10058400" cy="43098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886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6697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width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min-width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max-width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Ширина отображаемой области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height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min-height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max-height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ru-RU" sz="2000" dirty="0" smtClean="0"/>
                        <a:t>Высота отображаемой области</a:t>
                      </a:r>
                      <a:r>
                        <a:rPr lang="en-US" sz="2000" dirty="0" smtClean="0"/>
                        <a:t>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aspect-ratio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min-aspect-ratio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max-aspect-ratio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Соотношение ширины и высоты отображаемой области. Значение указывается как два целых числа, разделённых </a:t>
                      </a:r>
                      <a:r>
                        <a:rPr lang="ru-RU" sz="20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слэшем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(/)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min-color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max-color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Число бит на канал цвета. Если значение не указано, тогда проверяется что устройство цветное.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device-aspect-ratio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device-height</a:t>
                      </a:r>
                      <a:endParaRPr lang="ru-RU" sz="1800" b="0" i="0" kern="1200" dirty="0" smtClean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device-width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Ширина, высота</a:t>
                      </a:r>
                      <a:r>
                        <a:rPr lang="ru-RU" sz="2000" baseline="0" dirty="0" smtClean="0"/>
                        <a:t> и соотношение ширины и высоты для устройства (а не для отображаемой области). Есть варианты с </a:t>
                      </a:r>
                      <a:r>
                        <a:rPr lang="en-US" sz="2000" baseline="0" dirty="0" smtClean="0"/>
                        <a:t>min </a:t>
                      </a:r>
                      <a:r>
                        <a:rPr lang="ru-RU" sz="2000" baseline="0" dirty="0" smtClean="0"/>
                        <a:t>и </a:t>
                      </a:r>
                      <a:r>
                        <a:rPr lang="en-US" sz="2000" baseline="0" dirty="0" smtClean="0"/>
                        <a:t>max (</a:t>
                      </a:r>
                      <a:r>
                        <a:rPr lang="en-US" sz="2000" baseline="0" dirty="0" smtClean="0">
                          <a:solidFill>
                            <a:srgbClr val="FF0000"/>
                          </a:solidFill>
                        </a:rPr>
                        <a:t>min-</a:t>
                      </a:r>
                      <a:r>
                        <a:rPr lang="en-US" sz="20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device-height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orientation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Альбомный</a:t>
                      </a:r>
                      <a:r>
                        <a:rPr lang="ru-RU" sz="2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2000" b="0" i="0" kern="120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landscape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или портретный (</a:t>
                      </a:r>
                      <a:r>
                        <a:rPr lang="ru-RU" sz="2000" b="0" i="0" kern="1200" dirty="0" err="1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portrait</a:t>
                      </a: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режим.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62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Медиа-функции – примеры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цветное устройство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 . .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устройство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в альбомном режиме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orientation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landscape)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 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.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высота окна (браузера) меньше, чем 600px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max-height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600px)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 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 .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663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Логические </a:t>
            </a:r>
            <a:r>
              <a:rPr lang="ru-RU" dirty="0"/>
              <a:t>операторы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При описании медиа-запроса вызовы медиа-функций и типы носителей можно комбинировать, используя логические операторы:</a:t>
            </a:r>
          </a:p>
          <a:p>
            <a:r>
              <a:rPr lang="en-US" sz="2800" dirty="0" smtClean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3200" dirty="0" smtClean="0"/>
              <a:t> 		</a:t>
            </a:r>
            <a:r>
              <a:rPr lang="ru-RU" sz="3200" dirty="0" smtClean="0"/>
              <a:t>	«И»</a:t>
            </a:r>
          </a:p>
          <a:p>
            <a:r>
              <a:rPr lang="ru-RU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ru-RU" sz="3200" dirty="0" smtClean="0"/>
              <a:t> (запятая)	«ИЛИ», перечисляются запросы</a:t>
            </a: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</a:t>
            </a:r>
            <a:r>
              <a:rPr lang="en-US" sz="3200" dirty="0" smtClean="0"/>
              <a:t>			</a:t>
            </a:r>
            <a:r>
              <a:rPr lang="ru-RU" sz="3200" dirty="0" smtClean="0"/>
              <a:t>«НЕТ»</a:t>
            </a:r>
            <a:endParaRPr lang="en-US" sz="3200" smtClean="0"/>
          </a:p>
          <a:p>
            <a:endParaRPr lang="ru-RU" sz="1100" dirty="0" smtClean="0"/>
          </a:p>
          <a:p>
            <a:r>
              <a:rPr lang="ru-RU" sz="3200" dirty="0" smtClean="0"/>
              <a:t>При применении </a:t>
            </a:r>
            <a:r>
              <a:rPr lang="ru-RU" sz="3200" dirty="0"/>
              <a:t>операторов </a:t>
            </a:r>
            <a:r>
              <a:rPr lang="ru-RU" sz="3200" dirty="0" smtClean="0"/>
              <a:t>можно </a:t>
            </a:r>
            <a:r>
              <a:rPr lang="ru-RU" sz="3200" dirty="0"/>
              <a:t>указывать </a:t>
            </a:r>
            <a:r>
              <a:rPr lang="ru-RU" sz="3200" dirty="0" smtClean="0"/>
              <a:t>скобки.</a:t>
            </a:r>
          </a:p>
        </p:txBody>
      </p:sp>
    </p:spTree>
    <p:extLst>
      <p:ext uri="{BB962C8B-B14F-4D97-AF65-F5344CB8AC3E}">
        <p14:creationId xmlns:p14="http://schemas.microsoft.com/office/powerpoint/2010/main" val="322908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Логические операторы – пример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устройство - экран и он цветной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screen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либо </a:t>
            </a: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это экран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либо любое цветное устройство*/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screen,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внимание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 это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not </a:t>
            </a:r>
            <a:r>
              <a:rPr lang="en-US" sz="2800" b="1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(screen and (color))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screen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...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внимание - это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(not screen) </a:t>
            </a:r>
            <a:r>
              <a:rPr lang="ru-RU" sz="2800" b="1" i="1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или</a:t>
            </a:r>
            <a:r>
              <a:rPr lang="ru-RU" sz="2800" b="1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en-US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screen,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color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...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32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Медиа-запросы и вёрстка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Полный пример здесь: </a:t>
            </a:r>
            <a:r>
              <a:rPr lang="en-US" sz="3200" dirty="0">
                <a:hlinkClick r:id="rId2"/>
              </a:rPr>
              <a:t>http://habrahabr.ru/post/119127</a:t>
            </a:r>
            <a:r>
              <a:rPr lang="en-US" sz="3200" dirty="0" smtClean="0">
                <a:hlinkClick r:id="rId2"/>
              </a:rPr>
              <a:t>/</a:t>
            </a:r>
            <a:endParaRPr lang="ru-RU" sz="32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Размер экрана меньше 980px (резиновый макет)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screen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max-width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980px)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 . . }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Размер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экрана меньше 650px (</a:t>
            </a: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одна колонка)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screen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max-width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650px)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 . .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/*</a:t>
            </a: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Размер экрана меньше 480px (экран </a:t>
            </a:r>
            <a:r>
              <a:rPr lang="ru-RU" sz="2800" dirty="0" err="1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iPhone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ru-RU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64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*/</a:t>
            </a:r>
            <a:endParaRPr lang="ru-RU" sz="2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screen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and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max-width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480px)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. . . }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789514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Медиа-запросы и элемент </a:t>
            </a:r>
            <a:r>
              <a:rPr lang="en-US" dirty="0" smtClean="0"/>
              <a:t>link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Все примеры до этого – работа в </a:t>
            </a:r>
            <a:r>
              <a:rPr lang="en-US" sz="3200" dirty="0" smtClean="0"/>
              <a:t>CSS (</a:t>
            </a:r>
            <a:r>
              <a:rPr lang="ru-RU" sz="3200" dirty="0" smtClean="0"/>
              <a:t>файл или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3200" dirty="0" smtClean="0"/>
              <a:t>).</a:t>
            </a:r>
            <a:endParaRPr lang="ru-RU" sz="3200" dirty="0" smtClean="0"/>
          </a:p>
          <a:p>
            <a:r>
              <a:rPr lang="ru-RU" sz="3200" dirty="0" smtClean="0"/>
              <a:t>Но медиа-запрос можно указать в атрибуте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3200" dirty="0" smtClean="0"/>
              <a:t> </a:t>
            </a:r>
            <a:r>
              <a:rPr lang="ru-RU" sz="3200" dirty="0" smtClean="0"/>
              <a:t>у элемента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link</a:t>
            </a:r>
            <a:r>
              <a:rPr lang="en-US" sz="3200" dirty="0" smtClean="0"/>
              <a:t> (</a:t>
            </a:r>
            <a:r>
              <a:rPr lang="ru-RU" sz="3200" dirty="0" smtClean="0"/>
              <a:t>разные </a:t>
            </a:r>
            <a:r>
              <a:rPr lang="en-US" sz="3200" dirty="0" smtClean="0"/>
              <a:t>CSS-</a:t>
            </a:r>
            <a:r>
              <a:rPr lang="ru-RU" sz="3200" dirty="0" smtClean="0"/>
              <a:t>файлы</a:t>
            </a:r>
            <a:r>
              <a:rPr lang="en-US" sz="3200" dirty="0" smtClean="0"/>
              <a:t>)</a:t>
            </a:r>
            <a:r>
              <a:rPr lang="ru-RU" sz="3200" dirty="0" smtClean="0"/>
              <a:t>:</a:t>
            </a:r>
            <a:endParaRPr lang="en-US" sz="3200" dirty="0" smtClean="0"/>
          </a:p>
          <a:p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rel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="stylesheet"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href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small.css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ru-RU" sz="28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media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="screen and (max-width: 600px)"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endParaRPr lang="en-US" sz="2800" dirty="0" smtClean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3200" dirty="0" smtClean="0"/>
          </a:p>
          <a:p>
            <a:r>
              <a:rPr lang="ru-RU" sz="3200" dirty="0" smtClean="0"/>
              <a:t>А ещё атрибут </a:t>
            </a:r>
            <a:r>
              <a:rPr lang="en-US" sz="2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media</a:t>
            </a:r>
            <a:r>
              <a:rPr lang="en-US" sz="3200" dirty="0" smtClean="0"/>
              <a:t> </a:t>
            </a:r>
            <a:r>
              <a:rPr lang="ru-RU" sz="3200" dirty="0" smtClean="0"/>
              <a:t>есть у элементов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ru-RU" sz="3200" dirty="0" smtClean="0"/>
              <a:t>,</a:t>
            </a:r>
            <a:r>
              <a:rPr lang="en-US" sz="3200" dirty="0" smtClean="0"/>
              <a:t>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source</a:t>
            </a:r>
            <a:r>
              <a:rPr lang="en-US" sz="3200" dirty="0" smtClean="0"/>
              <a:t> (</a:t>
            </a:r>
            <a:r>
              <a:rPr lang="ru-RU" sz="3200" dirty="0" smtClean="0"/>
              <a:t>аудио, видео,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picture</a:t>
            </a:r>
            <a:r>
              <a:rPr lang="en-US" sz="3200" dirty="0" smtClean="0"/>
              <a:t>)</a:t>
            </a:r>
            <a:r>
              <a:rPr lang="ru-RU" sz="3200" dirty="0" smtClean="0"/>
              <a:t>, элементов </a:t>
            </a: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3200" dirty="0" smtClean="0"/>
              <a:t> (</a:t>
            </a:r>
            <a:r>
              <a:rPr lang="ru-RU" sz="3200" dirty="0" smtClean="0"/>
              <a:t>с </a:t>
            </a:r>
            <a:r>
              <a:rPr lang="en-US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href</a:t>
            </a:r>
            <a:r>
              <a:rPr lang="en-US" sz="3200" dirty="0" smtClean="0"/>
              <a:t>) </a:t>
            </a:r>
            <a:r>
              <a:rPr lang="ru-RU" sz="3200" dirty="0" smtClean="0"/>
              <a:t>и </a:t>
            </a:r>
            <a:r>
              <a:rPr lang="en-US" sz="28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area</a:t>
            </a:r>
            <a:r>
              <a:rPr lang="en-US" sz="3200" dirty="0" smtClean="0"/>
              <a:t>.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46306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Разное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В этой части рассмотрим несколько свойств и функций, не затронутых ранее.</a:t>
            </a:r>
          </a:p>
        </p:txBody>
      </p:sp>
    </p:spTree>
    <p:extLst>
      <p:ext uri="{BB962C8B-B14F-4D97-AF65-F5344CB8AC3E}">
        <p14:creationId xmlns:p14="http://schemas.microsoft.com/office/powerpoint/2010/main" val="143141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Курсор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Свойство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cursor</a:t>
            </a:r>
            <a:r>
              <a:rPr lang="ru-RU" sz="3200" dirty="0" smtClean="0"/>
              <a:t> устанавливает </a:t>
            </a:r>
            <a:r>
              <a:rPr lang="ru-RU" sz="3200" dirty="0"/>
              <a:t>форму курсора, когда он находится в пределах </a:t>
            </a:r>
            <a:r>
              <a:rPr lang="ru-RU" sz="3200" dirty="0" smtClean="0"/>
              <a:t>элемента (вид </a:t>
            </a:r>
            <a:r>
              <a:rPr lang="ru-RU" sz="3200" dirty="0"/>
              <a:t>курсора зависит от операционной </a:t>
            </a:r>
            <a:r>
              <a:rPr lang="ru-RU" sz="3200" dirty="0" smtClean="0"/>
              <a:t>системы)</a:t>
            </a:r>
            <a:r>
              <a:rPr lang="en-US" sz="3200" dirty="0" smtClean="0"/>
              <a:t>.</a:t>
            </a:r>
            <a:endParaRPr lang="ru-RU" sz="3200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63751"/>
            <a:ext cx="1733550" cy="17049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830" y="3463751"/>
            <a:ext cx="1733550" cy="17716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656" y="3463751"/>
            <a:ext cx="1724025" cy="17145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4681" y="3482801"/>
            <a:ext cx="17335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90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Прозрачность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/>
              <a:t>Свойство </a:t>
            </a:r>
            <a:r>
              <a:rPr lang="ru-RU" sz="28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opacity</a:t>
            </a:r>
            <a:r>
              <a:rPr lang="ru-RU" sz="3200" dirty="0" smtClean="0"/>
              <a:t> определяет </a:t>
            </a:r>
            <a:r>
              <a:rPr lang="ru-RU" sz="3200" dirty="0"/>
              <a:t>уровень прозрачности </a:t>
            </a:r>
            <a:r>
              <a:rPr lang="ru-RU" sz="3200" dirty="0" smtClean="0"/>
              <a:t>элемента. В </a:t>
            </a:r>
            <a:r>
              <a:rPr lang="ru-RU" sz="3200" dirty="0"/>
              <a:t>качестве значения выступает число из диапазона </a:t>
            </a:r>
            <a:r>
              <a:rPr lang="ru-RU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[0.0; 1.0]</a:t>
            </a:r>
            <a:r>
              <a:rPr lang="ru-RU" sz="3200" dirty="0" smtClean="0"/>
              <a:t>.</a:t>
            </a:r>
          </a:p>
          <a:p>
            <a:endParaRPr lang="ru-RU" sz="3200" dirty="0" smtClean="0"/>
          </a:p>
          <a:p>
            <a:r>
              <a:rPr lang="ru-RU" sz="3200" dirty="0" smtClean="0"/>
              <a:t>Значение </a:t>
            </a:r>
            <a:r>
              <a:rPr lang="ru-RU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ru-RU" sz="3200" dirty="0"/>
              <a:t> соответствует полной прозрачности элемента, </a:t>
            </a:r>
            <a:r>
              <a:rPr lang="ru-RU" sz="3200" dirty="0" smtClean="0"/>
              <a:t>а </a:t>
            </a:r>
            <a:r>
              <a:rPr lang="ru-RU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ru-RU" sz="3200" dirty="0" smtClean="0"/>
              <a:t> (по умолчанию) – его </a:t>
            </a:r>
            <a:r>
              <a:rPr lang="ru-RU" sz="3200" dirty="0"/>
              <a:t>непрозрачности. Дробные числа </a:t>
            </a:r>
            <a:r>
              <a:rPr lang="ru-RU" sz="3200" dirty="0" smtClean="0"/>
              <a:t>устанавливают </a:t>
            </a:r>
            <a:r>
              <a:rPr lang="ru-RU" sz="3200" dirty="0"/>
              <a:t>полупрозрачность</a:t>
            </a:r>
            <a:r>
              <a:rPr lang="ru-RU" sz="3200" dirty="0" smtClean="0"/>
              <a:t>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8988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</a:t>
            </a:r>
            <a:r>
              <a:rPr lang="en-US" dirty="0" err="1" smtClean="0"/>
              <a:t>calc</a:t>
            </a:r>
            <a:r>
              <a:rPr lang="en-US" dirty="0" smtClean="0"/>
              <a:t>()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Используется для вычисления значения свойства и позволяет комбинировать разные единицы измерений. Допустимые операторы: </a:t>
            </a:r>
            <a:r>
              <a:rPr lang="ru-RU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ru-RU" sz="3200" dirty="0" smtClean="0"/>
              <a:t> , </a:t>
            </a:r>
            <a:r>
              <a:rPr lang="ru-RU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ru-RU" sz="3200" dirty="0" smtClean="0"/>
              <a:t> , </a:t>
            </a:r>
            <a:r>
              <a:rPr lang="ru-RU" sz="2800" dirty="0" smtClean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ru-RU" sz="3200" dirty="0" smtClean="0"/>
              <a:t>, </a:t>
            </a:r>
            <a:r>
              <a:rPr lang="ru-RU" sz="2800" dirty="0">
                <a:solidFill>
                  <a:schemeClr val="tx1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ru-RU" sz="3200" dirty="0" smtClean="0"/>
              <a:t> . Если </a:t>
            </a:r>
            <a:r>
              <a:rPr lang="ru-RU" sz="3200" dirty="0"/>
              <a:t>значение не может быть вычислено, оно </a:t>
            </a:r>
            <a:r>
              <a:rPr lang="ru-RU" sz="3200" dirty="0" smtClean="0"/>
              <a:t>игнорируется.</a:t>
            </a:r>
          </a:p>
          <a:p>
            <a:endParaRPr lang="ru-RU" sz="3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.banner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position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absolute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40px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800" b="1" dirty="0" smtClean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width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8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calc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(100%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80px)</a:t>
            </a:r>
            <a:r>
              <a:rPr lang="en-US" sz="28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242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</a:t>
            </a:r>
            <a:r>
              <a:rPr lang="en-US" dirty="0" err="1" smtClean="0"/>
              <a:t>attr</a:t>
            </a:r>
            <a:r>
              <a:rPr lang="en-US" dirty="0" smtClean="0"/>
              <a:t>()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 smtClean="0"/>
              <a:t>Применяется </a:t>
            </a:r>
            <a:r>
              <a:rPr lang="ru-RU" sz="3200" dirty="0"/>
              <a:t>для добавления значения атрибута HTML-элемента в стилевое </a:t>
            </a:r>
            <a:r>
              <a:rPr lang="ru-RU" sz="3200" dirty="0" smtClean="0"/>
              <a:t>свойство (сейчас – только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content</a:t>
            </a:r>
            <a:r>
              <a:rPr lang="en-US" sz="3200" dirty="0" smtClean="0"/>
              <a:t>).</a:t>
            </a:r>
            <a:endParaRPr lang="ru-RU" sz="3200" dirty="0"/>
          </a:p>
          <a:p>
            <a:r>
              <a:rPr lang="ru-RU" sz="3200" dirty="0" smtClean="0"/>
              <a:t>Синтаксис: </a:t>
            </a:r>
            <a:r>
              <a:rPr lang="ru-RU" sz="28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attr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ru-RU" sz="2800" i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&lt;атрибут&gt;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ru-RU" sz="2800" i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&lt;тип&gt;</a:t>
            </a:r>
            <a:r>
              <a:rPr lang="ru-RU" sz="2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ru-RU" sz="2800" i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&lt;значение</a:t>
            </a:r>
            <a:r>
              <a:rPr lang="ru-RU" sz="2800" i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ru-RU" sz="28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ru-RU" sz="2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1097280" y="3571507"/>
          <a:ext cx="10058400" cy="2407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549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40342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i="1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&lt;атрибут&gt;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Имя атрибута элемента.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i="1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&lt;тип&gt;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Тип значения свойства CSS. Допустимы следующие ключевые слова: </a:t>
                      </a:r>
                      <a:r>
                        <a:rPr lang="ru-RU" sz="2000" dirty="0" err="1" smtClean="0"/>
                        <a:t>string</a:t>
                      </a:r>
                      <a:r>
                        <a:rPr lang="ru-RU" sz="2000" dirty="0" smtClean="0"/>
                        <a:t> (строки), </a:t>
                      </a:r>
                      <a:r>
                        <a:rPr lang="ru-RU" sz="2000" dirty="0" err="1" smtClean="0"/>
                        <a:t>color</a:t>
                      </a:r>
                      <a:r>
                        <a:rPr lang="ru-RU" sz="2000" dirty="0" smtClean="0"/>
                        <a:t> (цвет), </a:t>
                      </a:r>
                      <a:r>
                        <a:rPr lang="ru-RU" sz="2000" dirty="0" err="1" smtClean="0"/>
                        <a:t>url</a:t>
                      </a:r>
                      <a:r>
                        <a:rPr lang="ru-RU" sz="2000" dirty="0" smtClean="0"/>
                        <a:t> (веб-адрес), </a:t>
                      </a:r>
                      <a:r>
                        <a:rPr lang="ru-RU" sz="2000" dirty="0" err="1" smtClean="0"/>
                        <a:t>integer</a:t>
                      </a:r>
                      <a:r>
                        <a:rPr lang="ru-RU" sz="2000" dirty="0" smtClean="0"/>
                        <a:t> (целое число), </a:t>
                      </a:r>
                      <a:r>
                        <a:rPr lang="ru-RU" sz="2000" dirty="0" err="1" smtClean="0"/>
                        <a:t>number</a:t>
                      </a:r>
                      <a:r>
                        <a:rPr lang="ru-RU" sz="2000" dirty="0" smtClean="0"/>
                        <a:t> (вещественное число), </a:t>
                      </a:r>
                      <a:r>
                        <a:rPr lang="ru-RU" sz="2000" dirty="0" err="1" smtClean="0"/>
                        <a:t>angle</a:t>
                      </a:r>
                      <a:r>
                        <a:rPr lang="ru-RU" sz="2000" dirty="0" smtClean="0"/>
                        <a:t> (угол), </a:t>
                      </a:r>
                      <a:r>
                        <a:rPr lang="ru-RU" sz="2000" dirty="0" err="1" smtClean="0"/>
                        <a:t>time</a:t>
                      </a:r>
                      <a:r>
                        <a:rPr lang="ru-RU" sz="2000" dirty="0" smtClean="0"/>
                        <a:t> (время), </a:t>
                      </a:r>
                      <a:r>
                        <a:rPr lang="ru-RU" sz="2000" dirty="0" err="1" smtClean="0"/>
                        <a:t>deg</a:t>
                      </a:r>
                      <a:r>
                        <a:rPr lang="ru-RU" sz="2000" dirty="0" smtClean="0"/>
                        <a:t> (градус), а также единицы CSS вроде </a:t>
                      </a:r>
                      <a:r>
                        <a:rPr lang="ru-RU" sz="2000" dirty="0" err="1" smtClean="0"/>
                        <a:t>em</a:t>
                      </a:r>
                      <a:r>
                        <a:rPr lang="ru-RU" sz="2000" dirty="0" smtClean="0"/>
                        <a:t>, </a:t>
                      </a:r>
                      <a:r>
                        <a:rPr lang="ru-RU" sz="2000" dirty="0" err="1" smtClean="0"/>
                        <a:t>px</a:t>
                      </a:r>
                      <a:r>
                        <a:rPr lang="ru-RU" sz="2000" dirty="0" smtClean="0"/>
                        <a:t> и др.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i="1" kern="1200" dirty="0" smtClean="0">
                          <a:solidFill>
                            <a:srgbClr val="0000FF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&lt;значение&gt;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Значение, которое будет использоваться в том случае, если атрибута нет или браузер не может его получить.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86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Функция </a:t>
            </a:r>
            <a:r>
              <a:rPr lang="en-US" dirty="0" err="1" smtClean="0"/>
              <a:t>attr</a:t>
            </a:r>
            <a:r>
              <a:rPr lang="en-US" dirty="0" smtClean="0"/>
              <a:t>()</a:t>
            </a:r>
            <a:r>
              <a:rPr lang="ru-RU" dirty="0" smtClean="0"/>
              <a:t> – пример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::after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content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("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 err="1">
                <a:solidFill>
                  <a:srgbClr val="C5C5C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attr</a:t>
            </a:r>
            <a:r>
              <a:rPr lang="en-US" sz="2200" b="1" dirty="0">
                <a:solidFill>
                  <a:srgbClr val="C5C5C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(id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")"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style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sz="2200" dirty="0" smtClean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2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pt-BR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pt-BR" sz="2200" dirty="0" smtClean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pt-BR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pt-BR" sz="2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="moz"</a:t>
            </a:r>
            <a:r>
              <a:rPr lang="pt-B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href</a:t>
            </a:r>
            <a:r>
              <a:rPr lang="pt-BR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="http://www.mozilla.org/"&gt;</a:t>
            </a:r>
            <a:endParaRPr lang="pt-BR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Mozilla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Home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Page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&gt;&lt;/</a:t>
            </a: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r>
              <a:rPr lang="pt-BR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pt-BR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pt-B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2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id</a:t>
            </a:r>
            <a:r>
              <a:rPr lang="pt-BR" sz="2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="mdn"</a:t>
            </a:r>
            <a:r>
              <a:rPr lang="pt-B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2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href</a:t>
            </a:r>
            <a:r>
              <a:rPr lang="pt-BR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="https://developer.mozilla.org/"&gt;</a:t>
            </a:r>
            <a:endParaRPr lang="pt-BR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Mozilla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Developer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Network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&gt;&lt;/</a:t>
            </a:r>
            <a:r>
              <a:rPr lang="en-US" sz="2200" dirty="0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 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&lt;/</a:t>
            </a:r>
            <a:r>
              <a:rPr lang="en-US" sz="2200" dirty="0" err="1">
                <a:solidFill>
                  <a:srgbClr val="8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ul</a:t>
            </a:r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ru-RU" sz="2200" dirty="0"/>
          </a:p>
        </p:txBody>
      </p:sp>
      <p:cxnSp>
        <p:nvCxnSpPr>
          <p:cNvPr id="6" name="Прямая соединительная линия 5"/>
          <p:cNvCxnSpPr>
            <a:stCxn id="3" idx="1"/>
          </p:cNvCxnSpPr>
          <p:nvPr/>
        </p:nvCxnSpPr>
        <p:spPr>
          <a:xfrm flipV="1">
            <a:off x="1097280" y="3838669"/>
            <a:ext cx="5140558" cy="25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705" y="1845733"/>
            <a:ext cx="43719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20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CSS свойство </a:t>
            </a:r>
            <a:r>
              <a:rPr lang="ru-RU" dirty="0" err="1"/>
              <a:t>filter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036321"/>
          </a:xfrm>
        </p:spPr>
        <p:txBody>
          <a:bodyPr>
            <a:noAutofit/>
          </a:bodyPr>
          <a:lstStyle/>
          <a:p>
            <a:r>
              <a:rPr lang="ru-RU" sz="3200" dirty="0"/>
              <a:t>CSS свойство </a:t>
            </a:r>
            <a:r>
              <a:rPr lang="ru-RU" sz="3200" b="1" dirty="0" err="1"/>
              <a:t>filter</a:t>
            </a:r>
            <a:r>
              <a:rPr lang="ru-RU" sz="3200" dirty="0"/>
              <a:t> устанавливает визуальный эффект (фильтр) для элемента (например, размытие или изменение цвета</a:t>
            </a:r>
            <a:r>
              <a:rPr lang="ru-RU" sz="3200" dirty="0" smtClean="0"/>
              <a:t>).</a:t>
            </a:r>
          </a:p>
          <a:p>
            <a:r>
              <a:rPr lang="ru-RU" sz="3200" dirty="0" smtClean="0"/>
              <a:t>Синтаксис: </a:t>
            </a:r>
          </a:p>
          <a:p>
            <a:r>
              <a:rPr lang="en-US" sz="22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filter:"none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| blur() | brightness() | contrast() | drop-shadow() | grayscale() | hue-rotate() | invert() | opacity() | saturate() | sepia() | </a:t>
            </a:r>
            <a:r>
              <a:rPr lang="en-US" sz="2200" b="1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url</a:t>
            </a:r>
            <a:r>
              <a:rPr lang="en-US" sz="22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()“;</a:t>
            </a:r>
          </a:p>
          <a:p>
            <a:r>
              <a:rPr lang="en-US" sz="2800" b="1" dirty="0" err="1"/>
              <a:t>filter:"blur</a:t>
            </a:r>
            <a:r>
              <a:rPr lang="en-US" sz="2800" b="1" dirty="0"/>
              <a:t>(10px) brightness(150%)</a:t>
            </a:r>
            <a:r>
              <a:rPr lang="en-US" sz="2800" dirty="0"/>
              <a:t>;</a:t>
            </a:r>
            <a:endParaRPr lang="ru-RU" sz="28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20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 веб-сайтов </a:t>
            </a:r>
            <a:r>
              <a:rPr lang="en-US" dirty="0" smtClean="0"/>
              <a:t>W3.CSS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https://www.w3schools.com/css/css_rwd_templates.asp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415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94052"/>
          </a:xfrm>
        </p:spPr>
        <p:txBody>
          <a:bodyPr/>
          <a:lstStyle/>
          <a:p>
            <a:r>
              <a:rPr lang="en-US" dirty="0"/>
              <a:t>CSS Grid Layout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19904" y="1817454"/>
            <a:ext cx="10058400" cy="2603718"/>
          </a:xfrm>
        </p:spPr>
        <p:txBody>
          <a:bodyPr>
            <a:normAutofit/>
          </a:bodyPr>
          <a:lstStyle/>
          <a:p>
            <a:r>
              <a:rPr lang="ru-RU" sz="2800" dirty="0"/>
              <a:t>П</a:t>
            </a:r>
            <a:r>
              <a:rPr lang="ru-RU" sz="2800" dirty="0" smtClean="0"/>
              <a:t>редлагает </a:t>
            </a:r>
            <a:r>
              <a:rPr lang="ru-RU" sz="2800" dirty="0"/>
              <a:t>систему макета на основе сетки со строками и столбцами, что упрощает разработку веб-страниц без использования плавающих элементов и позиционирования.</a:t>
            </a:r>
          </a:p>
          <a:p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/>
              <a:t>Макет сетки состоит из родительского элемента с одним или </a:t>
            </a:r>
            <a:r>
              <a:rPr lang="ru-RU" sz="2800" dirty="0" smtClean="0"/>
              <a:t>несколькими </a:t>
            </a:r>
            <a:r>
              <a:rPr lang="ru-RU" sz="2800" dirty="0"/>
              <a:t>дочерними элементами</a:t>
            </a:r>
            <a:r>
              <a:rPr lang="ru-RU" sz="2800" dirty="0" smtClean="0"/>
              <a:t>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39647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11631" y="85664"/>
            <a:ext cx="42106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&lt;div class='grid-container</a:t>
            </a: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'&gt;</a:t>
            </a:r>
          </a:p>
          <a:p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div&gt;1 1&lt;/div</a:t>
            </a: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div&gt;2 1&lt;/div</a:t>
            </a: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div&gt;3 1&lt;/div</a:t>
            </a: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div&gt;4 2&lt;/div</a:t>
            </a: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div&gt;5 2&lt;/div</a:t>
            </a: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div&gt;6 2&lt;/div&gt;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&lt;/div&gt;</a:t>
            </a:r>
            <a:endParaRPr lang="ru-RU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41022" y="4713674"/>
            <a:ext cx="10096107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HTML-элемент становится контейнером сетки, если для его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display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свойства установлено значение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grid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или 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inline-grid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41022" y="5771476"/>
            <a:ext cx="85406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Все прямые дочерние </a:t>
            </a:r>
            <a:r>
              <a:rPr lang="ru-RU" i="1" dirty="0">
                <a:solidFill>
                  <a:srgbClr val="000000"/>
                </a:solidFill>
                <a:latin typeface="Verdana" panose="020B0604030504040204" pitchFamily="34" charset="0"/>
              </a:rPr>
              <a:t>элементы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 контейнера сетки автоматически становятся </a:t>
            </a:r>
            <a:r>
              <a:rPr lang="ru-RU" i="1" dirty="0">
                <a:solidFill>
                  <a:srgbClr val="000000"/>
                </a:solidFill>
                <a:latin typeface="Verdana" panose="020B0604030504040204" pitchFamily="34" charset="0"/>
              </a:rPr>
              <a:t>элементами сетки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 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252031" y="85664"/>
            <a:ext cx="503499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.grid-container {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background: 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rgb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(0, 150, 208); 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display: grid;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grid-template-columns: auto 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background-color: #2196F3;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padding: 10px;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.grid-container &gt; div {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background: 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rgb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(241, 101, 41); 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border: 1px solid; 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margin: 15px; 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padding: 10px;</a:t>
            </a:r>
          </a:p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text-align: center;</a:t>
            </a:r>
          </a:p>
          <a:p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31" y="2801251"/>
            <a:ext cx="5611008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3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775" y="748146"/>
            <a:ext cx="8907029" cy="492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7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75" y="1058373"/>
            <a:ext cx="2492962" cy="2440033"/>
          </a:xfrm>
          <a:prstGeom prst="rect">
            <a:avLst/>
          </a:prstGeom>
        </p:spPr>
      </p:pic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938" y="955369"/>
            <a:ext cx="3377970" cy="2543037"/>
          </a:xfrm>
          <a:prstGeom prst="rect">
            <a:avLst/>
          </a:prstGeom>
        </p:spPr>
      </p:pic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7938" y="3664112"/>
            <a:ext cx="3377970" cy="2641597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36915" y="201763"/>
            <a:ext cx="11210920" cy="6843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Столбцы, строки, линии и разрывы сетки</a:t>
            </a:r>
            <a:endParaRPr lang="ru-RU" dirty="0"/>
          </a:p>
        </p:txBody>
      </p:sp>
      <p:pic>
        <p:nvPicPr>
          <p:cNvPr id="10" name="Рисунок 9" descr="Вырезка экрана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6173" y="1172308"/>
            <a:ext cx="3867330" cy="3223846"/>
          </a:xfrm>
          <a:prstGeom prst="rect">
            <a:avLst/>
          </a:prstGeo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1F1F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3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04021" y="447840"/>
            <a:ext cx="8024163" cy="24929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DC143C"/>
                </a:solidFill>
                <a:effectLst/>
              </a:rPr>
              <a:t>grid-column-gap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DC143C"/>
                </a:solidFill>
                <a:effectLst/>
              </a:rPr>
              <a:t> - 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устанавливает зазор между столбцами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2000" dirty="0">
              <a:solidFill>
                <a:srgbClr val="00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ru-RU" altLang="ru-RU" sz="2000" dirty="0" err="1" smtClean="0">
                <a:solidFill>
                  <a:srgbClr val="DC143C"/>
                </a:solidFill>
              </a:rPr>
              <a:t>grid-row-gap</a:t>
            </a:r>
            <a:r>
              <a:rPr lang="ru-RU" altLang="ru-RU" sz="2000" dirty="0" smtClean="0">
                <a:solidFill>
                  <a:srgbClr val="DC143C"/>
                </a:solidFill>
              </a:rPr>
              <a:t> - </a:t>
            </a:r>
            <a:r>
              <a:rPr lang="ru-RU" altLang="ru-RU" sz="2000" dirty="0" smtClean="0">
                <a:solidFill>
                  <a:srgbClr val="000000"/>
                </a:solidFill>
              </a:rPr>
              <a:t> устанавливает </a:t>
            </a:r>
            <a:r>
              <a:rPr lang="ru-RU" altLang="ru-RU" sz="2000" dirty="0">
                <a:solidFill>
                  <a:srgbClr val="000000"/>
                </a:solidFill>
              </a:rPr>
              <a:t>зазор между </a:t>
            </a:r>
            <a:r>
              <a:rPr lang="ru-RU" altLang="ru-RU" sz="2000" dirty="0" smtClean="0">
                <a:solidFill>
                  <a:srgbClr val="000000"/>
                </a:solidFill>
              </a:rPr>
              <a:t>рядами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sz="2000" dirty="0" smtClean="0">
              <a:solidFill>
                <a:srgbClr val="000000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dirty="0" err="1" smtClean="0">
                <a:solidFill>
                  <a:srgbClr val="DC143C"/>
                </a:solidFill>
              </a:rPr>
              <a:t>grid-gap</a:t>
            </a:r>
            <a:r>
              <a:rPr lang="ru-RU" altLang="ru-RU" sz="2000" dirty="0" smtClean="0">
                <a:solidFill>
                  <a:srgbClr val="DC143C"/>
                </a:solidFill>
              </a:rPr>
              <a:t> - </a:t>
            </a:r>
            <a:r>
              <a:rPr lang="ru-RU" altLang="ru-RU" sz="2000" dirty="0" smtClean="0">
                <a:solidFill>
                  <a:srgbClr val="000000"/>
                </a:solidFill>
              </a:rPr>
              <a:t> является </a:t>
            </a:r>
            <a:r>
              <a:rPr lang="ru-RU" altLang="ru-RU" sz="2000" dirty="0">
                <a:solidFill>
                  <a:srgbClr val="000000"/>
                </a:solidFill>
              </a:rPr>
              <a:t>сокращенным свойством для </a:t>
            </a:r>
            <a:r>
              <a:rPr lang="ru-RU" altLang="ru-RU" sz="2000" dirty="0" err="1" smtClean="0">
                <a:solidFill>
                  <a:srgbClr val="DC143C"/>
                </a:solidFill>
              </a:rPr>
              <a:t>grid-row-gap</a:t>
            </a:r>
            <a:r>
              <a:rPr lang="ru-RU" altLang="ru-RU" sz="2000" dirty="0" smtClean="0">
                <a:solidFill>
                  <a:srgbClr val="DC143C"/>
                </a:solidFill>
              </a:rPr>
              <a:t> </a:t>
            </a:r>
            <a:r>
              <a:rPr lang="ru-RU" altLang="ru-RU" sz="2000" dirty="0" smtClean="0">
                <a:solidFill>
                  <a:srgbClr val="000000"/>
                </a:solidFill>
              </a:rPr>
              <a:t>и </a:t>
            </a:r>
            <a:r>
              <a:rPr lang="ru-RU" altLang="ru-RU" sz="2000" dirty="0">
                <a:solidFill>
                  <a:srgbClr val="000000"/>
                </a:solidFill>
              </a:rPr>
              <a:t> </a:t>
            </a:r>
            <a:r>
              <a:rPr lang="ru-RU" altLang="ru-RU" sz="2000" dirty="0" err="1">
                <a:solidFill>
                  <a:srgbClr val="DC143C"/>
                </a:solidFill>
              </a:rPr>
              <a:t>grid-column-gap</a:t>
            </a:r>
            <a:r>
              <a:rPr lang="ru-RU" altLang="ru-RU" sz="20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altLang="ru-RU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22031" y="2940830"/>
            <a:ext cx="328246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.grid-container {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 display: grid;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grid-gap: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50px 100px;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 grid-template-columns: auto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auto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 background-color: #2196F3;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  padding: 10px;</a:t>
            </a:r>
          </a:p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8504" y="2571146"/>
            <a:ext cx="605874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45477" y="1269666"/>
            <a:ext cx="32472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.item1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grid-column-start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grid-column-end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336915" y="201763"/>
            <a:ext cx="11210920" cy="6843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Размещение элемента в контейнере сетки</a:t>
            </a:r>
            <a:endParaRPr lang="ru-RU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503" y="1024859"/>
            <a:ext cx="3804574" cy="154270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36915" y="3614282"/>
            <a:ext cx="29455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.item1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 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grid-row-start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 grid-row-end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 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pic>
        <p:nvPicPr>
          <p:cNvPr id="7" name="Рисунок 6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704" y="3614282"/>
            <a:ext cx="3804574" cy="154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57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" y="14748"/>
            <a:ext cx="9476509" cy="6085961"/>
          </a:xfrm>
          <a:prstGeom prst="rect">
            <a:avLst/>
          </a:prstGeom>
        </p:spPr>
      </p:pic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908" y="2816940"/>
            <a:ext cx="5868608" cy="3042981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6097585" y="5916043"/>
            <a:ext cx="42886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5"/>
              </a:rPr>
              <a:t>https://basicweb.ru/css/grid_generator.php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72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3745" y="172937"/>
            <a:ext cx="12044515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sz="2800" b="1" dirty="0" err="1">
                <a:solidFill>
                  <a:srgbClr val="B2222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 tooltip="CSS свойство grid-template-rows"/>
              </a:rPr>
              <a:t>grid-template-rows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8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u-RU" altLang="ru-RU" sz="2800" dirty="0">
                <a:solidFill>
                  <a:schemeClr val="dk1"/>
                </a:solidFill>
              </a:rPr>
              <a:t>число (и высота) строк в макете сетки.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800" dirty="0">
                <a:solidFill>
                  <a:schemeClr val="dk1"/>
                </a:solidFill>
              </a:rPr>
              <a:t>Значения представляют собой список, разделенный пробелами, где каждое значение определяет высоту соответствующей </a:t>
            </a:r>
            <a:r>
              <a:rPr lang="ru-RU" altLang="ru-RU" sz="2800" dirty="0" smtClean="0">
                <a:solidFill>
                  <a:schemeClr val="dk1"/>
                </a:solidFill>
              </a:rPr>
              <a:t>строки</a:t>
            </a:r>
            <a:r>
              <a:rPr lang="ru-RU" sz="28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ru-RU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800" b="1" dirty="0" err="1">
                <a:solidFill>
                  <a:srgbClr val="B2222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tooltip="CSS свойство grid-template-columns"/>
              </a:rPr>
              <a:t>grid-template-columns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28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ru-RU" sz="2800" dirty="0">
                <a:solidFill>
                  <a:schemeClr val="dk1"/>
                </a:solidFill>
              </a:rPr>
              <a:t>число (и ширина) столбцов в макете сетки.</a:t>
            </a:r>
          </a:p>
          <a:p>
            <a:r>
              <a:rPr lang="ru-RU" sz="2800" dirty="0">
                <a:solidFill>
                  <a:schemeClr val="dk1"/>
                </a:solidFill>
              </a:rPr>
              <a:t>Значения представляют собой список, разделенный пробелами, где каждое значение определяет размер соответствующего столбца</a:t>
            </a:r>
            <a:r>
              <a:rPr lang="ru-RU" sz="2800" dirty="0" smtClean="0">
                <a:solidFill>
                  <a:schemeClr val="dk1"/>
                </a:solidFill>
              </a:rPr>
              <a:t>.</a:t>
            </a:r>
            <a:r>
              <a:rPr lang="ru-RU" sz="2800" dirty="0" smtClean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  <a:endParaRPr lang="ru-RU" sz="28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ru-RU" sz="2800" b="1" dirty="0" err="1">
                <a:solidFill>
                  <a:srgbClr val="B2222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 tooltip="CSS свойство grid-template-areas"/>
              </a:rPr>
              <a:t>grid-template-areas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(определяет шаблон макета сетки, ссылаясь при этом на имена областей элементов, которые задаются с помощью свойства </a:t>
            </a:r>
            <a:r>
              <a:rPr lang="ru-RU" sz="2800" b="1" dirty="0" err="1">
                <a:solidFill>
                  <a:srgbClr val="B2222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5" tooltip="CSS свойство grid-area"/>
              </a:rPr>
              <a:t>grid-area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algn="just"/>
            <a:r>
              <a:rPr lang="ru-RU" sz="2800" b="1" dirty="0" err="1">
                <a:solidFill>
                  <a:srgbClr val="B2222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6" tooltip="CSS свойство grid-auto-rows"/>
              </a:rPr>
              <a:t>grid-auto-rows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(задает размер неявно созданных строк в контейнере сетки макета)</a:t>
            </a:r>
          </a:p>
          <a:p>
            <a:pPr algn="just"/>
            <a:r>
              <a:rPr lang="ru-RU" sz="2800" b="1" dirty="0" err="1">
                <a:solidFill>
                  <a:srgbClr val="B2222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7" tooltip="CSS свойство grid-auto-columns"/>
              </a:rPr>
              <a:t>grid-auto-columns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(задает размер неявно созданных столбцов в контейнере сетки макета)</a:t>
            </a:r>
          </a:p>
          <a:p>
            <a:pPr algn="just"/>
            <a:r>
              <a:rPr lang="ru-RU" sz="2800" b="1" dirty="0" err="1">
                <a:solidFill>
                  <a:srgbClr val="B22222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8" tooltip="CSS свойство grid-auto-flow"/>
              </a:rPr>
              <a:t>grid-auto-flow</a:t>
            </a:r>
            <a:r>
              <a:rPr lang="ru-RU" sz="28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(определяет, как работает алгоритм автоматического размещения для неявно созданных элементов макета, указывая как они будут размещены в сетке макета)</a:t>
            </a:r>
            <a:endParaRPr lang="ru-RU" sz="28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04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28" y="372512"/>
            <a:ext cx="11400503" cy="590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7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6" y="575188"/>
            <a:ext cx="12070858" cy="3392128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843993" y="4278127"/>
            <a:ext cx="9740487" cy="1801692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30134" rIns="0" bIns="13013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grid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'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header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header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header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header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' </a:t>
            </a:r>
            <a:r>
              <a:rPr kumimoji="0" lang="en-US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2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0px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 /* определяем шаблон макета сетки, </a:t>
            </a:r>
            <a:endParaRPr kumimoji="0" lang="en-US" altLang="ru-RU" sz="2000" b="1" i="0" u="none" strike="noStrike" cap="none" normalizeH="0" baseline="0" dirty="0" smtClean="0">
              <a:ln>
                <a:noFill/>
              </a:ln>
              <a:solidFill>
                <a:srgbClr val="228B22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ссылаясь при этом на имена областей элементов</a:t>
            </a:r>
            <a:r>
              <a:rPr lang="ru-RU" altLang="ru-RU" sz="2000" b="1" dirty="0" smtClean="0">
                <a:solidFill>
                  <a:srgbClr val="228B22"/>
                </a:solidFill>
                <a:latin typeface="Open Sans"/>
              </a:rPr>
              <a:t>, кавычки обязательны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 */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endParaRPr kumimoji="0" lang="en-US" altLang="ru-RU" sz="2000" b="1" i="0" u="none" strike="noStrike" cap="none" normalizeH="0" baseline="0" dirty="0" smtClean="0">
              <a:ln>
                <a:noFill/>
              </a:ln>
              <a:solidFill>
                <a:srgbClr val="6A5ACD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'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nav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main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main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.' </a:t>
            </a:r>
            <a:r>
              <a:rPr kumimoji="0" lang="en-US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20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px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 /* точка обозначает элемент без имени */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endParaRPr kumimoji="0" lang="en-US" altLang="ru-RU" sz="2000" b="1" i="0" u="none" strike="noStrike" cap="none" normalizeH="0" baseline="0" dirty="0" smtClean="0">
              <a:ln>
                <a:noFill/>
              </a:ln>
              <a:solidFill>
                <a:srgbClr val="6A5ACD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'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nav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main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main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.' </a:t>
            </a:r>
            <a:r>
              <a:rPr kumimoji="0" lang="en-US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20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px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 /* точка обозначает элемент без имени */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endParaRPr kumimoji="0" lang="en-US" altLang="ru-RU" sz="2000" b="1" i="0" u="none" strike="noStrike" cap="none" normalizeH="0" baseline="0" dirty="0" smtClean="0">
              <a:ln>
                <a:noFill/>
              </a:ln>
              <a:solidFill>
                <a:srgbClr val="6A5ACD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'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footer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footer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footer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footer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' </a:t>
            </a:r>
            <a:r>
              <a:rPr kumimoji="0" lang="en-US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2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0px / 1fr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1fr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1fr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1fr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682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7133" y="63064"/>
            <a:ext cx="5628144" cy="2109469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30134" rIns="0" bIns="13013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&lt;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div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class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 =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"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grid-container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"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&gt;</a:t>
            </a:r>
            <a:endParaRPr kumimoji="0" lang="en-US" altLang="ru-RU" sz="2000" b="1" i="0" u="none" strike="noStrike" cap="none" normalizeH="0" baseline="0" dirty="0" smtClean="0">
              <a:ln>
                <a:noFill/>
              </a:ln>
              <a:solidFill>
                <a:srgbClr val="4169E1"/>
              </a:solidFill>
              <a:effectLst/>
              <a:latin typeface="Open Sans"/>
            </a:endParaRP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&lt;</a:t>
            </a:r>
            <a:r>
              <a:rPr lang="ru-RU" altLang="ru-RU" sz="2000" b="1" dirty="0" err="1">
                <a:solidFill>
                  <a:srgbClr val="4169E1"/>
                </a:solidFill>
                <a:latin typeface="Open Sans"/>
              </a:rPr>
              <a:t>div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 </a:t>
            </a:r>
            <a:r>
              <a:rPr lang="ru-RU" altLang="ru-RU" sz="2000" b="1" dirty="0" err="1">
                <a:solidFill>
                  <a:srgbClr val="B22222"/>
                </a:solidFill>
                <a:latin typeface="Open Sans"/>
              </a:rPr>
              <a:t>class</a:t>
            </a:r>
            <a:r>
              <a:rPr lang="ru-RU" altLang="ru-RU" sz="2000" b="1" dirty="0">
                <a:solidFill>
                  <a:srgbClr val="B22222"/>
                </a:solidFill>
                <a:latin typeface="Open Sans"/>
              </a:rPr>
              <a:t> = </a:t>
            </a:r>
            <a:r>
              <a:rPr lang="ru-RU" altLang="ru-RU" sz="2000" b="1" dirty="0">
                <a:solidFill>
                  <a:srgbClr val="6A5ACD"/>
                </a:solidFill>
                <a:latin typeface="Open Sans"/>
              </a:rPr>
              <a:t>"</a:t>
            </a:r>
            <a:r>
              <a:rPr lang="ru-RU" altLang="ru-RU" sz="2000" b="1" dirty="0" err="1">
                <a:solidFill>
                  <a:srgbClr val="6A5ACD"/>
                </a:solidFill>
                <a:latin typeface="Open Sans"/>
              </a:rPr>
              <a:t>item</a:t>
            </a:r>
            <a:r>
              <a:rPr lang="ru-RU" altLang="ru-RU" sz="2000" b="1" dirty="0">
                <a:solidFill>
                  <a:srgbClr val="6A5ACD"/>
                </a:solidFill>
                <a:latin typeface="Open Sans"/>
              </a:rPr>
              <a:t>-a"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&gt;</a:t>
            </a:r>
            <a:r>
              <a:rPr lang="ru-RU" altLang="ru-RU" sz="2000" dirty="0" err="1">
                <a:solidFill>
                  <a:srgbClr val="000000"/>
                </a:solidFill>
                <a:latin typeface="Open Sans"/>
              </a:rPr>
              <a:t>Header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&lt;/</a:t>
            </a:r>
            <a:r>
              <a:rPr lang="ru-RU" altLang="ru-RU" sz="2000" b="1" dirty="0" err="1">
                <a:solidFill>
                  <a:srgbClr val="4169E1"/>
                </a:solidFill>
                <a:latin typeface="Open Sans"/>
              </a:rPr>
              <a:t>div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&gt; </a:t>
            </a:r>
            <a:endParaRPr lang="en-US" altLang="ru-RU" sz="2000" b="1" dirty="0">
              <a:solidFill>
                <a:srgbClr val="4169E1"/>
              </a:solidFill>
              <a:latin typeface="Open Sans"/>
            </a:endParaRP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&lt;</a:t>
            </a:r>
            <a:r>
              <a:rPr lang="ru-RU" altLang="ru-RU" sz="2000" b="1" dirty="0" err="1">
                <a:solidFill>
                  <a:srgbClr val="4169E1"/>
                </a:solidFill>
                <a:latin typeface="Open Sans"/>
              </a:rPr>
              <a:t>div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 </a:t>
            </a:r>
            <a:r>
              <a:rPr lang="ru-RU" altLang="ru-RU" sz="2000" b="1" dirty="0" err="1">
                <a:solidFill>
                  <a:srgbClr val="B22222"/>
                </a:solidFill>
                <a:latin typeface="Open Sans"/>
              </a:rPr>
              <a:t>class</a:t>
            </a:r>
            <a:r>
              <a:rPr lang="ru-RU" altLang="ru-RU" sz="2000" b="1" dirty="0">
                <a:solidFill>
                  <a:srgbClr val="B22222"/>
                </a:solidFill>
                <a:latin typeface="Open Sans"/>
              </a:rPr>
              <a:t> = </a:t>
            </a:r>
            <a:r>
              <a:rPr lang="ru-RU" altLang="ru-RU" sz="2000" b="1" dirty="0">
                <a:solidFill>
                  <a:srgbClr val="6A5ACD"/>
                </a:solidFill>
                <a:latin typeface="Open Sans"/>
              </a:rPr>
              <a:t>"</a:t>
            </a:r>
            <a:r>
              <a:rPr lang="ru-RU" altLang="ru-RU" sz="2000" b="1" dirty="0" err="1">
                <a:solidFill>
                  <a:srgbClr val="6A5ACD"/>
                </a:solidFill>
                <a:latin typeface="Open Sans"/>
              </a:rPr>
              <a:t>item</a:t>
            </a:r>
            <a:r>
              <a:rPr lang="ru-RU" altLang="ru-RU" sz="2000" b="1" dirty="0">
                <a:solidFill>
                  <a:srgbClr val="6A5ACD"/>
                </a:solidFill>
                <a:latin typeface="Open Sans"/>
              </a:rPr>
              <a:t>-b"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&gt;</a:t>
            </a:r>
            <a:r>
              <a:rPr lang="ru-RU" altLang="ru-RU" sz="2000" dirty="0" err="1">
                <a:solidFill>
                  <a:srgbClr val="000000"/>
                </a:solidFill>
                <a:latin typeface="Open Sans"/>
              </a:rPr>
              <a:t>Main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&lt;/</a:t>
            </a:r>
            <a:r>
              <a:rPr lang="ru-RU" altLang="ru-RU" sz="2000" b="1" dirty="0" err="1">
                <a:solidFill>
                  <a:srgbClr val="4169E1"/>
                </a:solidFill>
                <a:latin typeface="Open Sans"/>
              </a:rPr>
              <a:t>div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&gt; </a:t>
            </a:r>
            <a:endParaRPr lang="en-US" altLang="ru-RU" sz="2000" b="1" dirty="0">
              <a:solidFill>
                <a:srgbClr val="4169E1"/>
              </a:solidFill>
              <a:latin typeface="Open Sans"/>
            </a:endParaRP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&lt;</a:t>
            </a:r>
            <a:r>
              <a:rPr lang="ru-RU" altLang="ru-RU" sz="2000" b="1" dirty="0" err="1">
                <a:solidFill>
                  <a:srgbClr val="4169E1"/>
                </a:solidFill>
                <a:latin typeface="Open Sans"/>
              </a:rPr>
              <a:t>div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 </a:t>
            </a:r>
            <a:r>
              <a:rPr lang="ru-RU" altLang="ru-RU" sz="2000" b="1" dirty="0" err="1">
                <a:solidFill>
                  <a:srgbClr val="B22222"/>
                </a:solidFill>
                <a:latin typeface="Open Sans"/>
              </a:rPr>
              <a:t>class</a:t>
            </a:r>
            <a:r>
              <a:rPr lang="ru-RU" altLang="ru-RU" sz="2000" b="1" dirty="0">
                <a:solidFill>
                  <a:srgbClr val="B22222"/>
                </a:solidFill>
                <a:latin typeface="Open Sans"/>
              </a:rPr>
              <a:t> = </a:t>
            </a:r>
            <a:r>
              <a:rPr lang="ru-RU" altLang="ru-RU" sz="2000" b="1" dirty="0">
                <a:solidFill>
                  <a:srgbClr val="6A5ACD"/>
                </a:solidFill>
                <a:latin typeface="Open Sans"/>
              </a:rPr>
              <a:t>"</a:t>
            </a:r>
            <a:r>
              <a:rPr lang="ru-RU" altLang="ru-RU" sz="2000" b="1" dirty="0" err="1">
                <a:solidFill>
                  <a:srgbClr val="6A5ACD"/>
                </a:solidFill>
                <a:latin typeface="Open Sans"/>
              </a:rPr>
              <a:t>item</a:t>
            </a:r>
            <a:r>
              <a:rPr lang="ru-RU" altLang="ru-RU" sz="2000" b="1" dirty="0">
                <a:solidFill>
                  <a:srgbClr val="6A5ACD"/>
                </a:solidFill>
                <a:latin typeface="Open Sans"/>
              </a:rPr>
              <a:t>-c"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&gt;</a:t>
            </a:r>
            <a:r>
              <a:rPr lang="ru-RU" altLang="ru-RU" sz="2000" dirty="0" err="1">
                <a:solidFill>
                  <a:srgbClr val="000000"/>
                </a:solidFill>
                <a:latin typeface="Open Sans"/>
              </a:rPr>
              <a:t>Footer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&lt;/</a:t>
            </a:r>
            <a:r>
              <a:rPr lang="ru-RU" altLang="ru-RU" sz="2000" b="1" dirty="0" err="1">
                <a:solidFill>
                  <a:srgbClr val="4169E1"/>
                </a:solidFill>
                <a:latin typeface="Open Sans"/>
              </a:rPr>
              <a:t>div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&gt; </a:t>
            </a:r>
            <a:endParaRPr lang="en-US" altLang="ru-RU" sz="2000" b="1" dirty="0">
              <a:solidFill>
                <a:srgbClr val="4169E1"/>
              </a:solidFill>
              <a:latin typeface="Open Sans"/>
            </a:endParaRPr>
          </a:p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&lt;</a:t>
            </a:r>
            <a:r>
              <a:rPr lang="ru-RU" altLang="ru-RU" sz="2000" b="1" dirty="0" err="1">
                <a:solidFill>
                  <a:srgbClr val="4169E1"/>
                </a:solidFill>
                <a:latin typeface="Open Sans"/>
              </a:rPr>
              <a:t>div</a:t>
            </a:r>
            <a:r>
              <a:rPr lang="ru-RU" altLang="ru-RU" sz="2000" b="1" dirty="0">
                <a:solidFill>
                  <a:srgbClr val="4169E1"/>
                </a:solidFill>
                <a:latin typeface="Open Sans"/>
              </a:rPr>
              <a:t> </a:t>
            </a:r>
            <a:r>
              <a:rPr lang="ru-RU" altLang="ru-RU" sz="2000" b="1" dirty="0" err="1">
                <a:solidFill>
                  <a:srgbClr val="B22222"/>
                </a:solidFill>
                <a:latin typeface="Open Sans"/>
              </a:rPr>
              <a:t>class</a:t>
            </a:r>
            <a:r>
              <a:rPr lang="ru-RU" altLang="ru-RU" sz="2000" b="1" dirty="0">
                <a:solidFill>
                  <a:srgbClr val="B22222"/>
                </a:solidFill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=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"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item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-d"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&gt;</a:t>
            </a:r>
            <a:r>
              <a:rPr kumimoji="0" lang="ru-RU" altLang="ru-RU" sz="2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Navigation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&lt;/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div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&gt; </a:t>
            </a:r>
            <a:endParaRPr kumimoji="0" lang="en-US" altLang="ru-RU" sz="2000" b="1" i="0" u="none" strike="noStrike" cap="none" normalizeH="0" baseline="0" dirty="0" smtClean="0">
              <a:ln>
                <a:noFill/>
              </a:ln>
              <a:solidFill>
                <a:srgbClr val="4169E1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&lt;/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div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&gt;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67664" y="2313425"/>
            <a:ext cx="10302820" cy="4001095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.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grid-container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&gt;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div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background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rgb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(241,101,41)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цвет заднего фона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border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1px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solid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 #000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сплошная граница размером 1 пиксель черного цвета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text-align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center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горизонтальное выравнивание текста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.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item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-a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grid-area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header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задаем имя элемента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background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red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!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important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цвет заднего фона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.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item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-b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grid-area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main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задаем имя элемента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background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yellow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!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important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цвет заднего фона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.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item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-c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grid-area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footer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задаем имя элемента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background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green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!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important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цвет заднего фона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.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item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-d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grid-area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nav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задаем имя элемента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endParaRPr kumimoji="0" lang="en-US" alt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Open San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background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violet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!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important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цвет заднего фона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62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0" y="29980"/>
            <a:ext cx="6706536" cy="6106377"/>
          </a:xfrm>
          <a:prstGeom prst="rect">
            <a:avLst/>
          </a:prstGeom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135318" y="0"/>
            <a:ext cx="4938853" cy="6647974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grid-container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grid-template-rows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200px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200px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grid-template-columns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1fr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1fr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1fr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.post-1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grid-row-start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grid-row-end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grid-column-start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grid-column-end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.post-2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grid-row-start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grid-column-start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.post-3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grid-row-start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2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grid-column-start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.post-4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grid-row-start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grid-column-start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.post-5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grid-row-start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grid-column-start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2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.post-6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grid-row-start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3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 smtClean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grid-column-start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ru-RU" altLang="ru-RU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ru-RU" altLang="ru-RU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58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CSS3 columns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303030"/>
                </a:solidFill>
              </a:rPr>
              <a:t>многоколоночный макет, который позволяет организовать содержимое так, чтобы оно занимало несколько вертикальных контейнеров, подобно газете или журналу. Колонки могут содержать заголовки, текст, таблицы, картинки и любые другие </a:t>
            </a:r>
            <a:r>
              <a:rPr lang="ru-RU" sz="2400" dirty="0" err="1">
                <a:solidFill>
                  <a:srgbClr val="303030"/>
                </a:solidFill>
              </a:rPr>
              <a:t>inline</a:t>
            </a:r>
            <a:r>
              <a:rPr lang="ru-RU" sz="2400" dirty="0">
                <a:solidFill>
                  <a:srgbClr val="303030"/>
                </a:solidFill>
              </a:rPr>
              <a:t>-элементы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991709" y="4030405"/>
            <a:ext cx="828740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303030"/>
                </a:solidFill>
              </a:rPr>
              <a:t>Количество и ширина колонок</a:t>
            </a:r>
          </a:p>
          <a:p>
            <a:r>
              <a:rPr lang="ru-RU" sz="2400" dirty="0">
                <a:solidFill>
                  <a:srgbClr val="303030"/>
                </a:solidFill>
              </a:rPr>
              <a:t> Ширина колонок: свойство </a:t>
            </a:r>
            <a:r>
              <a:rPr lang="ru-RU" sz="2400" b="1" dirty="0" err="1" smtClean="0">
                <a:solidFill>
                  <a:srgbClr val="303030"/>
                </a:solidFill>
              </a:rPr>
              <a:t>column-width</a:t>
            </a:r>
            <a:endParaRPr lang="ru-RU" sz="2400" b="1" dirty="0">
              <a:solidFill>
                <a:srgbClr val="303030"/>
              </a:solidFill>
            </a:endParaRPr>
          </a:p>
          <a:p>
            <a:r>
              <a:rPr lang="ru-RU" sz="2400" dirty="0">
                <a:solidFill>
                  <a:srgbClr val="303030"/>
                </a:solidFill>
              </a:rPr>
              <a:t> Количество колонок: свойство </a:t>
            </a:r>
            <a:r>
              <a:rPr lang="ru-RU" sz="2400" b="1" dirty="0" err="1">
                <a:solidFill>
                  <a:srgbClr val="303030"/>
                </a:solidFill>
              </a:rPr>
              <a:t>column-count</a:t>
            </a:r>
            <a:endParaRPr lang="ru-RU" sz="2400" b="1" dirty="0">
              <a:solidFill>
                <a:srgbClr val="303030"/>
              </a:solidFill>
            </a:endParaRPr>
          </a:p>
          <a:p>
            <a:r>
              <a:rPr lang="ru-RU" sz="2400" dirty="0">
                <a:solidFill>
                  <a:srgbClr val="303030"/>
                </a:solidFill>
              </a:rPr>
              <a:t> Установка колонок с помощью одного свойства </a:t>
            </a:r>
            <a:r>
              <a:rPr lang="ru-RU" sz="2400" b="1" dirty="0" err="1">
                <a:solidFill>
                  <a:srgbClr val="303030"/>
                </a:solidFill>
              </a:rPr>
              <a:t>columns</a:t>
            </a:r>
            <a:endParaRPr lang="ru-RU" sz="2400" b="1" dirty="0">
              <a:solidFill>
                <a:srgbClr val="30303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70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442" y="37626"/>
            <a:ext cx="6735115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54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039975" cy="1538883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.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container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{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-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webkit-columns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150px 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для поддержки ранних версий браузеров */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-</a:t>
            </a: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moz-columns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150px 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для поддержки ранних версий браузеров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columns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: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150px 3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;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/* указываем оптимальную ширину и количество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228B22"/>
                </a:solidFill>
                <a:effectLst/>
                <a:latin typeface="Open Sans"/>
              </a:rPr>
              <a:t>колонок на которое необходимо разбить элемент */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Open Sans"/>
              </a:rPr>
              <a:t>}</a:t>
            </a:r>
            <a:r>
              <a:rPr kumimoji="0" lang="ru-RU" alt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1538883"/>
            <a:ext cx="11934497" cy="2971243"/>
          </a:xfrm>
          <a:prstGeom prst="rect">
            <a:avLst/>
          </a:prstGeom>
          <a:solidFill>
            <a:srgbClr val="E8E8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0134" rIns="0" bIns="13013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&lt;</a:t>
            </a:r>
            <a:r>
              <a:rPr kumimoji="0" lang="ru-RU" altLang="ru-RU" sz="1600" b="1" i="0" u="none" strike="noStrike" cap="none" normalizeH="0" baseline="0" dirty="0" err="1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div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kumimoji="0" lang="ru-RU" altLang="ru-RU" sz="1600" b="1" i="0" u="none" strike="noStrike" cap="none" normalizeH="0" baseline="0" dirty="0" err="1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class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B22222"/>
                </a:solidFill>
                <a:effectLst/>
                <a:latin typeface="Open Sans"/>
              </a:rPr>
              <a:t> = 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"</a:t>
            </a:r>
            <a:r>
              <a:rPr kumimoji="0" lang="ru-RU" altLang="ru-RU" sz="1600" b="1" i="0" u="none" strike="noStrike" cap="none" normalizeH="0" baseline="0" dirty="0" err="1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container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6A5ACD"/>
                </a:solidFill>
                <a:effectLst/>
                <a:latin typeface="Open Sans"/>
              </a:rPr>
              <a:t>"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&gt;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Этот гигантский грызун представляет собой жирного зверька с продолговатым телом, покрытым жёсткой лохматой шерстью пёстрой коричневой расцветки. Передние лапы у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капибары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длиннее задних, массивный огузок не имеет хвоста, и поэтому у неё всегда такой вид, будто она вот-вот собирается сесть. У неё крупные лапы с широкими перепончатыми пальцами, а когти на передних лапах, короткие и тупые, удивительно напоминают миниатюрные копыта. Вид у неё весьма аристократический: её плоская широкая голова и тупая, почти квадратная морда имеют благодушно-покровительственное выражение, придающее ей сходство с задумчивым львом. По земле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капибара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передвигается характерной шаркающей походкой или скачет вразвалку галопом, в воде же плавает и ныряет с поразительной лёгкостью и проворством. </a:t>
            </a:r>
            <a:r>
              <a:rPr kumimoji="0" lang="ru-RU" altLang="ru-RU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Капибара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Open Sans"/>
              </a:rPr>
              <a:t> — флегматичный добродушный вегетарианец, лишённый ярких индивидуальных черт, присущих некоторым его сородичам, но этот недостаток восполняется у неё спокойным и дружелюбным нравом.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&lt;/</a:t>
            </a:r>
            <a:r>
              <a:rPr kumimoji="0" lang="ru-RU" altLang="ru-RU" sz="1600" b="1" i="0" u="none" strike="noStrike" cap="none" normalizeH="0" baseline="0" dirty="0" err="1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div</a:t>
            </a:r>
            <a:r>
              <a:rPr kumimoji="0" lang="ru-RU" altLang="ru-RU" sz="1600" b="1" i="0" u="none" strike="noStrike" cap="none" normalizeH="0" baseline="0" dirty="0" smtClean="0">
                <a:ln>
                  <a:noFill/>
                </a:ln>
                <a:solidFill>
                  <a:srgbClr val="4169E1"/>
                </a:solidFill>
                <a:effectLst/>
                <a:latin typeface="Open Sans"/>
              </a:rPr>
              <a:t>&gt;</a:t>
            </a:r>
            <a:r>
              <a:rPr kumimoji="0" lang="ru-RU" alt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72" y="4467638"/>
            <a:ext cx="11948336" cy="193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7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059633"/>
              </p:ext>
            </p:extLst>
          </p:nvPr>
        </p:nvGraphicFramePr>
        <p:xfrm>
          <a:off x="74950" y="134910"/>
          <a:ext cx="11992132" cy="614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517"/>
                <a:gridCol w="9337615"/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alt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</a:t>
                      </a:r>
                      <a:r>
                        <a:rPr kumimoji="0" lang="ru-RU" altLang="ru-RU" sz="18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column-gap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</a:rPr>
                        <a:t>разрыв между колонками. Если для колонок установлена разделительная линия с помощью свойства </a:t>
                      </a:r>
                      <a:r>
                        <a:rPr kumimoji="0" lang="ru-RU" altLang="ru-RU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column-rule</a:t>
                      </a: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</a:rPr>
                        <a:t>, то эта линия будет расположена посередине промежутка, а ее ширина не изменит общую ширину.</a:t>
                      </a:r>
                      <a:r>
                        <a:rPr kumimoji="0" lang="ru-RU" alt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altLang="ru-RU" sz="18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column-rule-color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цвет разделительной линии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altLang="ru-RU" sz="18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column-rule-style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alt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стиль разделительной линии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column-rule-width</a:t>
                      </a:r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ширина разделительной линии. Отрицательные значения не допускаются. Не работает без свойства </a:t>
                      </a:r>
                      <a:r>
                        <a:rPr kumimoji="0" lang="ru-RU" sz="18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column-rule-style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column-rule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сокращенная запись свойств </a:t>
                      </a:r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column-rule-width column-rule-style column-rule-color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break-before, break-after </a:t>
                      </a:r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и </a:t>
                      </a:r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break-inside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разрывы колонок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column-span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охватывать несколько столбцов (</a:t>
                      </a:r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none, all – </a:t>
                      </a:r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все колонки). Указывается не для блока-контейнера, а для </a:t>
                      </a:r>
                      <a:r>
                        <a:rPr kumimoji="0" lang="ru-RU" sz="18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для</a:t>
                      </a:r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 конкретного элемента внутри, например, для заголовка.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column-fill</a:t>
                      </a:r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 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 контролирует заполнение колонок содержимым. Существует две стратегии заполнения колонок: колонки могут быть выровнены по высоте (</a:t>
                      </a:r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balance</a:t>
                      </a:r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balance-all</a:t>
                      </a:r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overflow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303030"/>
                          </a:solidFill>
                          <a:effectLst/>
                          <a:latin typeface="Trebuchet MS" panose="020B0603020202020204" pitchFamily="34" charset="0"/>
                          <a:ea typeface="+mn-ea"/>
                          <a:cs typeface="+mn-cs"/>
                        </a:rPr>
                        <a:t>содержимое и разделительные линии, которые выходят за рамки колонок по краям многоколоночного контейнера</a:t>
                      </a:r>
                      <a:endParaRPr kumimoji="0" lang="ru-RU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303030"/>
                        </a:solidFill>
                        <a:effectLst/>
                        <a:latin typeface="Trebuchet MS" panose="020B060302020202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96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" y="286603"/>
            <a:ext cx="11795760" cy="132883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Flexbox</a:t>
            </a:r>
            <a:r>
              <a:rPr lang="ru-RU" dirty="0" smtClean="0"/>
              <a:t> </a:t>
            </a:r>
            <a:r>
              <a:rPr lang="ru-RU" dirty="0"/>
              <a:t>— состоит из гибкого контейнера (</a:t>
            </a:r>
            <a:r>
              <a:rPr lang="ru-RU" dirty="0" err="1"/>
              <a:t>flex</a:t>
            </a:r>
            <a:r>
              <a:rPr lang="ru-RU" dirty="0"/>
              <a:t> </a:t>
            </a:r>
            <a:r>
              <a:rPr lang="ru-RU" dirty="0" err="1"/>
              <a:t>container</a:t>
            </a:r>
            <a:r>
              <a:rPr lang="ru-RU" dirty="0"/>
              <a:t>) и гибких элементов (</a:t>
            </a:r>
            <a:r>
              <a:rPr lang="ru-RU" dirty="0" err="1"/>
              <a:t>flex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" y="1784773"/>
            <a:ext cx="12085320" cy="403632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3200" dirty="0"/>
              <a:t>вертикальное выравнивание блока внутри родительского элемента.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/>
              <a:t>размещение колонок макета одинаковой высоты независимо от наполнения их содержимым.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/>
              <a:t>расположение дочерних элементов контейнера в необходимом </a:t>
            </a:r>
            <a:r>
              <a:rPr lang="ru-RU" sz="3200" dirty="0" smtClean="0"/>
              <a:t>направлении</a:t>
            </a:r>
            <a:r>
              <a:rPr lang="ru-RU" sz="3200" dirty="0"/>
              <a:t>, распределяя </a:t>
            </a:r>
            <a:r>
              <a:rPr lang="en-US" sz="3200" dirty="0" smtClean="0"/>
              <a:t> </a:t>
            </a:r>
            <a:r>
              <a:rPr lang="ru-RU" sz="3200" dirty="0" smtClean="0"/>
              <a:t>доступную ширину</a:t>
            </a:r>
            <a:r>
              <a:rPr lang="en-US" sz="3200" dirty="0" smtClean="0"/>
              <a:t> (</a:t>
            </a:r>
            <a:r>
              <a:rPr lang="ru-RU" sz="3200" dirty="0" smtClean="0"/>
              <a:t>высоту</a:t>
            </a:r>
            <a:r>
              <a:rPr lang="en-US" sz="3200" dirty="0" smtClean="0"/>
              <a:t>)</a:t>
            </a:r>
            <a:r>
              <a:rPr lang="ru-RU" sz="3200" dirty="0" smtClean="0"/>
              <a:t>, </a:t>
            </a:r>
            <a:r>
              <a:rPr lang="ru-RU" sz="3200" dirty="0"/>
              <a:t>не вызывая при этом переполнения родительского элемента.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3200" dirty="0"/>
              <a:t>изменять порядок элементов независимо от порядка в </a:t>
            </a:r>
            <a:r>
              <a:rPr lang="ru-RU" sz="3200" i="1" dirty="0"/>
              <a:t>DOM</a:t>
            </a:r>
            <a:r>
              <a:rPr lang="ru-RU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499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44880" y="464761"/>
            <a:ext cx="5692264" cy="4739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rgbClr val="252525"/>
                </a:solidFill>
                <a:effectLst/>
                <a:latin typeface="Trebuchet MS" panose="020B0603020202020204" pitchFamily="34" charset="0"/>
              </a:rPr>
              <a:t>Поддержка браузерами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800" b="0" i="0" u="none" strike="noStrike" cap="none" normalizeH="0" baseline="0" dirty="0" smtClean="0">
              <a:ln>
                <a:noFill/>
              </a:ln>
              <a:solidFill>
                <a:srgbClr val="252525"/>
              </a:solidFill>
              <a:effectLst/>
              <a:latin typeface="Trebuchet MS" panose="020B0603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IE: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11.0, 10.0 -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Firefox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28.0, 18.0 -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moz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Chrome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29.0, 21.0 -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webkit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Safari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6.1 -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webkit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12.1 -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webkit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iOS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Safari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7.0 -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webkit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8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4.4, 4.1 -</a:t>
            </a:r>
            <a:r>
              <a:rPr kumimoji="0" lang="ru-RU" altLang="ru-RU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webkit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b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Chrome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Android</a:t>
            </a:r>
            <a:r>
              <a:rPr kumimoji="0" lang="ru-RU" alt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ru-RU" altLang="ru-RU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44</a:t>
            </a:r>
          </a:p>
        </p:txBody>
      </p:sp>
    </p:spTree>
    <p:extLst>
      <p:ext uri="{BB962C8B-B14F-4D97-AF65-F5344CB8AC3E}">
        <p14:creationId xmlns:p14="http://schemas.microsoft.com/office/powerpoint/2010/main" val="271123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13360" y="151120"/>
            <a:ext cx="1170432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 smtClean="0">
                <a:solidFill>
                  <a:srgbClr val="000000"/>
                </a:solidFill>
              </a:rPr>
              <a:t>Флекс</a:t>
            </a:r>
            <a:r>
              <a:rPr lang="ru-RU" sz="2800" dirty="0" smtClean="0">
                <a:solidFill>
                  <a:srgbClr val="000000"/>
                </a:solidFill>
              </a:rPr>
              <a:t>-контейнер – любой </a:t>
            </a:r>
            <a:r>
              <a:rPr lang="ru-RU" sz="2800" dirty="0">
                <a:solidFill>
                  <a:srgbClr val="000000"/>
                </a:solidFill>
              </a:rPr>
              <a:t>семантически осмысленный элемент. </a:t>
            </a:r>
            <a:endParaRPr lang="ru-RU" sz="2800" dirty="0" smtClean="0">
              <a:solidFill>
                <a:srgbClr val="000000"/>
              </a:solidFill>
            </a:endParaRPr>
          </a:p>
          <a:p>
            <a:pPr algn="just"/>
            <a:endParaRPr lang="ru-RU" sz="2800" dirty="0">
              <a:solidFill>
                <a:srgbClr val="000000"/>
              </a:solidFill>
            </a:endParaRPr>
          </a:p>
          <a:p>
            <a:pPr algn="just"/>
            <a:r>
              <a:rPr lang="ru-RU" sz="2800" dirty="0" err="1" smtClean="0">
                <a:solidFill>
                  <a:srgbClr val="000000"/>
                </a:solidFill>
              </a:rPr>
              <a:t>section</a:t>
            </a:r>
            <a:r>
              <a:rPr lang="ru-RU" sz="2800" dirty="0" smtClean="0">
                <a:solidFill>
                  <a:srgbClr val="000000"/>
                </a:solidFill>
              </a:rPr>
              <a:t> </a:t>
            </a:r>
            <a:r>
              <a:rPr lang="ru-RU" sz="2800" dirty="0">
                <a:solidFill>
                  <a:srgbClr val="000000"/>
                </a:solidFill>
              </a:rPr>
              <a:t>{</a:t>
            </a:r>
          </a:p>
          <a:p>
            <a:pPr algn="just"/>
            <a:r>
              <a:rPr lang="ru-RU" sz="2800" dirty="0">
                <a:solidFill>
                  <a:srgbClr val="000000"/>
                </a:solidFill>
              </a:rPr>
              <a:t>	</a:t>
            </a:r>
            <a:r>
              <a:rPr lang="ru-RU" sz="2800" dirty="0" err="1">
                <a:solidFill>
                  <a:srgbClr val="C00000"/>
                </a:solidFill>
              </a:rPr>
              <a:t>display</a:t>
            </a:r>
            <a:r>
              <a:rPr lang="ru-RU" sz="2800" dirty="0">
                <a:solidFill>
                  <a:srgbClr val="C00000"/>
                </a:solidFill>
              </a:rPr>
              <a:t>: </a:t>
            </a:r>
            <a:r>
              <a:rPr lang="ru-RU" sz="2800" dirty="0" err="1">
                <a:solidFill>
                  <a:srgbClr val="C00000"/>
                </a:solidFill>
              </a:rPr>
              <a:t>flex</a:t>
            </a:r>
            <a:r>
              <a:rPr lang="ru-RU" sz="2800" dirty="0">
                <a:solidFill>
                  <a:srgbClr val="000000"/>
                </a:solidFill>
              </a:rPr>
              <a:t>; // элемент отображается как блочный </a:t>
            </a:r>
            <a:r>
              <a:rPr lang="ru-RU" sz="2800" dirty="0" err="1">
                <a:solidFill>
                  <a:srgbClr val="000000"/>
                </a:solidFill>
              </a:rPr>
              <a:t>флекс</a:t>
            </a:r>
            <a:r>
              <a:rPr lang="ru-RU" sz="2800" dirty="0">
                <a:solidFill>
                  <a:srgbClr val="000000"/>
                </a:solidFill>
              </a:rPr>
              <a:t> контейнер</a:t>
            </a:r>
          </a:p>
          <a:p>
            <a:pPr algn="just"/>
            <a:r>
              <a:rPr lang="ru-RU" sz="2800" dirty="0" smtClean="0">
                <a:solidFill>
                  <a:srgbClr val="000000"/>
                </a:solidFill>
              </a:rPr>
              <a:t>}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.flex-container {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/*</a:t>
            </a:r>
            <a:r>
              <a:rPr lang="ru-RU" sz="2800" dirty="0">
                <a:solidFill>
                  <a:srgbClr val="000000"/>
                </a:solidFill>
              </a:rPr>
              <a:t>генерирует </a:t>
            </a:r>
            <a:r>
              <a:rPr lang="en-US" sz="2800" dirty="0">
                <a:solidFill>
                  <a:srgbClr val="000000"/>
                </a:solidFill>
              </a:rPr>
              <a:t>flex-</a:t>
            </a:r>
            <a:r>
              <a:rPr lang="ru-RU" sz="2800" dirty="0">
                <a:solidFill>
                  <a:srgbClr val="000000"/>
                </a:solidFill>
              </a:rPr>
              <a:t>контейнер уровня блока*/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display: -</a:t>
            </a:r>
            <a:r>
              <a:rPr lang="en-US" sz="2800" dirty="0" err="1">
                <a:solidFill>
                  <a:srgbClr val="000000"/>
                </a:solidFill>
              </a:rPr>
              <a:t>webkit</a:t>
            </a:r>
            <a:r>
              <a:rPr lang="en-US" sz="2800" dirty="0">
                <a:solidFill>
                  <a:srgbClr val="000000"/>
                </a:solidFill>
              </a:rPr>
              <a:t>-flex; </a:t>
            </a:r>
          </a:p>
          <a:p>
            <a:pPr algn="just"/>
            <a:r>
              <a:rPr lang="en-US" sz="2800" dirty="0">
                <a:solidFill>
                  <a:srgbClr val="C00000"/>
                </a:solidFill>
              </a:rPr>
              <a:t>display: flex; 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}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.flex-container {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/*</a:t>
            </a:r>
            <a:r>
              <a:rPr lang="ru-RU" sz="2800" dirty="0">
                <a:solidFill>
                  <a:srgbClr val="000000"/>
                </a:solidFill>
              </a:rPr>
              <a:t>генерирует </a:t>
            </a:r>
            <a:r>
              <a:rPr lang="en-US" sz="2800" dirty="0">
                <a:solidFill>
                  <a:srgbClr val="000000"/>
                </a:solidFill>
              </a:rPr>
              <a:t>flex-</a:t>
            </a:r>
            <a:r>
              <a:rPr lang="ru-RU" sz="2800" dirty="0">
                <a:solidFill>
                  <a:srgbClr val="000000"/>
                </a:solidFill>
              </a:rPr>
              <a:t>контейнер уровня строки*/</a:t>
            </a:r>
          </a:p>
          <a:p>
            <a:pPr algn="just"/>
            <a:r>
              <a:rPr lang="ru-RU" sz="2800" dirty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display: -</a:t>
            </a:r>
            <a:r>
              <a:rPr lang="en-US" sz="2800" dirty="0" err="1">
                <a:solidFill>
                  <a:srgbClr val="000000"/>
                </a:solidFill>
              </a:rPr>
              <a:t>webkit</a:t>
            </a:r>
            <a:r>
              <a:rPr lang="en-US" sz="2800" dirty="0">
                <a:solidFill>
                  <a:srgbClr val="000000"/>
                </a:solidFill>
              </a:rPr>
              <a:t>-inline-flex;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C00000"/>
                </a:solidFill>
              </a:rPr>
              <a:t>display: inline-flex; </a:t>
            </a:r>
          </a:p>
          <a:p>
            <a:pPr algn="just"/>
            <a:r>
              <a:rPr lang="en-US" sz="2800" dirty="0">
                <a:solidFill>
                  <a:srgbClr val="000000"/>
                </a:solidFill>
              </a:rPr>
              <a:t>}</a:t>
            </a:r>
            <a:endParaRPr lang="ru-RU" sz="28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11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04800" y="390436"/>
            <a:ext cx="116738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solidFill>
                  <a:srgbClr val="000000"/>
                </a:solidFill>
              </a:rPr>
              <a:t>все </a:t>
            </a:r>
            <a:r>
              <a:rPr lang="ru-RU" sz="2800" b="1" dirty="0">
                <a:solidFill>
                  <a:srgbClr val="000000"/>
                </a:solidFill>
              </a:rPr>
              <a:t>дочерние элементы</a:t>
            </a:r>
            <a:r>
              <a:rPr lang="ru-RU" sz="2800" dirty="0">
                <a:solidFill>
                  <a:srgbClr val="000000"/>
                </a:solidFill>
              </a:rPr>
              <a:t> этого контейнера автоматически </a:t>
            </a:r>
            <a:r>
              <a:rPr lang="ru-RU" sz="2800" dirty="0" err="1">
                <a:solidFill>
                  <a:srgbClr val="000000"/>
                </a:solidFill>
              </a:rPr>
              <a:t>флекс</a:t>
            </a:r>
            <a:r>
              <a:rPr lang="ru-RU" sz="2800" dirty="0">
                <a:solidFill>
                  <a:srgbClr val="000000"/>
                </a:solidFill>
              </a:rPr>
              <a:t> элементы</a:t>
            </a:r>
          </a:p>
          <a:p>
            <a:pPr algn="just"/>
            <a:r>
              <a:rPr lang="ru-RU" sz="2800" dirty="0">
                <a:solidFill>
                  <a:srgbClr val="000000"/>
                </a:solidFill>
              </a:rPr>
              <a:t>элементы, вложенные уже в дочерние элементы </a:t>
            </a:r>
            <a:r>
              <a:rPr lang="ru-RU" sz="2800" b="1" dirty="0">
                <a:solidFill>
                  <a:srgbClr val="000000"/>
                </a:solidFill>
              </a:rPr>
              <a:t>не будут являться </a:t>
            </a:r>
            <a:r>
              <a:rPr lang="ru-RU" sz="2800" b="1" dirty="0" err="1">
                <a:solidFill>
                  <a:srgbClr val="000000"/>
                </a:solidFill>
              </a:rPr>
              <a:t>флекс</a:t>
            </a:r>
            <a:r>
              <a:rPr lang="ru-RU" sz="2800" b="1" dirty="0">
                <a:solidFill>
                  <a:srgbClr val="000000"/>
                </a:solidFill>
              </a:rPr>
              <a:t> элементами</a:t>
            </a:r>
            <a:r>
              <a:rPr lang="ru-RU" sz="2800" dirty="0">
                <a:solidFill>
                  <a:srgbClr val="000000"/>
                </a:solidFill>
              </a:rPr>
              <a:t> по умолчанию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670560" y="2315200"/>
            <a:ext cx="112014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&lt;section&gt; &lt;!-- </a:t>
            </a:r>
            <a:r>
              <a:rPr lang="ru-RU" sz="2400" dirty="0" err="1">
                <a:solidFill>
                  <a:schemeClr val="accent1"/>
                </a:solidFill>
              </a:rPr>
              <a:t>флекс</a:t>
            </a:r>
            <a:r>
              <a:rPr lang="ru-RU" sz="2400" dirty="0">
                <a:solidFill>
                  <a:schemeClr val="accent1"/>
                </a:solidFill>
              </a:rPr>
              <a:t> контейнер </a:t>
            </a:r>
            <a:r>
              <a:rPr lang="ru-RU" sz="2400" dirty="0"/>
              <a:t>--&gt;</a:t>
            </a:r>
          </a:p>
          <a:p>
            <a:r>
              <a:rPr lang="ru-RU" sz="2400" dirty="0"/>
              <a:t>	&lt;</a:t>
            </a:r>
            <a:r>
              <a:rPr lang="en-US" sz="2400" dirty="0"/>
              <a:t>div&gt;&lt;/div&gt; &lt;!-- </a:t>
            </a:r>
            <a:r>
              <a:rPr lang="ru-RU" sz="2400" dirty="0">
                <a:solidFill>
                  <a:schemeClr val="accent1"/>
                </a:solidFill>
              </a:rPr>
              <a:t>дочерний </a:t>
            </a:r>
            <a:r>
              <a:rPr lang="ru-RU" sz="2400" dirty="0" err="1">
                <a:solidFill>
                  <a:schemeClr val="accent1"/>
                </a:solidFill>
              </a:rPr>
              <a:t>флекс</a:t>
            </a:r>
            <a:r>
              <a:rPr lang="ru-RU" sz="2400" dirty="0">
                <a:solidFill>
                  <a:schemeClr val="accent1"/>
                </a:solidFill>
              </a:rPr>
              <a:t> элемент </a:t>
            </a:r>
            <a:r>
              <a:rPr lang="ru-RU" sz="2400" dirty="0"/>
              <a:t>--&gt;</a:t>
            </a:r>
          </a:p>
          <a:p>
            <a:r>
              <a:rPr lang="ru-RU" sz="2400" dirty="0"/>
              <a:t>	&lt;</a:t>
            </a:r>
            <a:r>
              <a:rPr lang="en-US" sz="2400" dirty="0"/>
              <a:t>div&gt;&lt;/div&gt; &lt;!-- </a:t>
            </a:r>
            <a:r>
              <a:rPr lang="ru-RU" sz="2400" dirty="0">
                <a:solidFill>
                  <a:schemeClr val="accent1"/>
                </a:solidFill>
              </a:rPr>
              <a:t>дочерний </a:t>
            </a:r>
            <a:r>
              <a:rPr lang="ru-RU" sz="2400" dirty="0" err="1">
                <a:solidFill>
                  <a:schemeClr val="accent1"/>
                </a:solidFill>
              </a:rPr>
              <a:t>флекс</a:t>
            </a:r>
            <a:r>
              <a:rPr lang="ru-RU" sz="2400" dirty="0">
                <a:solidFill>
                  <a:schemeClr val="accent1"/>
                </a:solidFill>
              </a:rPr>
              <a:t> элемент </a:t>
            </a:r>
            <a:r>
              <a:rPr lang="ru-RU" sz="2400" dirty="0"/>
              <a:t>--&gt;</a:t>
            </a:r>
          </a:p>
          <a:p>
            <a:r>
              <a:rPr lang="ru-RU" sz="2400" dirty="0"/>
              <a:t>	&lt;</a:t>
            </a:r>
            <a:r>
              <a:rPr lang="en-US" sz="2400" dirty="0"/>
              <a:t>div&gt; &lt;!-- </a:t>
            </a:r>
            <a:r>
              <a:rPr lang="ru-RU" sz="2400" dirty="0">
                <a:solidFill>
                  <a:schemeClr val="accent1"/>
                </a:solidFill>
              </a:rPr>
              <a:t>дочерний </a:t>
            </a:r>
            <a:r>
              <a:rPr lang="ru-RU" sz="2400" dirty="0" err="1">
                <a:solidFill>
                  <a:schemeClr val="accent1"/>
                </a:solidFill>
              </a:rPr>
              <a:t>флекс</a:t>
            </a:r>
            <a:r>
              <a:rPr lang="ru-RU" sz="2400" dirty="0">
                <a:solidFill>
                  <a:schemeClr val="accent1"/>
                </a:solidFill>
              </a:rPr>
              <a:t> элемент </a:t>
            </a:r>
            <a:r>
              <a:rPr lang="ru-RU" sz="2400" dirty="0"/>
              <a:t>--&gt;</a:t>
            </a:r>
          </a:p>
          <a:p>
            <a:r>
              <a:rPr lang="ru-RU" sz="2400" dirty="0"/>
              <a:t>		&lt;</a:t>
            </a:r>
            <a:r>
              <a:rPr lang="en-US" sz="2400" dirty="0"/>
              <a:t>p&gt;</a:t>
            </a:r>
            <a:r>
              <a:rPr lang="ru-RU" sz="2400" dirty="0"/>
              <a:t>Первый абзац&lt;/</a:t>
            </a:r>
            <a:r>
              <a:rPr lang="en-US" sz="2400" dirty="0"/>
              <a:t>p&gt; &lt;!-- </a:t>
            </a:r>
            <a:r>
              <a:rPr lang="ru-RU" sz="2400" dirty="0">
                <a:solidFill>
                  <a:schemeClr val="accent1"/>
                </a:solidFill>
              </a:rPr>
              <a:t>не является </a:t>
            </a:r>
            <a:r>
              <a:rPr lang="ru-RU" sz="2400" dirty="0" err="1">
                <a:solidFill>
                  <a:schemeClr val="accent1"/>
                </a:solidFill>
              </a:rPr>
              <a:t>флекс</a:t>
            </a:r>
            <a:r>
              <a:rPr lang="ru-RU" sz="2400" dirty="0">
                <a:solidFill>
                  <a:schemeClr val="accent1"/>
                </a:solidFill>
              </a:rPr>
              <a:t> элементом </a:t>
            </a:r>
            <a:r>
              <a:rPr lang="ru-RU" sz="2400" dirty="0"/>
              <a:t>--&gt;</a:t>
            </a:r>
          </a:p>
          <a:p>
            <a:r>
              <a:rPr lang="ru-RU" sz="2400" dirty="0"/>
              <a:t>		&lt;</a:t>
            </a:r>
            <a:r>
              <a:rPr lang="en-US" sz="2400" dirty="0"/>
              <a:t>p&gt;</a:t>
            </a:r>
            <a:r>
              <a:rPr lang="ru-RU" sz="2400" dirty="0"/>
              <a:t>Второй абзац&lt;/</a:t>
            </a:r>
            <a:r>
              <a:rPr lang="en-US" sz="2400" dirty="0"/>
              <a:t>p&gt; &lt;!-- </a:t>
            </a:r>
            <a:r>
              <a:rPr lang="ru-RU" sz="2400" dirty="0">
                <a:solidFill>
                  <a:schemeClr val="accent1"/>
                </a:solidFill>
              </a:rPr>
              <a:t>не является </a:t>
            </a:r>
            <a:r>
              <a:rPr lang="ru-RU" sz="2400" dirty="0" err="1">
                <a:solidFill>
                  <a:schemeClr val="accent1"/>
                </a:solidFill>
              </a:rPr>
              <a:t>флекс</a:t>
            </a:r>
            <a:r>
              <a:rPr lang="ru-RU" sz="2400" dirty="0">
                <a:solidFill>
                  <a:schemeClr val="accent1"/>
                </a:solidFill>
              </a:rPr>
              <a:t> элементом </a:t>
            </a:r>
            <a:r>
              <a:rPr lang="ru-RU" sz="2400" dirty="0"/>
              <a:t>--&gt;</a:t>
            </a:r>
          </a:p>
          <a:p>
            <a:r>
              <a:rPr lang="ru-RU" sz="2400" dirty="0"/>
              <a:t>		&lt;</a:t>
            </a:r>
            <a:r>
              <a:rPr lang="en-US" sz="2400" dirty="0"/>
              <a:t>p&gt;</a:t>
            </a:r>
            <a:r>
              <a:rPr lang="ru-RU" sz="2400" dirty="0"/>
              <a:t>Третий абзац&lt;/</a:t>
            </a:r>
            <a:r>
              <a:rPr lang="en-US" sz="2400" dirty="0"/>
              <a:t>p&gt; &lt;!-- </a:t>
            </a:r>
            <a:r>
              <a:rPr lang="ru-RU" sz="2400" dirty="0">
                <a:solidFill>
                  <a:schemeClr val="accent1"/>
                </a:solidFill>
              </a:rPr>
              <a:t>не является </a:t>
            </a:r>
            <a:r>
              <a:rPr lang="ru-RU" sz="2400" dirty="0" err="1">
                <a:solidFill>
                  <a:schemeClr val="accent1"/>
                </a:solidFill>
              </a:rPr>
              <a:t>флекс</a:t>
            </a:r>
            <a:r>
              <a:rPr lang="ru-RU" sz="2400" dirty="0">
                <a:solidFill>
                  <a:schemeClr val="accent1"/>
                </a:solidFill>
              </a:rPr>
              <a:t> элементом </a:t>
            </a:r>
            <a:r>
              <a:rPr lang="ru-RU" sz="2400" dirty="0"/>
              <a:t>--&gt;</a:t>
            </a:r>
          </a:p>
          <a:p>
            <a:r>
              <a:rPr lang="ru-RU" sz="2400" dirty="0"/>
              <a:t>	&lt;/</a:t>
            </a:r>
            <a:r>
              <a:rPr lang="en-US" sz="2400" dirty="0"/>
              <a:t>div&gt;</a:t>
            </a:r>
          </a:p>
          <a:p>
            <a:r>
              <a:rPr lang="en-US" sz="2400" dirty="0"/>
              <a:t>&lt;/section&gt;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3917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39" y="944880"/>
            <a:ext cx="11830721" cy="496823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257513" y="318254"/>
            <a:ext cx="32599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cap="all" dirty="0">
                <a:latin typeface="+mj-lt"/>
              </a:rPr>
              <a:t>МОДЕЛЬ </a:t>
            </a:r>
            <a:r>
              <a:rPr lang="en-US" sz="3200" b="1" cap="all" dirty="0">
                <a:latin typeface="+mj-lt"/>
              </a:rPr>
              <a:t>FLEXBOX</a:t>
            </a:r>
            <a:endParaRPr lang="ru-RU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011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57513" y="318254"/>
            <a:ext cx="50850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cap="all" dirty="0" smtClean="0">
                <a:latin typeface="+mj-lt"/>
              </a:rPr>
              <a:t>РЕЖИМ СТРОКИ И КОЛОНКИ</a:t>
            </a:r>
            <a:endParaRPr lang="ru-RU" sz="3200" b="1" dirty="0">
              <a:latin typeface="+mj-lt"/>
            </a:endParaRP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811695"/>
            <a:ext cx="9631680" cy="551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11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89559" y="281077"/>
            <a:ext cx="1158893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 </a:t>
            </a:r>
            <a:r>
              <a:rPr lang="ru-RU" sz="2800" dirty="0" err="1"/>
              <a:t>Flex</a:t>
            </a:r>
            <a:r>
              <a:rPr lang="ru-RU" sz="2800" dirty="0"/>
              <a:t>-контейнер не является блочным контейнером, поэтому для дочерних элементов не работают такие CSS-свойства, как </a:t>
            </a:r>
            <a:r>
              <a:rPr lang="ru-RU" sz="2800" dirty="0" err="1">
                <a:solidFill>
                  <a:srgbClr val="C00000"/>
                </a:solidFill>
              </a:rPr>
              <a:t>float</a:t>
            </a:r>
            <a:r>
              <a:rPr lang="ru-RU" sz="2800" dirty="0">
                <a:solidFill>
                  <a:srgbClr val="C00000"/>
                </a:solidFill>
              </a:rPr>
              <a:t>, </a:t>
            </a:r>
            <a:r>
              <a:rPr lang="ru-RU" sz="2800" dirty="0" err="1">
                <a:solidFill>
                  <a:srgbClr val="C00000"/>
                </a:solidFill>
              </a:rPr>
              <a:t>clear</a:t>
            </a:r>
            <a:r>
              <a:rPr lang="ru-RU" sz="2800" dirty="0">
                <a:solidFill>
                  <a:srgbClr val="C00000"/>
                </a:solidFill>
              </a:rPr>
              <a:t>, </a:t>
            </a:r>
            <a:r>
              <a:rPr lang="ru-RU" sz="2800" dirty="0" err="1">
                <a:solidFill>
                  <a:srgbClr val="C00000"/>
                </a:solidFill>
              </a:rPr>
              <a:t>vertical-align</a:t>
            </a:r>
            <a:r>
              <a:rPr lang="ru-RU" sz="2800" dirty="0"/>
              <a:t>. Также, на </a:t>
            </a:r>
            <a:r>
              <a:rPr lang="ru-RU" sz="2800" dirty="0" err="1"/>
              <a:t>flex</a:t>
            </a:r>
            <a:r>
              <a:rPr lang="ru-RU" sz="2800" dirty="0"/>
              <a:t>-контейнер не оказывают влияние свойства </a:t>
            </a:r>
            <a:r>
              <a:rPr lang="ru-RU" sz="2800" dirty="0" err="1">
                <a:solidFill>
                  <a:srgbClr val="C00000"/>
                </a:solidFill>
              </a:rPr>
              <a:t>column</a:t>
            </a:r>
            <a:r>
              <a:rPr lang="ru-RU" sz="2800" dirty="0">
                <a:solidFill>
                  <a:srgbClr val="C00000"/>
                </a:solidFill>
              </a:rPr>
              <a:t>-*, </a:t>
            </a:r>
            <a:r>
              <a:rPr lang="ru-RU" sz="2800" dirty="0"/>
              <a:t>создающие колонки в тексте и </a:t>
            </a:r>
            <a:r>
              <a:rPr lang="ru-RU" sz="2800" dirty="0" err="1"/>
              <a:t>псевдоэлементы</a:t>
            </a:r>
            <a:r>
              <a:rPr lang="ru-RU" sz="2800" dirty="0"/>
              <a:t> </a:t>
            </a:r>
            <a:r>
              <a:rPr lang="ru-RU" sz="2800" dirty="0">
                <a:solidFill>
                  <a:srgbClr val="C00000"/>
                </a:solidFill>
              </a:rPr>
              <a:t>::</a:t>
            </a:r>
            <a:r>
              <a:rPr lang="ru-RU" sz="2800" dirty="0" err="1">
                <a:solidFill>
                  <a:srgbClr val="C00000"/>
                </a:solidFill>
              </a:rPr>
              <a:t>first-line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dirty="0"/>
              <a:t>и </a:t>
            </a:r>
            <a:r>
              <a:rPr lang="ru-RU" sz="2800" dirty="0">
                <a:solidFill>
                  <a:srgbClr val="C00000"/>
                </a:solidFill>
              </a:rPr>
              <a:t>::</a:t>
            </a:r>
            <a:r>
              <a:rPr lang="ru-RU" sz="2800" dirty="0" err="1">
                <a:solidFill>
                  <a:srgbClr val="C00000"/>
                </a:solidFill>
              </a:rPr>
              <a:t>first-letter</a:t>
            </a:r>
            <a:r>
              <a:rPr lang="ru-RU" sz="2800" dirty="0"/>
              <a:t>. Поля </a:t>
            </a:r>
            <a:r>
              <a:rPr lang="ru-RU" sz="2800" dirty="0" err="1">
                <a:solidFill>
                  <a:srgbClr val="C00000"/>
                </a:solidFill>
              </a:rPr>
              <a:t>margin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dirty="0"/>
              <a:t>соседних </a:t>
            </a:r>
            <a:r>
              <a:rPr lang="ru-RU" sz="2800" dirty="0" err="1"/>
              <a:t>flex</a:t>
            </a:r>
            <a:r>
              <a:rPr lang="ru-RU" sz="2800" dirty="0"/>
              <a:t>-элементов не </a:t>
            </a:r>
            <a:r>
              <a:rPr lang="ru-RU" sz="2800" dirty="0" err="1"/>
              <a:t>схлопываются</a:t>
            </a:r>
            <a:r>
              <a:rPr lang="ru-RU" sz="2800" dirty="0"/>
              <a:t>.</a:t>
            </a:r>
          </a:p>
          <a:p>
            <a:r>
              <a:rPr lang="ru-RU" sz="2800" dirty="0"/>
              <a:t>Процентные значения </a:t>
            </a:r>
            <a:r>
              <a:rPr lang="ru-RU" sz="2800" dirty="0" err="1">
                <a:solidFill>
                  <a:srgbClr val="C00000"/>
                </a:solidFill>
              </a:rPr>
              <a:t>margin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dirty="0"/>
              <a:t>и </a:t>
            </a:r>
            <a:r>
              <a:rPr lang="ru-RU" sz="2800" dirty="0" err="1">
                <a:solidFill>
                  <a:srgbClr val="C00000"/>
                </a:solidFill>
              </a:rPr>
              <a:t>padding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  <a:r>
              <a:rPr lang="ru-RU" sz="2800" dirty="0"/>
              <a:t>вычисляются от внутреннего размера содержащего их блока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40" y="3874346"/>
            <a:ext cx="6300653" cy="245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9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" y="286603"/>
            <a:ext cx="11795760" cy="1328837"/>
          </a:xfrm>
        </p:spPr>
        <p:txBody>
          <a:bodyPr>
            <a:normAutofit fontScale="90000"/>
          </a:bodyPr>
          <a:lstStyle/>
          <a:p>
            <a:r>
              <a:rPr lang="ru-RU" dirty="0"/>
              <a:t>Порядок отображения </a:t>
            </a:r>
            <a:r>
              <a:rPr lang="ru-RU" dirty="0" err="1"/>
              <a:t>flex</a:t>
            </a:r>
            <a:r>
              <a:rPr lang="ru-RU" dirty="0"/>
              <a:t>-элементов и ориентация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158240" y="1615440"/>
            <a:ext cx="10058400" cy="579120"/>
          </a:xfrm>
        </p:spPr>
        <p:txBody>
          <a:bodyPr/>
          <a:lstStyle/>
          <a:p>
            <a:r>
              <a:rPr lang="ru-RU" sz="3200" dirty="0"/>
              <a:t>Направление главной оси: </a:t>
            </a:r>
            <a:r>
              <a:rPr lang="en-US" sz="3200" b="1" dirty="0"/>
              <a:t>flex-direction</a:t>
            </a:r>
          </a:p>
          <a:p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289560" y="2194560"/>
          <a:ext cx="11795760" cy="2865120"/>
        </p:xfrm>
        <a:graphic>
          <a:graphicData uri="http://schemas.openxmlformats.org/drawingml/2006/table">
            <a:tbl>
              <a:tblPr/>
              <a:tblGrid>
                <a:gridCol w="1339727"/>
                <a:gridCol w="10456033"/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row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Значение по умолчанию, слева направо (в </a:t>
                      </a:r>
                      <a:r>
                        <a:rPr lang="ru-RU" sz="2400" dirty="0" err="1">
                          <a:effectLst/>
                        </a:rPr>
                        <a:t>rtl</a:t>
                      </a:r>
                      <a:r>
                        <a:rPr lang="ru-RU" sz="2400" dirty="0">
                          <a:effectLst/>
                        </a:rPr>
                        <a:t> справа налево). </a:t>
                      </a:r>
                      <a:r>
                        <a:rPr lang="ru-RU" sz="2400" dirty="0" err="1">
                          <a:effectLst/>
                        </a:rPr>
                        <a:t>Flex</a:t>
                      </a:r>
                      <a:r>
                        <a:rPr lang="ru-RU" sz="2400" dirty="0">
                          <a:effectLst/>
                        </a:rPr>
                        <a:t>-элементы выкладываются в строку. Начало (</a:t>
                      </a:r>
                      <a:r>
                        <a:rPr lang="ru-RU" sz="2400" dirty="0" err="1">
                          <a:effectLst/>
                        </a:rPr>
                        <a:t>main-start</a:t>
                      </a:r>
                      <a:r>
                        <a:rPr lang="ru-RU" sz="2400" dirty="0">
                          <a:effectLst/>
                        </a:rPr>
                        <a:t>) и конец (</a:t>
                      </a:r>
                      <a:r>
                        <a:rPr lang="ru-RU" sz="2400" dirty="0" err="1">
                          <a:effectLst/>
                        </a:rPr>
                        <a:t>main-end</a:t>
                      </a:r>
                      <a:r>
                        <a:rPr lang="ru-RU" sz="2400" dirty="0">
                          <a:effectLst/>
                        </a:rPr>
                        <a:t>) направления главной оси соответствуют началу (</a:t>
                      </a:r>
                      <a:r>
                        <a:rPr lang="ru-RU" sz="2400" dirty="0" err="1">
                          <a:effectLst/>
                        </a:rPr>
                        <a:t>inline-start</a:t>
                      </a:r>
                      <a:r>
                        <a:rPr lang="ru-RU" sz="2400" dirty="0">
                          <a:effectLst/>
                        </a:rPr>
                        <a:t>) и концу (</a:t>
                      </a:r>
                      <a:r>
                        <a:rPr lang="ru-RU" sz="2400" dirty="0" err="1">
                          <a:effectLst/>
                        </a:rPr>
                        <a:t>inline-end</a:t>
                      </a:r>
                      <a:r>
                        <a:rPr lang="ru-RU" sz="2400" dirty="0">
                          <a:effectLst/>
                        </a:rPr>
                        <a:t>) оси строки (</a:t>
                      </a:r>
                      <a:r>
                        <a:rPr lang="ru-RU" sz="2400" dirty="0" err="1">
                          <a:effectLst/>
                        </a:rPr>
                        <a:t>inline-axis</a:t>
                      </a:r>
                      <a:r>
                        <a:rPr lang="ru-RU" sz="2400" dirty="0">
                          <a:effectLst/>
                        </a:rPr>
                        <a:t>).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row-reverse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Направление справа налево (в </a:t>
                      </a:r>
                      <a:r>
                        <a:rPr lang="ru-RU" sz="2400" dirty="0" err="1">
                          <a:effectLst/>
                        </a:rPr>
                        <a:t>rtl</a:t>
                      </a:r>
                      <a:r>
                        <a:rPr lang="ru-RU" sz="2400" dirty="0">
                          <a:effectLst/>
                        </a:rPr>
                        <a:t> слева направо). </a:t>
                      </a:r>
                      <a:r>
                        <a:rPr lang="ru-RU" sz="2400" dirty="0" err="1">
                          <a:effectLst/>
                        </a:rPr>
                        <a:t>Flex</a:t>
                      </a:r>
                      <a:r>
                        <a:rPr lang="ru-RU" sz="2400" dirty="0">
                          <a:effectLst/>
                        </a:rPr>
                        <a:t>-элементы выкладываются в строку относительно правого края контейнера (в </a:t>
                      </a:r>
                      <a:r>
                        <a:rPr lang="ru-RU" sz="2400" dirty="0" err="1">
                          <a:effectLst/>
                        </a:rPr>
                        <a:t>rtl</a:t>
                      </a:r>
                      <a:r>
                        <a:rPr lang="ru-RU" sz="2400" dirty="0">
                          <a:effectLst/>
                        </a:rPr>
                        <a:t> — левого).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Рисунок 5" descr="Вырезка экрана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" y="5059680"/>
            <a:ext cx="1027155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205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/>
          </p:nvPr>
        </p:nvGraphicFramePr>
        <p:xfrm>
          <a:off x="335280" y="123825"/>
          <a:ext cx="11750040" cy="1339216"/>
        </p:xfrm>
        <a:graphic>
          <a:graphicData uri="http://schemas.openxmlformats.org/drawingml/2006/table">
            <a:tbl>
              <a:tblPr/>
              <a:tblGrid>
                <a:gridCol w="2222344"/>
                <a:gridCol w="9527696"/>
              </a:tblGrid>
              <a:tr h="651450">
                <a:tc>
                  <a:txBody>
                    <a:bodyPr/>
                    <a:lstStyle/>
                    <a:p>
                      <a:pPr fontAlgn="t"/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Направление сверху вниз. </a:t>
                      </a:r>
                      <a:r>
                        <a:rPr lang="ru-RU" sz="24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Flex</a:t>
                      </a:r>
                      <a:r>
                        <a:rPr lang="ru-RU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-элементы выкладываются в колонку.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7766">
                <a:tc>
                  <a:txBody>
                    <a:bodyPr/>
                    <a:lstStyle/>
                    <a:p>
                      <a:pPr fontAlgn="t"/>
                      <a:r>
                        <a:rPr lang="en-US" sz="24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column-reverse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Колонка с элементами в обратном порядке, снизу вверх.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0843" y="1632251"/>
            <a:ext cx="6373114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808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43927" y="193725"/>
            <a:ext cx="103184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Управление </a:t>
            </a:r>
            <a:r>
              <a:rPr lang="ru-RU" sz="3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многострочностью</a:t>
            </a:r>
            <a:r>
              <a:rPr lang="ru-RU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flex-</a:t>
            </a:r>
            <a:r>
              <a:rPr lang="ru-RU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контейнера: </a:t>
            </a: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flex-wrap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356870" y="916305"/>
          <a:ext cx="11652250" cy="2133600"/>
        </p:xfrm>
        <a:graphic>
          <a:graphicData uri="http://schemas.openxmlformats.org/drawingml/2006/table">
            <a:tbl>
              <a:tblPr/>
              <a:tblGrid>
                <a:gridCol w="2317302"/>
                <a:gridCol w="9334948"/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nowrap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Значение по умолчанию. Flex-элементы не переносятся, а располагаются в одну линию слева направо (в rtl справа налево).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wrap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 err="1">
                          <a:effectLst/>
                        </a:rPr>
                        <a:t>Flex</a:t>
                      </a:r>
                      <a:r>
                        <a:rPr lang="ru-RU" sz="2400" dirty="0">
                          <a:effectLst/>
                        </a:rPr>
                        <a:t>-элементы переносятся, располагаясь в несколько горизонтальных рядов (если не помещаются в один ряд) в направлении слева направо (в </a:t>
                      </a:r>
                      <a:r>
                        <a:rPr lang="ru-RU" sz="2400" dirty="0" err="1">
                          <a:effectLst/>
                        </a:rPr>
                        <a:t>rtl</a:t>
                      </a:r>
                      <a:r>
                        <a:rPr lang="ru-RU" sz="2400" dirty="0">
                          <a:effectLst/>
                        </a:rPr>
                        <a:t> справа налево).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39" y="3049905"/>
            <a:ext cx="10438198" cy="271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816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417830" y="428625"/>
          <a:ext cx="11591290" cy="1249680"/>
        </p:xfrm>
        <a:graphic>
          <a:graphicData uri="http://schemas.openxmlformats.org/drawingml/2006/table">
            <a:tbl>
              <a:tblPr/>
              <a:tblGrid>
                <a:gridCol w="2305179"/>
                <a:gridCol w="9286111"/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wrap-reverse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 err="1">
                          <a:effectLst/>
                        </a:rPr>
                        <a:t>Flex</a:t>
                      </a:r>
                      <a:r>
                        <a:rPr lang="ru-RU" sz="2400" dirty="0">
                          <a:effectLst/>
                        </a:rPr>
                        <a:t>-элементы переносятся на новые линии, располагаясь в обратном порядке слева-направо, при этом перенос происходит снизу вверх.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20" y="2571630"/>
            <a:ext cx="11036051" cy="296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3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8160" y="149275"/>
            <a:ext cx="113385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252525"/>
                </a:solidFill>
              </a:rPr>
              <a:t>Краткая запись направления и </a:t>
            </a:r>
            <a:r>
              <a:rPr lang="ru-RU" sz="2800" dirty="0" err="1">
                <a:solidFill>
                  <a:srgbClr val="252525"/>
                </a:solidFill>
              </a:rPr>
              <a:t>многострочности</a:t>
            </a:r>
            <a:r>
              <a:rPr lang="ru-RU" sz="2800" dirty="0">
                <a:solidFill>
                  <a:srgbClr val="252525"/>
                </a:solidFill>
              </a:rPr>
              <a:t>: </a:t>
            </a:r>
            <a:r>
              <a:rPr lang="ru-RU" sz="2800" b="1" dirty="0" err="1">
                <a:solidFill>
                  <a:srgbClr val="252525"/>
                </a:solidFill>
              </a:rPr>
              <a:t>flex-flow</a:t>
            </a:r>
            <a:endParaRPr lang="ru-RU" sz="2800" b="1" i="0" dirty="0">
              <a:solidFill>
                <a:srgbClr val="252525"/>
              </a:solidFill>
              <a:effectLst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89560" y="1156455"/>
            <a:ext cx="9893670" cy="36933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+mn-lt"/>
              </a:rPr>
              <a:t>Представляет собой сокращённую запись свойств </a:t>
            </a: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+mn-lt"/>
                <a:cs typeface="Courier New" panose="02070309020205020404" pitchFamily="49" charset="0"/>
              </a:rPr>
              <a:t>flex-direction</a:t>
            </a: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+mn-lt"/>
              </a:rPr>
              <a:t> и </a:t>
            </a: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+mn-lt"/>
                <a:cs typeface="Courier New" panose="02070309020205020404" pitchFamily="49" charset="0"/>
              </a:rPr>
              <a:t>flex-wrap</a:t>
            </a: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rgbClr val="303030"/>
                </a:solidFill>
                <a:effectLst/>
                <a:latin typeface="+mn-lt"/>
              </a:rPr>
              <a:t>.</a:t>
            </a:r>
            <a:r>
              <a:rPr kumimoji="0" lang="ru-RU" alt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182880" y="1842107"/>
          <a:ext cx="11871960" cy="1478541"/>
        </p:xfrm>
        <a:graphic>
          <a:graphicData uri="http://schemas.openxmlformats.org/drawingml/2006/table">
            <a:tbl>
              <a:tblPr/>
              <a:tblGrid>
                <a:gridCol w="2606040"/>
                <a:gridCol w="9265920"/>
              </a:tblGrid>
              <a:tr h="520093"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направление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Указывает направление главной оси. Значение по умолчанию row.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8448"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многострочность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Задаёт </a:t>
                      </a:r>
                      <a:r>
                        <a:rPr lang="ru-RU" sz="2400" dirty="0" err="1">
                          <a:effectLst/>
                        </a:rPr>
                        <a:t>многострочность</a:t>
                      </a:r>
                      <a:r>
                        <a:rPr lang="ru-RU" sz="2400" dirty="0">
                          <a:effectLst/>
                        </a:rPr>
                        <a:t> поперечной оси. Значение по умолчанию </a:t>
                      </a:r>
                      <a:r>
                        <a:rPr lang="ru-RU" sz="2400" dirty="0" err="1">
                          <a:effectLst/>
                        </a:rPr>
                        <a:t>nowrap</a:t>
                      </a:r>
                      <a:r>
                        <a:rPr lang="ru-RU" sz="2400" dirty="0">
                          <a:effectLst/>
                        </a:rPr>
                        <a:t>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1371600" y="3780737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.flex-container {</a:t>
            </a:r>
          </a:p>
          <a:p>
            <a:r>
              <a:rPr lang="en-US" sz="2400" dirty="0"/>
              <a:t>display: -</a:t>
            </a:r>
            <a:r>
              <a:rPr lang="en-US" sz="2400" dirty="0" err="1"/>
              <a:t>webkit</a:t>
            </a:r>
            <a:r>
              <a:rPr lang="en-US" sz="2400" dirty="0"/>
              <a:t>-flex; </a:t>
            </a:r>
          </a:p>
          <a:p>
            <a:r>
              <a:rPr lang="en-US" sz="2400" dirty="0"/>
              <a:t>-</a:t>
            </a:r>
            <a:r>
              <a:rPr lang="en-US" sz="2400" dirty="0" err="1"/>
              <a:t>webkit</a:t>
            </a:r>
            <a:r>
              <a:rPr lang="en-US" sz="2400" dirty="0"/>
              <a:t>-flex-flow: row wrap; </a:t>
            </a:r>
          </a:p>
          <a:p>
            <a:r>
              <a:rPr lang="en-US" sz="2400" dirty="0"/>
              <a:t>display: flex;</a:t>
            </a:r>
          </a:p>
          <a:p>
            <a:r>
              <a:rPr lang="en-US" sz="2400" dirty="0"/>
              <a:t>flex-flow: row wrap;</a:t>
            </a:r>
          </a:p>
          <a:p>
            <a:r>
              <a:rPr lang="en-US" sz="2400" dirty="0"/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9745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23332" y="394454"/>
            <a:ext cx="59768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252525"/>
                </a:solidFill>
              </a:rPr>
              <a:t>Порядок отображения </a:t>
            </a:r>
            <a:r>
              <a:rPr lang="en-US" sz="2400" dirty="0">
                <a:solidFill>
                  <a:srgbClr val="252525"/>
                </a:solidFill>
              </a:rPr>
              <a:t>flex-</a:t>
            </a:r>
            <a:r>
              <a:rPr lang="ru-RU" sz="2400" dirty="0">
                <a:solidFill>
                  <a:srgbClr val="252525"/>
                </a:solidFill>
              </a:rPr>
              <a:t>элементов: </a:t>
            </a:r>
            <a:r>
              <a:rPr lang="en-US" sz="2400" b="1" dirty="0">
                <a:solidFill>
                  <a:srgbClr val="252525"/>
                </a:solidFill>
              </a:rPr>
              <a:t>order</a:t>
            </a:r>
            <a:endParaRPr lang="en-US" sz="2400" b="1" i="0" dirty="0">
              <a:solidFill>
                <a:srgbClr val="252525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13360" y="1105376"/>
            <a:ext cx="117500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Первоначально все </a:t>
            </a:r>
            <a:r>
              <a:rPr lang="ru-RU" sz="2400" dirty="0" err="1"/>
              <a:t>flex</a:t>
            </a:r>
            <a:r>
              <a:rPr lang="ru-RU" sz="2400" dirty="0"/>
              <a:t>-элементы имеют </a:t>
            </a:r>
            <a:r>
              <a:rPr lang="ru-RU" sz="2400" dirty="0" err="1"/>
              <a:t>order</a:t>
            </a:r>
            <a:r>
              <a:rPr lang="ru-RU" sz="2400" dirty="0"/>
              <a:t>: </a:t>
            </a:r>
            <a:r>
              <a:rPr lang="ru-RU" sz="2400" dirty="0" smtClean="0"/>
              <a:t>0;</a:t>
            </a:r>
          </a:p>
          <a:p>
            <a:r>
              <a:rPr lang="ru-RU" sz="2400" dirty="0" smtClean="0"/>
              <a:t>При </a:t>
            </a:r>
            <a:r>
              <a:rPr lang="ru-RU" sz="2400" dirty="0"/>
              <a:t>указании значения от -1 для элемента он перемещается в начало сроки, </a:t>
            </a:r>
            <a:endParaRPr lang="ru-RU" sz="2400" dirty="0" smtClean="0"/>
          </a:p>
          <a:p>
            <a:r>
              <a:rPr lang="ru-RU" sz="2400" dirty="0" smtClean="0"/>
              <a:t>значение </a:t>
            </a:r>
            <a:r>
              <a:rPr lang="ru-RU" sz="2400" dirty="0"/>
              <a:t>1 — в конец. </a:t>
            </a:r>
            <a:endParaRPr lang="ru-RU" sz="2400" dirty="0" smtClean="0"/>
          </a:p>
          <a:p>
            <a:r>
              <a:rPr lang="ru-RU" sz="2400" dirty="0" smtClean="0"/>
              <a:t>Если </a:t>
            </a:r>
            <a:r>
              <a:rPr lang="ru-RU" sz="2400" dirty="0"/>
              <a:t>несколько </a:t>
            </a:r>
            <a:r>
              <a:rPr lang="ru-RU" sz="2400" dirty="0" err="1"/>
              <a:t>flex</a:t>
            </a:r>
            <a:r>
              <a:rPr lang="ru-RU" sz="2400" dirty="0"/>
              <a:t>-элементов имеют одинаковое значение </a:t>
            </a:r>
            <a:r>
              <a:rPr lang="ru-RU" sz="2400" dirty="0" err="1"/>
              <a:t>order</a:t>
            </a:r>
            <a:r>
              <a:rPr lang="ru-RU" sz="2400" dirty="0"/>
              <a:t>, они будут отображаться в соответствии с исходным порядком.</a:t>
            </a:r>
          </a:p>
        </p:txBody>
      </p:sp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32" y="3293625"/>
            <a:ext cx="10219142" cy="254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5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17997" y="89654"/>
            <a:ext cx="38391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solidFill>
                  <a:srgbClr val="252525"/>
                </a:solidFill>
              </a:rPr>
              <a:t>Гибкость </a:t>
            </a:r>
            <a:r>
              <a:rPr lang="en-US" sz="2800" dirty="0">
                <a:solidFill>
                  <a:srgbClr val="252525"/>
                </a:solidFill>
              </a:rPr>
              <a:t>flex-</a:t>
            </a:r>
            <a:r>
              <a:rPr lang="ru-RU" sz="2800" dirty="0">
                <a:solidFill>
                  <a:srgbClr val="252525"/>
                </a:solidFill>
              </a:rPr>
              <a:t>элементов</a:t>
            </a:r>
            <a:endParaRPr lang="ru-RU" sz="2800" b="0" i="0" dirty="0">
              <a:solidFill>
                <a:srgbClr val="252525"/>
              </a:solidFill>
              <a:effectLst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9080" y="612874"/>
            <a:ext cx="11658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Flex</a:t>
            </a:r>
            <a:r>
              <a:rPr lang="ru-RU" sz="2400" dirty="0"/>
              <a:t>-элемент будет полностью «негибок», если его значения </a:t>
            </a:r>
            <a:r>
              <a:rPr lang="ru-RU" sz="2400" b="1" dirty="0" err="1" smtClean="0"/>
              <a:t>flex-grow</a:t>
            </a:r>
            <a:r>
              <a:rPr lang="ru-RU" sz="2400" dirty="0" smtClean="0"/>
              <a:t> (свободное пространство между элементами) </a:t>
            </a:r>
            <a:r>
              <a:rPr lang="ru-RU" sz="2400" dirty="0"/>
              <a:t>и </a:t>
            </a:r>
            <a:r>
              <a:rPr lang="ru-RU" sz="2400" b="1" dirty="0" err="1"/>
              <a:t>flex-shrink</a:t>
            </a:r>
            <a:r>
              <a:rPr lang="ru-RU" sz="2400" dirty="0"/>
              <a:t> </a:t>
            </a:r>
            <a:r>
              <a:rPr lang="ru-RU" sz="2400" dirty="0" smtClean="0"/>
              <a:t>(сжатие содержимого) равны </a:t>
            </a:r>
            <a:r>
              <a:rPr lang="ru-RU" sz="2400" dirty="0"/>
              <a:t>нулю, и «гибкий» в противном случае.</a:t>
            </a:r>
          </a:p>
          <a:p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9080" y="1693367"/>
            <a:ext cx="113385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Задание гибких размеров одним свойством: </a:t>
            </a:r>
            <a:r>
              <a:rPr lang="ru-RU" sz="2400" b="1" dirty="0" err="1"/>
              <a:t>flex</a:t>
            </a:r>
            <a:endParaRPr lang="ru-RU" sz="2400" b="1" dirty="0"/>
          </a:p>
          <a:p>
            <a:r>
              <a:rPr lang="ru-RU" sz="2400" dirty="0"/>
              <a:t>Свойство является сокращённой записью свойств </a:t>
            </a:r>
            <a:r>
              <a:rPr lang="ru-RU" sz="2400" b="1" dirty="0" err="1"/>
              <a:t>flex-grow</a:t>
            </a:r>
            <a:r>
              <a:rPr lang="ru-RU" sz="2400" b="1" dirty="0"/>
              <a:t>, </a:t>
            </a:r>
            <a:r>
              <a:rPr lang="ru-RU" sz="2400" b="1" dirty="0" err="1"/>
              <a:t>flex-shrink</a:t>
            </a:r>
            <a:r>
              <a:rPr lang="ru-RU" sz="2400" b="1" dirty="0"/>
              <a:t> и </a:t>
            </a:r>
            <a:r>
              <a:rPr lang="ru-RU" sz="2400" b="1" dirty="0" err="1"/>
              <a:t>flex-basis</a:t>
            </a:r>
            <a:r>
              <a:rPr lang="ru-RU" sz="2400" dirty="0"/>
              <a:t>. Значение по умолчанию: </a:t>
            </a:r>
            <a:r>
              <a:rPr lang="ru-RU" sz="2400" b="1" dirty="0" err="1"/>
              <a:t>flex</a:t>
            </a:r>
            <a:r>
              <a:rPr lang="ru-RU" sz="2400" b="1" dirty="0"/>
              <a:t>: 0 1 </a:t>
            </a:r>
            <a:r>
              <a:rPr lang="ru-RU" sz="2400" b="1" dirty="0" err="1"/>
              <a:t>auto</a:t>
            </a:r>
            <a:r>
              <a:rPr lang="ru-RU" sz="2400" b="1" dirty="0"/>
              <a:t>;</a:t>
            </a:r>
            <a:r>
              <a:rPr lang="ru-RU" sz="2400" dirty="0"/>
              <a:t>. Можно указывать как одно, так и все три значения свойств.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417997" y="3263027"/>
          <a:ext cx="11658600" cy="3108960"/>
        </p:xfrm>
        <a:graphic>
          <a:graphicData uri="http://schemas.openxmlformats.org/drawingml/2006/table">
            <a:tbl>
              <a:tblPr/>
              <a:tblGrid>
                <a:gridCol w="2318565"/>
                <a:gridCol w="9340035"/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ru-RU" sz="2200" dirty="0">
                          <a:effectLst/>
                        </a:rPr>
                        <a:t>коэффициент растяжения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200">
                          <a:effectLst/>
                        </a:rPr>
                        <a:t>Коэффициент увеличения ширины flex-элемента относительно других flex-элементов.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ru-RU" sz="2200">
                          <a:effectLst/>
                        </a:rPr>
                        <a:t>коэффициент сужения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200" dirty="0">
                          <a:effectLst/>
                        </a:rPr>
                        <a:t>Коэффициент уменьшения ширины </a:t>
                      </a:r>
                      <a:r>
                        <a:rPr lang="ru-RU" sz="2200" dirty="0" err="1">
                          <a:effectLst/>
                        </a:rPr>
                        <a:t>flex</a:t>
                      </a:r>
                      <a:r>
                        <a:rPr lang="ru-RU" sz="2200" dirty="0">
                          <a:effectLst/>
                        </a:rPr>
                        <a:t>-элемента относительно других </a:t>
                      </a:r>
                      <a:r>
                        <a:rPr lang="ru-RU" sz="2200" dirty="0" err="1">
                          <a:effectLst/>
                        </a:rPr>
                        <a:t>flex</a:t>
                      </a:r>
                      <a:r>
                        <a:rPr lang="ru-RU" sz="2200" dirty="0">
                          <a:effectLst/>
                        </a:rPr>
                        <a:t>-элементов.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ru-RU" sz="2200">
                          <a:effectLst/>
                        </a:rPr>
                        <a:t>базовая ширина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200" dirty="0">
                          <a:effectLst/>
                        </a:rPr>
                        <a:t>Базовая ширина </a:t>
                      </a:r>
                      <a:r>
                        <a:rPr lang="en-US" sz="2200" dirty="0">
                          <a:effectLst/>
                        </a:rPr>
                        <a:t>flex-</a:t>
                      </a:r>
                      <a:r>
                        <a:rPr lang="ru-RU" sz="2200" dirty="0">
                          <a:effectLst/>
                        </a:rPr>
                        <a:t>элемента.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</a:rPr>
                        <a:t>auto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200">
                          <a:effectLst/>
                        </a:rPr>
                        <a:t>Эквивалентно flex: 1 1 auto;.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200">
                          <a:effectLst/>
                        </a:rPr>
                        <a:t>none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200" dirty="0">
                          <a:effectLst/>
                        </a:rPr>
                        <a:t>Эквивалентно </a:t>
                      </a:r>
                      <a:r>
                        <a:rPr lang="ru-RU" sz="2200" dirty="0" err="1">
                          <a:effectLst/>
                        </a:rPr>
                        <a:t>flex</a:t>
                      </a:r>
                      <a:r>
                        <a:rPr lang="ru-RU" sz="2200" dirty="0">
                          <a:effectLst/>
                        </a:rPr>
                        <a:t>: 0 0 </a:t>
                      </a:r>
                      <a:r>
                        <a:rPr lang="ru-RU" sz="2200" dirty="0" err="1">
                          <a:effectLst/>
                        </a:rPr>
                        <a:t>auto</a:t>
                      </a:r>
                      <a:r>
                        <a:rPr lang="ru-RU" sz="2200" dirty="0">
                          <a:effectLst/>
                        </a:rPr>
                        <a:t>;.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37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179576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Коэффициент роста: </a:t>
            </a:r>
            <a:r>
              <a:rPr lang="ru-RU" sz="2400" b="1" dirty="0" err="1"/>
              <a:t>flex-grow</a:t>
            </a:r>
            <a:endParaRPr lang="ru-RU" sz="2400" b="1" dirty="0"/>
          </a:p>
          <a:p>
            <a:r>
              <a:rPr lang="ru-RU" sz="2400" dirty="0"/>
              <a:t>Свойство определяет коэффициент роста одного </a:t>
            </a:r>
            <a:r>
              <a:rPr lang="ru-RU" sz="2400" dirty="0" err="1"/>
              <a:t>flex</a:t>
            </a:r>
            <a:r>
              <a:rPr lang="ru-RU" sz="2400" dirty="0"/>
              <a:t>-элемента относительно других </a:t>
            </a:r>
            <a:r>
              <a:rPr lang="ru-RU" sz="2400" dirty="0" err="1"/>
              <a:t>flex</a:t>
            </a:r>
            <a:r>
              <a:rPr lang="ru-RU" sz="2400" dirty="0"/>
              <a:t>-элементов в </a:t>
            </a:r>
            <a:r>
              <a:rPr lang="ru-RU" sz="2400" dirty="0" err="1"/>
              <a:t>flex</a:t>
            </a:r>
            <a:r>
              <a:rPr lang="ru-RU" sz="2400" dirty="0"/>
              <a:t>-контейнере при распределении положительного свободного пространства. </a:t>
            </a:r>
            <a:endParaRPr lang="ru-RU" sz="2400" dirty="0" smtClean="0"/>
          </a:p>
          <a:p>
            <a:r>
              <a:rPr lang="ru-RU" sz="2400" dirty="0" smtClean="0"/>
              <a:t>Положительное </a:t>
            </a:r>
            <a:r>
              <a:rPr lang="ru-RU" sz="2400" dirty="0"/>
              <a:t>целое или дробное число, устанавливающее коэффициент роста </a:t>
            </a:r>
            <a:r>
              <a:rPr lang="ru-RU" sz="2400" dirty="0" err="1"/>
              <a:t>flex</a:t>
            </a:r>
            <a:r>
              <a:rPr lang="ru-RU" sz="2400" dirty="0"/>
              <a:t>-элемента. Значение по умолчанию </a:t>
            </a:r>
            <a:r>
              <a:rPr lang="ru-RU" sz="2400" dirty="0" smtClean="0"/>
              <a:t>0.</a:t>
            </a:r>
          </a:p>
          <a:p>
            <a:r>
              <a:rPr lang="ru-RU" sz="2400" dirty="0" smtClean="0"/>
              <a:t> </a:t>
            </a:r>
            <a:r>
              <a:rPr lang="ru-RU" sz="2400" dirty="0"/>
              <a:t>Если сумма значений </a:t>
            </a:r>
            <a:r>
              <a:rPr lang="ru-RU" sz="2400" dirty="0" err="1"/>
              <a:t>flex-grow</a:t>
            </a:r>
            <a:r>
              <a:rPr lang="ru-RU" sz="2400" dirty="0"/>
              <a:t> </a:t>
            </a:r>
            <a:r>
              <a:rPr lang="ru-RU" sz="2400" dirty="0" err="1"/>
              <a:t>flex</a:t>
            </a:r>
            <a:r>
              <a:rPr lang="ru-RU" sz="2400" dirty="0"/>
              <a:t>-элементов в строке меньше 1, они занимают менее 100% свободного пространства</a:t>
            </a:r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40" y="3046987"/>
            <a:ext cx="7855679" cy="337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0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Коэффициент сжатия: </a:t>
            </a:r>
            <a:r>
              <a:rPr lang="ru-RU" sz="2400" b="1" dirty="0" err="1"/>
              <a:t>flex-shrink</a:t>
            </a:r>
            <a:endParaRPr lang="ru-RU" sz="2400" b="1" dirty="0"/>
          </a:p>
          <a:p>
            <a:r>
              <a:rPr lang="ru-RU" sz="2400" dirty="0"/>
              <a:t>Свойство указывает коэффициент сжатия </a:t>
            </a:r>
            <a:r>
              <a:rPr lang="ru-RU" sz="2400" dirty="0" err="1"/>
              <a:t>flex</a:t>
            </a:r>
            <a:r>
              <a:rPr lang="ru-RU" sz="2400" dirty="0"/>
              <a:t>-элемента относительно других </a:t>
            </a:r>
            <a:r>
              <a:rPr lang="ru-RU" sz="2400" dirty="0" err="1"/>
              <a:t>flex</a:t>
            </a:r>
            <a:r>
              <a:rPr lang="ru-RU" sz="2400" dirty="0"/>
              <a:t>-элементов при распределении отрицательного свободного пространства. Умножается на базовый размер </a:t>
            </a:r>
            <a:r>
              <a:rPr lang="ru-RU" sz="2400" b="1" dirty="0" err="1"/>
              <a:t>flex-basis</a:t>
            </a:r>
            <a:r>
              <a:rPr lang="ru-RU" sz="2400" dirty="0"/>
              <a:t>. Отрицательное пространство распределяется пропорционально тому, насколько элемент может сжаться, поэтому, например, маленький </a:t>
            </a:r>
            <a:r>
              <a:rPr lang="ru-RU" sz="2400" dirty="0" err="1"/>
              <a:t>flex</a:t>
            </a:r>
            <a:r>
              <a:rPr lang="ru-RU" sz="2400" dirty="0"/>
              <a:t>-элемент не уменьшится до нуля, пока не будет заметно уменьшен </a:t>
            </a:r>
            <a:r>
              <a:rPr lang="ru-RU" sz="2400" dirty="0" err="1"/>
              <a:t>flex</a:t>
            </a:r>
            <a:r>
              <a:rPr lang="ru-RU" sz="2400" dirty="0"/>
              <a:t>-элемент большего размера</a:t>
            </a:r>
            <a:r>
              <a:rPr lang="ru-RU" sz="2400" dirty="0" smtClean="0"/>
              <a:t>.</a:t>
            </a:r>
          </a:p>
          <a:p>
            <a:endParaRPr lang="ru-RU" sz="2400" dirty="0"/>
          </a:p>
        </p:txBody>
      </p:sp>
      <p:pic>
        <p:nvPicPr>
          <p:cNvPr id="4" name="Рисунок 3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98" y="2400134"/>
            <a:ext cx="8710102" cy="325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192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Базовый размер: </a:t>
            </a:r>
            <a:r>
              <a:rPr lang="ru-RU" sz="2400" b="1" dirty="0" err="1"/>
              <a:t>flex-basis</a:t>
            </a:r>
            <a:endParaRPr lang="ru-RU" sz="2400" b="1" dirty="0"/>
          </a:p>
          <a:p>
            <a:r>
              <a:rPr lang="ru-RU" sz="2400" dirty="0"/>
              <a:t>Свойство устанавливает начальный основной размер </a:t>
            </a:r>
            <a:r>
              <a:rPr lang="ru-RU" sz="2400" dirty="0" err="1"/>
              <a:t>flex</a:t>
            </a:r>
            <a:r>
              <a:rPr lang="ru-RU" sz="2400" dirty="0"/>
              <a:t>-элемента до распределения свободного пространства в соответствии с коэффициентами гибкости. Для всех значений, кроме </a:t>
            </a:r>
            <a:r>
              <a:rPr lang="ru-RU" sz="2400" dirty="0" err="1"/>
              <a:t>auto</a:t>
            </a:r>
            <a:r>
              <a:rPr lang="ru-RU" sz="2400" dirty="0"/>
              <a:t> и </a:t>
            </a:r>
            <a:r>
              <a:rPr lang="ru-RU" sz="2400" dirty="0" err="1"/>
              <a:t>content</a:t>
            </a:r>
            <a:r>
              <a:rPr lang="ru-RU" sz="2400" dirty="0"/>
              <a:t>, базовый гибкий размер определяется так же, как </a:t>
            </a:r>
            <a:r>
              <a:rPr lang="ru-RU" sz="2400" dirty="0" err="1"/>
              <a:t>width</a:t>
            </a:r>
            <a:r>
              <a:rPr lang="ru-RU" sz="2400" dirty="0"/>
              <a:t> в горизонтальных режимах записи. Процентные значения определяются относительно размера </a:t>
            </a:r>
            <a:r>
              <a:rPr lang="ru-RU" sz="2400" dirty="0" err="1"/>
              <a:t>flex</a:t>
            </a:r>
            <a:r>
              <a:rPr lang="ru-RU" sz="2400" dirty="0"/>
              <a:t>-контейнера, а если размер не задан, используемым значением для </a:t>
            </a:r>
            <a:r>
              <a:rPr lang="ru-RU" sz="2400" dirty="0" err="1"/>
              <a:t>flex-basis</a:t>
            </a:r>
            <a:r>
              <a:rPr lang="ru-RU" sz="2400" dirty="0"/>
              <a:t> являются размеры его содержимого.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137160" y="2997697"/>
          <a:ext cx="11917680" cy="2778263"/>
        </p:xfrm>
        <a:graphic>
          <a:graphicData uri="http://schemas.openxmlformats.org/drawingml/2006/table">
            <a:tbl>
              <a:tblPr/>
              <a:tblGrid>
                <a:gridCol w="2370089"/>
                <a:gridCol w="9547591"/>
              </a:tblGrid>
              <a:tr h="934223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auto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Значение по умолчанию. Элемент получает базовый размер, соответствующий размеру его содержимого (если он не задан явно).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pPr fontAlgn="t"/>
                      <a:r>
                        <a:rPr lang="en-US" sz="2400" dirty="0">
                          <a:effectLst/>
                        </a:rPr>
                        <a:t>content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Определяет базовый размер в зависимости от содержимого </a:t>
                      </a:r>
                      <a:r>
                        <a:rPr lang="ru-RU" sz="2400" dirty="0" err="1">
                          <a:effectLst/>
                        </a:rPr>
                        <a:t>flex</a:t>
                      </a:r>
                      <a:r>
                        <a:rPr lang="ru-RU" sz="2400" dirty="0">
                          <a:effectLst/>
                        </a:rPr>
                        <a:t>-элемента.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fontAlgn="t"/>
                      <a:r>
                        <a:rPr lang="ru-RU" sz="2400">
                          <a:effectLst/>
                        </a:rPr>
                        <a:t>длина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Базовый размер определяется так же, как для ширины и высоты. Задается в единицах длины.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22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69039"/>
            <a:ext cx="119938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Выравнивание по главной оси: </a:t>
            </a:r>
            <a:r>
              <a:rPr lang="ru-RU" sz="2400" b="1" dirty="0" err="1"/>
              <a:t>justify-content</a:t>
            </a:r>
            <a:endParaRPr lang="ru-RU" sz="2400" b="1" dirty="0"/>
          </a:p>
          <a:p>
            <a:r>
              <a:rPr lang="ru-RU" sz="2400" dirty="0"/>
              <a:t>Свойство выравнивает </a:t>
            </a:r>
            <a:r>
              <a:rPr lang="ru-RU" sz="2400" dirty="0" err="1"/>
              <a:t>flex</a:t>
            </a:r>
            <a:r>
              <a:rPr lang="ru-RU" sz="2400" dirty="0"/>
              <a:t>-элементы по главной оси </a:t>
            </a:r>
            <a:r>
              <a:rPr lang="ru-RU" sz="2400" dirty="0" err="1"/>
              <a:t>flex</a:t>
            </a:r>
            <a:r>
              <a:rPr lang="ru-RU" sz="2400" dirty="0"/>
              <a:t>-контейнера, распределяя свободное пространство, незанятое </a:t>
            </a:r>
            <a:r>
              <a:rPr lang="ru-RU" sz="2400" dirty="0" err="1"/>
              <a:t>flex</a:t>
            </a:r>
            <a:r>
              <a:rPr lang="ru-RU" sz="2400" dirty="0"/>
              <a:t>-элементами. Когда элемент преобразуется в </a:t>
            </a:r>
            <a:r>
              <a:rPr lang="ru-RU" sz="2400" dirty="0" err="1"/>
              <a:t>flex</a:t>
            </a:r>
            <a:r>
              <a:rPr lang="ru-RU" sz="2400" dirty="0"/>
              <a:t>-контейнер, </a:t>
            </a:r>
            <a:r>
              <a:rPr lang="ru-RU" sz="2400" dirty="0" err="1"/>
              <a:t>flex</a:t>
            </a:r>
            <a:r>
              <a:rPr lang="ru-RU" sz="2400" dirty="0"/>
              <a:t>-элементы по умолчанию сгруппированы вместе (если для них не заданы поля </a:t>
            </a:r>
            <a:r>
              <a:rPr lang="ru-RU" sz="2400" dirty="0" err="1"/>
              <a:t>margin</a:t>
            </a:r>
            <a:r>
              <a:rPr lang="ru-RU" sz="2400" dirty="0"/>
              <a:t>). Промежутки добавляются после расчета значений </a:t>
            </a:r>
            <a:r>
              <a:rPr lang="ru-RU" sz="2400" dirty="0" err="1"/>
              <a:t>margin</a:t>
            </a:r>
            <a:r>
              <a:rPr lang="ru-RU" sz="2400" dirty="0"/>
              <a:t> и </a:t>
            </a:r>
            <a:r>
              <a:rPr lang="ru-RU" sz="2400" dirty="0" err="1"/>
              <a:t>flex-grow</a:t>
            </a:r>
            <a:r>
              <a:rPr lang="ru-RU" sz="2400" dirty="0"/>
              <a:t>. Если какие-либо элементы имеют ненулевое значение </a:t>
            </a:r>
            <a:r>
              <a:rPr lang="ru-RU" sz="2400" dirty="0" err="1"/>
              <a:t>flex-grow</a:t>
            </a:r>
            <a:r>
              <a:rPr lang="ru-RU" sz="2400" dirty="0"/>
              <a:t> или </a:t>
            </a:r>
            <a:r>
              <a:rPr lang="ru-RU" sz="2400" dirty="0" err="1"/>
              <a:t>margin</a:t>
            </a:r>
            <a:r>
              <a:rPr lang="ru-RU" sz="2400" dirty="0"/>
              <a:t>: </a:t>
            </a:r>
            <a:r>
              <a:rPr lang="ru-RU" sz="2400" dirty="0" err="1"/>
              <a:t>auto</a:t>
            </a:r>
            <a:r>
              <a:rPr lang="ru-RU" sz="2400" dirty="0"/>
              <a:t>;, свойство не будет оказывать влияния.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/>
          </p:nvPr>
        </p:nvGraphicFramePr>
        <p:xfrm>
          <a:off x="190500" y="2751613"/>
          <a:ext cx="12001500" cy="4103202"/>
        </p:xfrm>
        <a:graphic>
          <a:graphicData uri="http://schemas.openxmlformats.org/drawingml/2006/table">
            <a:tbl>
              <a:tblPr/>
              <a:tblGrid>
                <a:gridCol w="1787625"/>
                <a:gridCol w="10213875"/>
              </a:tblGrid>
              <a:tr h="554859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</a:rPr>
                        <a:t>flex-start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Значение по умолчанию.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-элементы выкладываются в направлении, идущем от начальной линии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-контейнера.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805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flex-end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-элементы выкладываются в направлении, идущем от конечной линии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-контейнера.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8805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center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-элементы выравниваются по центру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-контейнера.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7236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space-between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-элементы равномерно распределяются по линии. Первый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 помещается вровень с краем начальной линии, последний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 — вровень с краем конечной линии, а остальные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-элементы на линии распределяются так, чтобы расстояние между любыми двумя соседними элементами было одинаковым. Если оставшееся свободное пространство отрицательно или в строке присутствует только один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-элемент, это значение идентично параметру </a:t>
                      </a:r>
                      <a:r>
                        <a:rPr lang="ru-RU" sz="1800" dirty="0" err="1">
                          <a:effectLst/>
                        </a:rPr>
                        <a:t>flex-start</a:t>
                      </a:r>
                      <a:r>
                        <a:rPr lang="ru-RU" sz="1800" dirty="0">
                          <a:effectLst/>
                        </a:rPr>
                        <a:t>.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3020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effectLst/>
                        </a:rPr>
                        <a:t>space-around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-элементы на линии распределяются так, чтобы расстояние между любыми двумя смежными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-элементами было одинаковым, а расстояние между первым / последним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-элементами и краями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-контейнера составляло половину от расстояния между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-элементами.</a:t>
                      </a:r>
                    </a:p>
                  </a:txBody>
                  <a:tcPr marL="81278" marR="81278" marT="43348" marB="43348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10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520" y="48024"/>
            <a:ext cx="7817892" cy="626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3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70560" y="883920"/>
            <a:ext cx="1042416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Выравнивание по поперечной оси: </a:t>
            </a:r>
            <a:r>
              <a:rPr lang="ru-RU" sz="2400" b="1" dirty="0" err="1"/>
              <a:t>align-items</a:t>
            </a:r>
            <a:r>
              <a:rPr lang="ru-RU" sz="2400" b="1" dirty="0"/>
              <a:t> и </a:t>
            </a:r>
            <a:r>
              <a:rPr lang="ru-RU" sz="2400" b="1" dirty="0" err="1" smtClean="0"/>
              <a:t>align-self</a:t>
            </a:r>
            <a:endParaRPr lang="ru-RU" sz="2400" b="1" dirty="0" smtClean="0"/>
          </a:p>
          <a:p>
            <a:endParaRPr lang="ru-RU" sz="2400" b="1" dirty="0"/>
          </a:p>
          <a:p>
            <a:endParaRPr lang="ru-RU" sz="2400" b="1" dirty="0"/>
          </a:p>
          <a:p>
            <a:r>
              <a:rPr lang="ru-RU" sz="2400" dirty="0" err="1"/>
              <a:t>Flex</a:t>
            </a:r>
            <a:r>
              <a:rPr lang="ru-RU" sz="2400" dirty="0"/>
              <a:t>-элементы можно выравнивать по поперечной оси текущей строки </a:t>
            </a:r>
            <a:r>
              <a:rPr lang="ru-RU" sz="2400" dirty="0" err="1"/>
              <a:t>flex</a:t>
            </a:r>
            <a:r>
              <a:rPr lang="ru-RU" sz="2400" dirty="0"/>
              <a:t>-контейнера. </a:t>
            </a:r>
            <a:r>
              <a:rPr lang="ru-RU" sz="2400" b="1" dirty="0" err="1"/>
              <a:t>align-items</a:t>
            </a:r>
            <a:r>
              <a:rPr lang="ru-RU" sz="2400" dirty="0"/>
              <a:t> устанавливает выравнивание для всех элементов </a:t>
            </a:r>
            <a:r>
              <a:rPr lang="ru-RU" sz="2400" dirty="0" err="1"/>
              <a:t>flex</a:t>
            </a:r>
            <a:r>
              <a:rPr lang="ru-RU" sz="2400" dirty="0"/>
              <a:t>-контейнера, включая анонимные </a:t>
            </a:r>
            <a:r>
              <a:rPr lang="ru-RU" sz="2400" dirty="0" err="1"/>
              <a:t>flex</a:t>
            </a:r>
            <a:r>
              <a:rPr lang="ru-RU" sz="2400" dirty="0"/>
              <a:t>-элементы. </a:t>
            </a:r>
            <a:endParaRPr lang="ru-RU" sz="2400" dirty="0" smtClean="0"/>
          </a:p>
          <a:p>
            <a:r>
              <a:rPr lang="ru-RU" sz="2400" b="1" dirty="0" err="1" smtClean="0"/>
              <a:t>align-self</a:t>
            </a:r>
            <a:r>
              <a:rPr lang="ru-RU" sz="2400" dirty="0" smtClean="0"/>
              <a:t> </a:t>
            </a:r>
            <a:r>
              <a:rPr lang="ru-RU" sz="2400" dirty="0"/>
              <a:t>позволяет переопределить это выравнивание для отдельных </a:t>
            </a:r>
            <a:r>
              <a:rPr lang="ru-RU" sz="2400" dirty="0" err="1"/>
              <a:t>flex</a:t>
            </a:r>
            <a:r>
              <a:rPr lang="ru-RU" sz="2400" dirty="0"/>
              <a:t>-элементов. Если любое из поперечных </a:t>
            </a:r>
            <a:r>
              <a:rPr lang="ru-RU" sz="2400" dirty="0" err="1"/>
              <a:t>margin</a:t>
            </a:r>
            <a:r>
              <a:rPr lang="ru-RU" sz="2400" dirty="0"/>
              <a:t> </a:t>
            </a:r>
            <a:r>
              <a:rPr lang="ru-RU" sz="2400" dirty="0" err="1"/>
              <a:t>flex</a:t>
            </a:r>
            <a:r>
              <a:rPr lang="ru-RU" sz="2400" dirty="0"/>
              <a:t>-элемента имеет значение </a:t>
            </a:r>
            <a:r>
              <a:rPr lang="ru-RU" sz="2400" dirty="0" err="1"/>
              <a:t>auto</a:t>
            </a:r>
            <a:r>
              <a:rPr lang="ru-RU" sz="2400" dirty="0"/>
              <a:t>, </a:t>
            </a:r>
            <a:r>
              <a:rPr lang="ru-RU" sz="2400" dirty="0" err="1"/>
              <a:t>align-self</a:t>
            </a:r>
            <a:r>
              <a:rPr lang="ru-RU" sz="2400" dirty="0"/>
              <a:t> не имеет никакого влияния.</a:t>
            </a:r>
          </a:p>
        </p:txBody>
      </p:sp>
    </p:spTree>
    <p:extLst>
      <p:ext uri="{BB962C8B-B14F-4D97-AF65-F5344CB8AC3E}">
        <p14:creationId xmlns:p14="http://schemas.microsoft.com/office/powerpoint/2010/main" val="67068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907" y="121920"/>
            <a:ext cx="9087632" cy="626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29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13" y="716280"/>
            <a:ext cx="11256999" cy="519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35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21920" y="0"/>
            <a:ext cx="120700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/>
              <a:t>Align-self</a:t>
            </a:r>
            <a:endParaRPr lang="ru-RU" sz="2400" b="1" dirty="0"/>
          </a:p>
          <a:p>
            <a:r>
              <a:rPr lang="ru-RU" sz="2400" dirty="0"/>
              <a:t>Свойство отвечает за выравнивание отдельно взятого </a:t>
            </a:r>
            <a:r>
              <a:rPr lang="ru-RU" sz="2400" dirty="0" err="1"/>
              <a:t>flex</a:t>
            </a:r>
            <a:r>
              <a:rPr lang="ru-RU" sz="2400" dirty="0"/>
              <a:t>-элемента по высоте </a:t>
            </a:r>
            <a:r>
              <a:rPr lang="ru-RU" sz="2400" dirty="0" err="1"/>
              <a:t>flex</a:t>
            </a:r>
            <a:r>
              <a:rPr lang="ru-RU" sz="2400" dirty="0"/>
              <a:t>-контейнера. Переопределяет выравнивание, заданное </a:t>
            </a:r>
            <a:r>
              <a:rPr lang="ru-RU" sz="2400" b="1" dirty="0" err="1"/>
              <a:t>align-items</a:t>
            </a:r>
            <a:r>
              <a:rPr lang="ru-RU" sz="2400" dirty="0"/>
              <a:t>.</a:t>
            </a:r>
          </a:p>
        </p:txBody>
      </p:sp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" y="1307537"/>
            <a:ext cx="8976360" cy="495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98" y="182881"/>
            <a:ext cx="9009226" cy="3235802"/>
          </a:xfrm>
          <a:prstGeom prst="rect">
            <a:avLst/>
          </a:prstGeom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722630" y="3903345"/>
          <a:ext cx="10539730" cy="1249680"/>
        </p:xfrm>
        <a:graphic>
          <a:graphicData uri="http://schemas.openxmlformats.org/drawingml/2006/table">
            <a:tbl>
              <a:tblPr/>
              <a:tblGrid>
                <a:gridCol w="2096053"/>
                <a:gridCol w="8443677"/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US" sz="2400">
                          <a:effectLst/>
                        </a:rPr>
                        <a:t>stretch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400" dirty="0">
                          <a:effectLst/>
                        </a:rPr>
                        <a:t>Если поперечный размер </a:t>
                      </a:r>
                      <a:r>
                        <a:rPr lang="ru-RU" sz="2400" dirty="0" err="1">
                          <a:effectLst/>
                        </a:rPr>
                        <a:t>flex</a:t>
                      </a:r>
                      <a:r>
                        <a:rPr lang="ru-RU" sz="2400" dirty="0">
                          <a:effectLst/>
                        </a:rPr>
                        <a:t>-элемента вычисляется как </a:t>
                      </a:r>
                      <a:r>
                        <a:rPr lang="ru-RU" sz="2400" dirty="0" err="1">
                          <a:effectLst/>
                        </a:rPr>
                        <a:t>auto</a:t>
                      </a:r>
                      <a:r>
                        <a:rPr lang="ru-RU" sz="2400" dirty="0">
                          <a:effectLst/>
                        </a:rPr>
                        <a:t> и ни одно из поперечных значений </a:t>
                      </a:r>
                      <a:r>
                        <a:rPr lang="ru-RU" sz="2400" dirty="0" err="1">
                          <a:effectLst/>
                        </a:rPr>
                        <a:t>margin</a:t>
                      </a:r>
                      <a:r>
                        <a:rPr lang="ru-RU" sz="2400" dirty="0">
                          <a:effectLst/>
                        </a:rPr>
                        <a:t> не равно </a:t>
                      </a:r>
                      <a:r>
                        <a:rPr lang="ru-RU" sz="2400" dirty="0" err="1">
                          <a:effectLst/>
                        </a:rPr>
                        <a:t>auto</a:t>
                      </a:r>
                      <a:r>
                        <a:rPr lang="ru-RU" sz="2400" dirty="0">
                          <a:effectLst/>
                        </a:rPr>
                        <a:t>, элемент растягивается. Значение по умолчанию.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73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1205484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Выравнивание строк </a:t>
            </a:r>
            <a:r>
              <a:rPr lang="ru-RU" sz="2400" dirty="0" err="1"/>
              <a:t>flex</a:t>
            </a:r>
            <a:r>
              <a:rPr lang="ru-RU" sz="2400" dirty="0"/>
              <a:t>-контейнера: </a:t>
            </a:r>
            <a:r>
              <a:rPr lang="ru-RU" sz="2400" b="1" dirty="0" err="1"/>
              <a:t>align-content</a:t>
            </a:r>
            <a:endParaRPr lang="ru-RU" sz="2400" b="1" dirty="0"/>
          </a:p>
          <a:p>
            <a:r>
              <a:rPr lang="ru-RU" sz="2400" dirty="0"/>
              <a:t>Свойство выравнивает строки в </a:t>
            </a:r>
            <a:r>
              <a:rPr lang="ru-RU" sz="2400" dirty="0" err="1"/>
              <a:t>flex</a:t>
            </a:r>
            <a:r>
              <a:rPr lang="ru-RU" sz="2400" dirty="0"/>
              <a:t>-контейнере при наличии дополнительного пространства на поперечной оси, аналогично выравниванию отдельных элементов на главной оси с помощью свойства </a:t>
            </a:r>
            <a:r>
              <a:rPr lang="ru-RU" sz="2400" dirty="0" err="1"/>
              <a:t>justify-content</a:t>
            </a:r>
            <a:r>
              <a:rPr lang="ru-RU" sz="2400" dirty="0"/>
              <a:t>. Свойство не влияет на однострочный </a:t>
            </a:r>
            <a:r>
              <a:rPr lang="ru-RU" sz="2400" dirty="0" err="1"/>
              <a:t>flex</a:t>
            </a:r>
            <a:r>
              <a:rPr lang="ru-RU" sz="2400" dirty="0"/>
              <a:t>-контейнер.</a:t>
            </a:r>
          </a:p>
        </p:txBody>
      </p:sp>
      <p:pic>
        <p:nvPicPr>
          <p:cNvPr id="5" name="Рисунок 4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426" y="1432974"/>
            <a:ext cx="8513893" cy="3928517"/>
          </a:xfrm>
          <a:prstGeom prst="rect">
            <a:avLst/>
          </a:prstGeom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79692" y="5361491"/>
          <a:ext cx="11895455" cy="1486562"/>
        </p:xfrm>
        <a:graphic>
          <a:graphicData uri="http://schemas.openxmlformats.org/drawingml/2006/table">
            <a:tbl>
              <a:tblPr/>
              <a:tblGrid>
                <a:gridCol w="731520"/>
                <a:gridCol w="11163935"/>
              </a:tblGrid>
              <a:tr h="590845"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flex-start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Строки укладываются по направлению к началу </a:t>
                      </a:r>
                      <a:r>
                        <a:rPr lang="ru-RU" dirty="0" err="1">
                          <a:effectLst/>
                        </a:rPr>
                        <a:t>flex</a:t>
                      </a:r>
                      <a:r>
                        <a:rPr lang="ru-RU" dirty="0">
                          <a:effectLst/>
                        </a:rPr>
                        <a:t>-контейнера. Край первой строки помещается вплотную к краю </a:t>
                      </a:r>
                      <a:r>
                        <a:rPr lang="ru-RU" dirty="0" err="1">
                          <a:effectLst/>
                        </a:rPr>
                        <a:t>flex</a:t>
                      </a:r>
                      <a:r>
                        <a:rPr lang="ru-RU" dirty="0">
                          <a:effectLst/>
                        </a:rPr>
                        <a:t>-контейнера, каждая последующая — вплотную к предыдущей строке.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5522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flex-end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dirty="0">
                          <a:effectLst/>
                        </a:rPr>
                        <a:t>Строки укладываются по направлению к концу </a:t>
                      </a:r>
                      <a:r>
                        <a:rPr lang="ru-RU" dirty="0" err="1">
                          <a:effectLst/>
                        </a:rPr>
                        <a:t>flex</a:t>
                      </a:r>
                      <a:r>
                        <a:rPr lang="ru-RU" dirty="0">
                          <a:effectLst/>
                        </a:rPr>
                        <a:t>-контейнера. Край последней строки помещается вплотную к краю </a:t>
                      </a:r>
                      <a:r>
                        <a:rPr lang="ru-RU" dirty="0" err="1">
                          <a:effectLst/>
                        </a:rPr>
                        <a:t>flex</a:t>
                      </a:r>
                      <a:r>
                        <a:rPr lang="ru-RU" dirty="0">
                          <a:effectLst/>
                        </a:rPr>
                        <a:t>-контейнера, каждая предыдущая — вплотную к последующей строке.</a:t>
                      </a:r>
                    </a:p>
                  </a:txBody>
                  <a:tcPr marL="142875" marR="142875" marT="76200" marB="7620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1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/>
          </p:nvPr>
        </p:nvGraphicFramePr>
        <p:xfrm>
          <a:off x="0" y="4277996"/>
          <a:ext cx="12192000" cy="2427604"/>
        </p:xfrm>
        <a:graphic>
          <a:graphicData uri="http://schemas.openxmlformats.org/drawingml/2006/table">
            <a:tbl>
              <a:tblPr/>
              <a:tblGrid>
                <a:gridCol w="1082040"/>
                <a:gridCol w="11109960"/>
              </a:tblGrid>
              <a:tr h="944880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center</a:t>
                      </a:r>
                    </a:p>
                  </a:txBody>
                  <a:tcPr marL="104180" marR="104180" marT="55562" marB="55562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effectLst/>
                        </a:rPr>
                        <a:t>Строки укладываются по направлению к центру flex-контейнера. Строки расположены вплотную друг к другу и выровнены по центру flex-контейнера с равным расстоянием между начальным краем содержимого flex-контейнера и первой строкой и между конечным краем содержимого flex-контейнера и последней строкой.</a:t>
                      </a:r>
                    </a:p>
                  </a:txBody>
                  <a:tcPr marL="104180" marR="104180" marT="55562" marB="55562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space-between</a:t>
                      </a:r>
                    </a:p>
                  </a:txBody>
                  <a:tcPr marL="104180" marR="104180" marT="55562" marB="55562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Строки равномерно распределены в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-контейнере. Если оставшееся свободное пространство отрицательно или в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-контейнере имеется только одна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-линия, это значение идентично </a:t>
                      </a:r>
                      <a:r>
                        <a:rPr lang="ru-RU" sz="1800" dirty="0" err="1">
                          <a:effectLst/>
                        </a:rPr>
                        <a:t>flex-start</a:t>
                      </a:r>
                      <a:r>
                        <a:rPr lang="ru-RU" sz="1800" dirty="0">
                          <a:effectLst/>
                        </a:rPr>
                        <a:t>. В противном случае край первой строки помещается вплотную к начальному краю содержимого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-контейнера, край последней строки — вплотную к конечному краю содержимого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-контейнера. Остальные строки распределены так, чтобы расстояние между любыми двумя соседними строками было одинаковым.</a:t>
                      </a:r>
                    </a:p>
                  </a:txBody>
                  <a:tcPr marL="104180" marR="104180" marT="55562" marB="55562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" name="Рисунок 2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68" y="206306"/>
            <a:ext cx="8846311" cy="407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42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Вырезка экрана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95" y="156010"/>
            <a:ext cx="8318625" cy="3752763"/>
          </a:xfrm>
          <a:prstGeom prst="rect">
            <a:avLst/>
          </a:prstGeom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/>
          </p:nvPr>
        </p:nvGraphicFramePr>
        <p:xfrm>
          <a:off x="0" y="3880920"/>
          <a:ext cx="11823825" cy="2977080"/>
        </p:xfrm>
        <a:graphic>
          <a:graphicData uri="http://schemas.openxmlformats.org/drawingml/2006/table">
            <a:tbl>
              <a:tblPr/>
              <a:tblGrid>
                <a:gridCol w="2351424"/>
                <a:gridCol w="9472401"/>
              </a:tblGrid>
              <a:tr h="1142480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space-around</a:t>
                      </a:r>
                    </a:p>
                  </a:txBody>
                  <a:tcPr marL="109631" marR="109631" marT="58470" marB="5847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>
                          <a:effectLst/>
                        </a:rPr>
                        <a:t>Строки равномерно распределены в flex-контейнере с половинным пробелом на обоих концах. Если оставшееся свободное пространство отрицательно, это значение идентично центcenter. В противном случае строки распределяются таким образом, чтобы расстояние между любыми двумя соседними строками было одинаковым, а расстояние между первой / последней строками и краями содержимого flex-контейнера составляло половину от расстояния между строками.</a:t>
                      </a:r>
                    </a:p>
                  </a:txBody>
                  <a:tcPr marL="109631" marR="109631" marT="58470" marB="5847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67114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stretch</a:t>
                      </a:r>
                    </a:p>
                  </a:txBody>
                  <a:tcPr marL="109631" marR="109631" marT="58470" marB="5847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800" dirty="0">
                          <a:effectLst/>
                        </a:rPr>
                        <a:t>Значение по умолчанию. Строки </a:t>
                      </a:r>
                      <a:r>
                        <a:rPr lang="ru-RU" sz="1800" dirty="0" err="1">
                          <a:effectLst/>
                        </a:rPr>
                        <a:t>flex</a:t>
                      </a:r>
                      <a:r>
                        <a:rPr lang="ru-RU" sz="1800" dirty="0">
                          <a:effectLst/>
                        </a:rPr>
                        <a:t>-элементов равномерно растягиваются, заполняя все доступное пространство. Если оставшееся свободное пространство отрицательно, это значение идентично </a:t>
                      </a:r>
                      <a:r>
                        <a:rPr lang="ru-RU" sz="1800" dirty="0" err="1">
                          <a:effectLst/>
                        </a:rPr>
                        <a:t>flex-start</a:t>
                      </a:r>
                      <a:r>
                        <a:rPr lang="ru-RU" sz="1800" dirty="0">
                          <a:effectLst/>
                        </a:rPr>
                        <a:t>. В противном случае свободное пространство будет разделено поровну между всеми строками, увеличивая их поперечный размер.</a:t>
                      </a:r>
                    </a:p>
                  </a:txBody>
                  <a:tcPr marL="109631" marR="109631" marT="58470" marB="58470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726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7185</TotalTime>
  <Words>5067</Words>
  <Application>Microsoft Office PowerPoint</Application>
  <PresentationFormat>Широкоэкранный</PresentationFormat>
  <Paragraphs>741</Paragraphs>
  <Slides>101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101</vt:i4>
      </vt:variant>
    </vt:vector>
  </HeadingPairs>
  <TitlesOfParts>
    <vt:vector size="114" baseType="lpstr">
      <vt:lpstr>Arial</vt:lpstr>
      <vt:lpstr>Calibri</vt:lpstr>
      <vt:lpstr>Calibri Light</vt:lpstr>
      <vt:lpstr>Consolas</vt:lpstr>
      <vt:lpstr>Courier New</vt:lpstr>
      <vt:lpstr>Helvetica Neue</vt:lpstr>
      <vt:lpstr>Open Sans</vt:lpstr>
      <vt:lpstr>Roboto</vt:lpstr>
      <vt:lpstr>Times New Roman</vt:lpstr>
      <vt:lpstr>Trebuchet MS</vt:lpstr>
      <vt:lpstr>Verdana</vt:lpstr>
      <vt:lpstr>Wingdings</vt:lpstr>
      <vt:lpstr>Retrospect</vt:lpstr>
      <vt:lpstr>СОВРЕМЕННЫЕ ТЕХНОЛОГИИ РАЗРАБОТКИ WEB-ПРИЛОЖЕНИЙ</vt:lpstr>
      <vt:lpstr>Текст, таблицы, анимация</vt:lpstr>
      <vt:lpstr>Переходы</vt:lpstr>
      <vt:lpstr>Презентация PowerPoint</vt:lpstr>
      <vt:lpstr>Продолжительность перехода</vt:lpstr>
      <vt:lpstr>Презентация PowerPoint</vt:lpstr>
      <vt:lpstr>Презентация PowerPoint</vt:lpstr>
      <vt:lpstr>Презентация PowerPoint</vt:lpstr>
      <vt:lpstr>Переходы – функция изменения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Анимация</vt:lpstr>
      <vt:lpstr>Ключевые кадры</vt:lpstr>
      <vt:lpstr>Ключевые кадры</vt:lpstr>
      <vt:lpstr>Набор ключевых кадров</vt:lpstr>
      <vt:lpstr>Презентация PowerPoint</vt:lpstr>
      <vt:lpstr>Применение анимации</vt:lpstr>
      <vt:lpstr>Презентация PowerPoint</vt:lpstr>
      <vt:lpstr>Настройка анимации</vt:lpstr>
      <vt:lpstr>Презентация PowerPoint</vt:lpstr>
      <vt:lpstr>Настройка анимации</vt:lpstr>
      <vt:lpstr>Настройка анимации</vt:lpstr>
      <vt:lpstr>Настройка анимации</vt:lpstr>
      <vt:lpstr>Настройка анимации</vt:lpstr>
      <vt:lpstr>Презентация PowerPoint</vt:lpstr>
      <vt:lpstr>Настройка анимации</vt:lpstr>
      <vt:lpstr>Презентация PowerPoint</vt:lpstr>
      <vt:lpstr>Презентация PowerPoint</vt:lpstr>
      <vt:lpstr>Анимации vs переходы</vt:lpstr>
      <vt:lpstr>Презентация PowerPoint</vt:lpstr>
      <vt:lpstr>Презентация PowerPoint</vt:lpstr>
      <vt:lpstr>Медиа-запросы</vt:lpstr>
      <vt:lpstr>Медиа-запросы – синтаксис</vt:lpstr>
      <vt:lpstr>Медиа-запросы – пример</vt:lpstr>
      <vt:lpstr>Медиа-запросы – пример</vt:lpstr>
      <vt:lpstr>Устройства</vt:lpstr>
      <vt:lpstr>Устройства – пример</vt:lpstr>
      <vt:lpstr>Медиа-функции</vt:lpstr>
      <vt:lpstr>Некоторые медиа-функции</vt:lpstr>
      <vt:lpstr>Медиа-функции – примеры</vt:lpstr>
      <vt:lpstr>Логические операторы</vt:lpstr>
      <vt:lpstr>Логические операторы – пример</vt:lpstr>
      <vt:lpstr>Медиа-запросы и вёрстка</vt:lpstr>
      <vt:lpstr>Медиа-запросы и элемент link</vt:lpstr>
      <vt:lpstr>Разное</vt:lpstr>
      <vt:lpstr>Курсор</vt:lpstr>
      <vt:lpstr>Прозрачность</vt:lpstr>
      <vt:lpstr>Функция calc()</vt:lpstr>
      <vt:lpstr>Функция attr()</vt:lpstr>
      <vt:lpstr>Функция attr() – пример</vt:lpstr>
      <vt:lpstr>CSS свойство filter</vt:lpstr>
      <vt:lpstr>Шаблоны веб-сайтов W3.CSS</vt:lpstr>
      <vt:lpstr>CSS Grid Layout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CSS3 columns </vt:lpstr>
      <vt:lpstr>Презентация PowerPoint</vt:lpstr>
      <vt:lpstr>Презентация PowerPoint</vt:lpstr>
      <vt:lpstr>Презентация PowerPoint</vt:lpstr>
      <vt:lpstr>Flexbox — состоит из гибкого контейнера (flex container) и гибких элементов (flex items)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Порядок отображения flex-элементов и ориентация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zhvakina</dc:creator>
  <cp:lastModifiedBy>ANNA</cp:lastModifiedBy>
  <cp:revision>562</cp:revision>
  <cp:lastPrinted>2016-01-26T13:20:45Z</cp:lastPrinted>
  <dcterms:created xsi:type="dcterms:W3CDTF">2015-03-09T11:51:14Z</dcterms:created>
  <dcterms:modified xsi:type="dcterms:W3CDTF">2023-09-11T11:45:53Z</dcterms:modified>
</cp:coreProperties>
</file>